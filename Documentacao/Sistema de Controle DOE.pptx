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4"/>
  </p:notesMasterIdLst>
  <p:sldIdLst>
    <p:sldId id="256" r:id="rId2"/>
    <p:sldId id="259" r:id="rId3"/>
    <p:sldId id="258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  <p:sldId id="275" r:id="rId20"/>
    <p:sldId id="276" r:id="rId21"/>
    <p:sldId id="277" r:id="rId22"/>
    <p:sldId id="278" r:id="rId23"/>
    <p:sldId id="279" r:id="rId24"/>
    <p:sldId id="280" r:id="rId25"/>
    <p:sldId id="290" r:id="rId39"/>
    <p:sldId id="291" r:id="rId40"/>
    <p:sldId id="292" r:id="rId41"/>
    <p:sldId id="293" r:id="rId42"/>
    <p:sldId id="294" r:id="rId43"/>
    <p:sldId id="283" r:id="rId26"/>
    <p:sldId id="284" r:id="rId27"/>
    <p:sldId id="286" r:id="rId28"/>
    <p:sldId id="287" r:id="rId29"/>
    <p:sldId id="288" r:id="rId30"/>
    <p:sldId id="289" r:id="rId31"/>
    <p:sldId id="282" r:id="rId32"/>
    <p:sldId id="281" r:id="rId3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ício" id="{DC355B6E-1F2F-4152-9B6C-70C29D28E1B4}">
          <p14:sldIdLst>
            <p14:sldId id="256"/>
          </p14:sldIdLst>
        </p14:section>
        <p14:section name="Criar Operação" id="{B26075AF-D04B-42B1-870B-C23DE96251B0}">
          <p14:sldIdLst>
            <p14:sldId id="259"/>
            <p14:sldId id="258"/>
            <p14:sldId id="260"/>
            <p14:sldId id="261"/>
            <p14:sldId id="262"/>
            <p14:sldId id="263"/>
            <p14:sldId id="264"/>
            <p14:sldId id="265"/>
            <p14:sldId id="266"/>
          </p14:sldIdLst>
        </p14:section>
        <p14:section name="Tela de SVG Aberto" id="{FC057D78-995A-45DE-AE3B-102D8577C1CD}">
          <p14:sldIdLst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Controle de Acesso" id="{131C7906-84EB-43C8-9F27-ECA6562DA29E}">
          <p14:sldIdLst>
            <p14:sldId id="277"/>
            <p14:sldId id="278"/>
            <p14:sldId id="279"/>
            <p14:sldId id="280"/>
          </p14:sldIdLst>
        </p14:section>
        <p14:section name="Dashboard" id="{FAB4DAAA-B0CF-4D9C-91A0-5A8C67D92932}">
          <p14:sldIdLst>
            <p14:sldId id="283"/>
            <p14:sldId id="284"/>
            <p14:sldId id="286"/>
            <p14:sldId id="287"/>
            <p14:sldId id="288"/>
            <p14:sldId id="289"/>
            <p14:sldId id="282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87" autoAdjust="0"/>
    <p:restoredTop sz="94660"/>
  </p:normalViewPr>
  <p:slideViewPr>
    <p:cSldViewPr snapToGrid="0">
      <p:cViewPr varScale="1">
        <p:scale>
          <a:sx n="85" d="100"/>
          <a:sy n="85" d="100"/>
        </p:scale>
        <p:origin x="741" y="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952A546-2BD9-4636-927E-CF67B769F9DA}" type="datetimeFigureOut">
              <a:rPr lang="pt-BR" smtClean="0"/>
              <a:t>08/09/2026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FC50DF-1596-478B-86D4-48284F9C6E4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30639615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FC50DF-1596-478B-86D4-48284F9C6E46}" type="slidenum">
              <a:rPr lang="pt-BR" smtClean="0"/>
              <a:t>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7280778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87E2A9-BC68-D27D-8BB4-41B2F71B07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9BE54E91-1DBD-39BA-1D16-27CAAA3FC59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C3A2E28-CD46-0D0F-8EE5-699532B2F5B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C501A50-FD0A-8E0C-0A1F-0483B09D8E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FC50DF-1596-478B-86D4-48284F9C6E46}" type="slidenum">
              <a:rPr lang="pt-BR" smtClean="0"/>
              <a:t>10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2770606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F760DA-649B-F6BB-9C27-601A7822E1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2C8523B-D2FA-1E28-E530-80F79029A8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478272D-6645-61DC-51B5-753C2B2FDE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F998791-674F-774A-EB0F-AADD42183E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FC50DF-1596-478B-86D4-48284F9C6E46}" type="slidenum">
              <a:rPr lang="pt-BR" smtClean="0"/>
              <a:t>11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7956076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D5299F-830D-D0C0-A0F3-29BE4174A4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3CD6C569-C2BA-12C8-17C2-CE91F3802ED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AA1559CC-B8A7-5B3E-BED3-76E53E0465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65EC0F2-14AD-F073-B54C-1D271C9B763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FC50DF-1596-478B-86D4-48284F9C6E46}" type="slidenum">
              <a:rPr lang="pt-BR" smtClean="0"/>
              <a:t>12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28665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4E59B1-C111-3701-2B0B-C47D081774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8C7D347-B2A7-2C26-45CA-DDC234F88F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ED65283-A079-3504-A0EF-3DF5C51CA1E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BD884050-182E-B16A-9F2D-44F63E3476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FC50DF-1596-478B-86D4-48284F9C6E46}" type="slidenum">
              <a:rPr lang="pt-BR" smtClean="0"/>
              <a:t>13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8903628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36CE10-7349-8683-3C66-AFB5C430BC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03C04B77-6DDD-263A-8C83-FB077C3521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C8FDDD8-677F-FDDA-AA4F-D8A0E3332AB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3FB5176-A2DB-4C26-5483-EFB289D641E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FC50DF-1596-478B-86D4-48284F9C6E46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3970184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C930A3-8EDC-AB8B-5B4B-E2F890B26E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F50401D4-5EA8-4811-CE86-A1815EC03FD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D9E336D6-9C08-8B88-A7E3-D522DE2350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D6E3D3A9-A6D6-135C-C6E8-5F9FBB526D7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FC50DF-1596-478B-86D4-48284F9C6E46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184156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7EF684-6FB9-CFF7-0BC9-08A1347CD7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C6EF9EE-0C0D-19D7-5F99-F252C5C567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4A9F92AC-6FA5-7FFD-CEE5-A51973A4E29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CDF5987-ACC6-8C3E-3543-2FBFB679CF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FC50DF-1596-478B-86D4-48284F9C6E46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952167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687A19-9D61-C153-ACB7-1F11822ACB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27C51101-146E-391E-A656-B89B73BC33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3F8A27A-E54E-0D6C-4F7A-987EF7306E9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58F60CC-68CD-6C16-48F2-AE7CAE7499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FC50DF-1596-478B-86D4-48284F9C6E46}" type="slidenum">
              <a:rPr lang="pt-BR" smtClean="0"/>
              <a:t>17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737695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5DD7F2E-2FE3-6BB1-5587-41CDAABCEA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3F969E8-77F4-B01D-765A-08A8DFC35D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3BC1AD4-6AA4-A273-3035-5076CD0FC0F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91E0473-32D5-D83C-737F-D03747AD858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FC50DF-1596-478B-86D4-48284F9C6E46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8027599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49C29E-C8A1-612D-F6D8-E7E0587E6D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5C54DDF-74D6-0296-15EB-AE039700BD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A5A2A7C-7421-D2E9-276B-5242FFB31B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2F79D40-99BB-65CB-AB0D-2E0360252A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FC50DF-1596-478B-86D4-48284F9C6E46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907444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295E21-2503-F85B-F3F7-B0AFD6C09C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66118399-4642-1C42-B293-0B969AB1236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199BC9EC-9E72-8D74-6817-2212ACE7F4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12DFD08-6DFB-A7DF-3B57-11BC2F0511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FC50DF-1596-478B-86D4-48284F9C6E46}" type="slidenum">
              <a:rPr lang="pt-BR" smtClean="0"/>
              <a:t>20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1645126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AAE513-0426-51C9-36DE-48C0A53F63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572006AD-22BE-7970-DB68-C4E7294B4FA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C0E0BF6-0344-2AA8-2476-3DBD0F71D9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F9C8669-7897-45FD-86E7-B316CB0842F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FC50DF-1596-478B-86D4-48284F9C6E46}" type="slidenum">
              <a:rPr lang="pt-BR" smtClean="0"/>
              <a:t>21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961815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AA4A80-AAF1-B883-9CB8-1BDD22AE54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11882B97-2B34-DD6F-C8E5-8295FA83F9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9B5E052D-DD6C-46C1-7644-86BB597CFC0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B586E58-8C6C-9270-8DCE-FBDD3BA0A0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FC50DF-1596-478B-86D4-48284F9C6E46}" type="slidenum">
              <a:rPr lang="pt-BR" smtClean="0"/>
              <a:t>22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8237211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FCBAE3-EA5F-3778-526C-66E5FF4AA2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7AC1E714-E3E3-82C7-3E49-29C1CC585C8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6C00EA5F-6474-43A7-2A37-F880D702B19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69D20747-26B2-5285-381A-270A4500479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FC50DF-1596-478B-86D4-48284F9C6E46}" type="slidenum">
              <a:rPr lang="pt-BR" smtClean="0"/>
              <a:t>23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00906522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91E8C2-3CD9-86E7-94F6-6981E9484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E5AF4A07-7924-B90E-1B49-DB02D3C425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3205196C-E7B0-17C7-8E84-9FC067714A3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3D67313A-4ECF-CA78-BCAD-327D5DC89E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FC50DF-1596-478B-86D4-48284F9C6E46}" type="slidenum">
              <a:rPr lang="pt-BR" smtClean="0"/>
              <a:t>24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0118872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9A6782-BF14-3AA4-31A0-526F0278B4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E351961-82D6-1A38-52A5-ACC5AEB6BA7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5BD918A4-B7EC-6449-B157-46F606745F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0308BA3C-48EA-4728-681F-54F4A68E1C5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FC50DF-1596-478B-86D4-48284F9C6E46}" type="slidenum">
              <a:rPr lang="pt-BR" smtClean="0"/>
              <a:t>25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83552548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8DAC59-278A-FE06-578B-55CAEA764E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D6270A0D-195C-D380-DFA2-64ACFBF933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7493D34-C5A3-D280-36ED-1539D3431E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57DAEAB-9C9F-B6BC-4525-EF73230AA30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FC50DF-1596-478B-86D4-48284F9C6E46}" type="slidenum">
              <a:rPr lang="pt-BR" smtClean="0"/>
              <a:t>26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0481495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D897AF-F97F-EBD6-9E04-26C411EA07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BB53E432-0691-7ED1-EDBC-3D8ABC4B72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20C964B4-6679-A9F7-C2BD-41AEFA6E7E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72C9E76-25AA-BA34-0CF3-2DA9A9D8EE4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FC50DF-1596-478B-86D4-48284F9C6E46}" type="slidenum">
              <a:rPr lang="pt-BR" smtClean="0"/>
              <a:t>27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4998891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065A5B-3254-C276-5336-4A684A7EDE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433DF626-F30E-A018-AF65-ABC9605B44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B2E02F58-DE8C-B45E-3978-3ADDBE9011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ED73E689-23FA-8334-A2D2-A42F1DEEEA5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FC50DF-1596-478B-86D4-48284F9C6E46}" type="slidenum">
              <a:rPr lang="pt-BR" smtClean="0"/>
              <a:t>28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46088935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FC77FB-83F8-A852-67B6-7DA6D36288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8820CB40-E177-6E12-49B9-70297BAC71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743BFE2D-8261-2DA4-60FF-92759A2A8D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A2FC04C5-F78E-599B-089C-14CA428EC64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FC50DF-1596-478B-86D4-48284F9C6E46}" type="slidenum">
              <a:rPr lang="pt-BR" smtClean="0"/>
              <a:t>29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9566034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489BE8-D347-156A-2CAD-DE407744F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AC03D9E2-CB26-EF58-DCD3-3A8DE0C2E6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C8BF15A3-6369-3CFC-E581-5BDE5986F4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C013DE56-1C56-DAC9-1BCD-ECFAD1078B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7FC50DF-1596-478B-86D4-48284F9C6E46}" type="slidenum">
              <a:rPr lang="pt-BR" smtClean="0"/>
              <a:t>30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4343098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5335B1-82CA-4E15-A5D8-FED425F1DBD2}" type="datetimeFigureOut">
              <a:rPr lang="pt-BR" smtClean="0"/>
              <a:t>08/09/2026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5F9310-BB4F-4F9D-8475-C127F45CE1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7966164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5335B1-82CA-4E15-A5D8-FED425F1DBD2}" type="datetimeFigureOut">
              <a:rPr lang="pt-BR" smtClean="0"/>
              <a:t>08/09/2026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5F9310-BB4F-4F9D-8475-C127F45CE1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74767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5335B1-82CA-4E15-A5D8-FED425F1DBD2}" type="datetimeFigureOut">
              <a:rPr lang="pt-BR" smtClean="0"/>
              <a:t>08/09/2026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5F9310-BB4F-4F9D-8475-C127F45CE1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9065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5335B1-82CA-4E15-A5D8-FED425F1DBD2}" type="datetimeFigureOut">
              <a:rPr lang="pt-BR" smtClean="0"/>
              <a:t>08/09/2026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5F9310-BB4F-4F9D-8475-C127F45CE1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61733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5335B1-82CA-4E15-A5D8-FED425F1DBD2}" type="datetimeFigureOut">
              <a:rPr lang="pt-BR" smtClean="0"/>
              <a:t>08/09/2026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5F9310-BB4F-4F9D-8475-C127F45CE1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228688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5335B1-82CA-4E15-A5D8-FED425F1DBD2}" type="datetimeFigureOut">
              <a:rPr lang="pt-BR" smtClean="0"/>
              <a:t>08/09/2026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5F9310-BB4F-4F9D-8475-C127F45CE1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2149226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5335B1-82CA-4E15-A5D8-FED425F1DBD2}" type="datetimeFigureOut">
              <a:rPr lang="pt-BR" smtClean="0"/>
              <a:t>08/09/2026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5F9310-BB4F-4F9D-8475-C127F45CE1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609251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5335B1-82CA-4E15-A5D8-FED425F1DBD2}" type="datetimeFigureOut">
              <a:rPr lang="pt-BR" smtClean="0"/>
              <a:t>08/09/2026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5F9310-BB4F-4F9D-8475-C127F45CE1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582230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5335B1-82CA-4E15-A5D8-FED425F1DBD2}" type="datetimeFigureOut">
              <a:rPr lang="pt-BR" smtClean="0"/>
              <a:t>08/09/2026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5F9310-BB4F-4F9D-8475-C127F45CE1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2148770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5335B1-82CA-4E15-A5D8-FED425F1DBD2}" type="datetimeFigureOut">
              <a:rPr lang="pt-BR" smtClean="0"/>
              <a:t>08/09/2026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5F9310-BB4F-4F9D-8475-C127F45CE1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368822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A5335B1-82CA-4E15-A5D8-FED425F1DBD2}" type="datetimeFigureOut">
              <a:rPr lang="pt-BR" smtClean="0"/>
              <a:t>08/09/2026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45F9310-BB4F-4F9D-8475-C127F45CE1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04273814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A5335B1-82CA-4E15-A5D8-FED425F1DBD2}" type="datetimeFigureOut">
              <a:rPr lang="pt-BR" smtClean="0"/>
              <a:t>08/09/2026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5F9310-BB4F-4F9D-8475-C127F45CE17A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4757305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9.png"/><Relationship Id="rId4" Type="http://schemas.microsoft.com/office/2007/relationships/hdphoto" Target="../media/hdphoto1.wdp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0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2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3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24.png"/><Relationship Id="rId4" Type="http://schemas.microsoft.com/office/2007/relationships/hdphoto" Target="../media/hdphoto2.wdp"/><Relationship Id="rId5" Type="http://schemas.openxmlformats.org/officeDocument/2006/relationships/image" Target="../media/image2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7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28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29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30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3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m 6">
            <a:extLst>
              <a:ext uri="{FF2B5EF4-FFF2-40B4-BE49-F238E27FC236}">
                <a16:creationId xmlns:a16="http://schemas.microsoft.com/office/drawing/2014/main" id="{47F7631B-D988-ECC2-ACD5-37AC7B75DE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9200" y="0"/>
            <a:ext cx="10287000" cy="6858000"/>
          </a:xfrm>
          <a:prstGeom prst="rect">
            <a:avLst/>
          </a:prstGeom>
        </p:spPr>
      </p:pic>
      <p:pic>
        <p:nvPicPr>
          <p:cNvPr id="9" name="Imagem 8">
            <a:extLst>
              <a:ext uri="{FF2B5EF4-FFF2-40B4-BE49-F238E27FC236}">
                <a16:creationId xmlns:a16="http://schemas.microsoft.com/office/drawing/2014/main" id="{B82C153F-AE84-AD66-E9FF-18EF962791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239500" y="5905501"/>
            <a:ext cx="952499" cy="95249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10" name="Imagem 9">
            <a:extLst>
              <a:ext uri="{FF2B5EF4-FFF2-40B4-BE49-F238E27FC236}">
                <a16:creationId xmlns:a16="http://schemas.microsoft.com/office/drawing/2014/main" id="{920C66E9-8682-95DB-9F02-F284365241B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" y="5905500"/>
            <a:ext cx="952499" cy="95249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6991407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F75B1BA9-738A-1129-7CEC-08E51C531F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02808" y="1405942"/>
            <a:ext cx="8186384" cy="5304051"/>
          </a:xfrm>
          <a:prstGeom prst="rect">
            <a:avLst/>
          </a:prstGeom>
        </p:spPr>
      </p:pic>
      <p:sp>
        <p:nvSpPr>
          <p:cNvPr id="6" name="Título 1">
            <a:extLst>
              <a:ext uri="{FF2B5EF4-FFF2-40B4-BE49-F238E27FC236}">
                <a16:creationId xmlns:a16="http://schemas.microsoft.com/office/drawing/2014/main" id="{2F7E1E18-7CDD-9A73-58D6-2447C8270FF1}"/>
              </a:ext>
            </a:extLst>
          </p:cNvPr>
          <p:cNvSpPr txBox="1">
            <a:spLocks/>
          </p:cNvSpPr>
          <p:nvPr/>
        </p:nvSpPr>
        <p:spPr>
          <a:xfrm>
            <a:off x="1208809" y="-111030"/>
            <a:ext cx="9144000" cy="141091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5400" b="1" dirty="0"/>
              <a:t>TELA INICIAL DO SISTEMA</a:t>
            </a:r>
          </a:p>
          <a:p>
            <a:pPr algn="ctr"/>
            <a:r>
              <a:rPr lang="pt-BR" sz="3600" dirty="0"/>
              <a:t>LISTA DE OPERAÇÕES</a:t>
            </a:r>
          </a:p>
        </p:txBody>
      </p:sp>
    </p:spTree>
    <p:extLst>
      <p:ext uri="{BB962C8B-B14F-4D97-AF65-F5344CB8AC3E}">
        <p14:creationId xmlns:p14="http://schemas.microsoft.com/office/powerpoint/2010/main" val="15031604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m 10">
            <a:extLst>
              <a:ext uri="{FF2B5EF4-FFF2-40B4-BE49-F238E27FC236}">
                <a16:creationId xmlns:a16="http://schemas.microsoft.com/office/drawing/2014/main" id="{B2389F3A-06B7-23F6-87A9-622036203708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</a:blip>
          <a:srcRect l="33248"/>
          <a:stretch>
            <a:fillRect/>
          </a:stretch>
        </p:blipFill>
        <p:spPr>
          <a:xfrm>
            <a:off x="1353738" y="1765003"/>
            <a:ext cx="9524736" cy="3882761"/>
          </a:xfrm>
          <a:prstGeom prst="rect">
            <a:avLst/>
          </a:prstGeom>
        </p:spPr>
      </p:pic>
      <p:sp>
        <p:nvSpPr>
          <p:cNvPr id="12" name="Retângulo 11">
            <a:extLst>
              <a:ext uri="{FF2B5EF4-FFF2-40B4-BE49-F238E27FC236}">
                <a16:creationId xmlns:a16="http://schemas.microsoft.com/office/drawing/2014/main" id="{69730218-335F-BAD1-C254-F34A73D0D7BD}"/>
              </a:ext>
            </a:extLst>
          </p:cNvPr>
          <p:cNvSpPr/>
          <p:nvPr/>
        </p:nvSpPr>
        <p:spPr>
          <a:xfrm>
            <a:off x="6003634" y="2967335"/>
            <a:ext cx="184731" cy="923330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endParaRPr lang="pt-BR" sz="5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3" name="Título 1">
            <a:extLst>
              <a:ext uri="{FF2B5EF4-FFF2-40B4-BE49-F238E27FC236}">
                <a16:creationId xmlns:a16="http://schemas.microsoft.com/office/drawing/2014/main" id="{EAFA2869-3D21-99B5-1A8F-294D85A8102E}"/>
              </a:ext>
            </a:extLst>
          </p:cNvPr>
          <p:cNvSpPr txBox="1">
            <a:spLocks/>
          </p:cNvSpPr>
          <p:nvPr/>
        </p:nvSpPr>
        <p:spPr>
          <a:xfrm>
            <a:off x="1616364" y="478320"/>
            <a:ext cx="9144000" cy="77163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5400" b="1" dirty="0"/>
              <a:t>CRIAR NOVA OPERAÇÃO</a:t>
            </a:r>
          </a:p>
          <a:p>
            <a:pPr algn="ctr"/>
            <a:endParaRPr lang="pt-BR" sz="3600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A17AE185-C493-CE4C-14DB-9FAF504CD45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84524" b="45746"/>
          <a:stretch>
            <a:fillRect/>
          </a:stretch>
        </p:blipFill>
        <p:spPr>
          <a:xfrm>
            <a:off x="8968512" y="1765003"/>
            <a:ext cx="1909961" cy="1663997"/>
          </a:xfrm>
          <a:prstGeom prst="rect">
            <a:avLst/>
          </a:prstGeom>
        </p:spPr>
      </p:pic>
      <p:cxnSp>
        <p:nvCxnSpPr>
          <p:cNvPr id="7" name="Conector de Seta Reta 6">
            <a:extLst>
              <a:ext uri="{FF2B5EF4-FFF2-40B4-BE49-F238E27FC236}">
                <a16:creationId xmlns:a16="http://schemas.microsoft.com/office/drawing/2014/main" id="{4512BBE6-47EE-B1A0-97E3-E27D65B65E73}"/>
              </a:ext>
            </a:extLst>
          </p:cNvPr>
          <p:cNvCxnSpPr>
            <a:cxnSpLocks/>
          </p:cNvCxnSpPr>
          <p:nvPr/>
        </p:nvCxnSpPr>
        <p:spPr>
          <a:xfrm flipV="1">
            <a:off x="7718612" y="2823882"/>
            <a:ext cx="1443317" cy="310998"/>
          </a:xfrm>
          <a:prstGeom prst="straightConnector1">
            <a:avLst/>
          </a:prstGeom>
          <a:ln>
            <a:tailEnd type="triangle"/>
          </a:ln>
        </p:spPr>
        <p:style>
          <a:lnRef idx="3">
            <a:schemeClr val="accent5"/>
          </a:lnRef>
          <a:fillRef idx="0">
            <a:schemeClr val="accent5"/>
          </a:fillRef>
          <a:effectRef idx="2">
            <a:schemeClr val="accent5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844927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68E50F85-E4EA-F4AE-B954-9D9C340AB6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58553" y="1165412"/>
            <a:ext cx="7274893" cy="5692588"/>
          </a:xfrm>
          <a:prstGeom prst="rect">
            <a:avLst/>
          </a:prstGeom>
        </p:spPr>
      </p:pic>
      <p:sp>
        <p:nvSpPr>
          <p:cNvPr id="6" name="Título 1">
            <a:extLst>
              <a:ext uri="{FF2B5EF4-FFF2-40B4-BE49-F238E27FC236}">
                <a16:creationId xmlns:a16="http://schemas.microsoft.com/office/drawing/2014/main" id="{931D6621-32FC-674E-B127-B1230A15C0C3}"/>
              </a:ext>
            </a:extLst>
          </p:cNvPr>
          <p:cNvSpPr txBox="1">
            <a:spLocks/>
          </p:cNvSpPr>
          <p:nvPr/>
        </p:nvSpPr>
        <p:spPr>
          <a:xfrm>
            <a:off x="1616364" y="478320"/>
            <a:ext cx="9144000" cy="771637"/>
          </a:xfrm>
          <a:prstGeom prst="rect">
            <a:avLst/>
          </a:prstGeom>
        </p:spPr>
        <p:txBody>
          <a:bodyPr vert="horz" lIns="91440" tIns="45720" rIns="91440" bIns="45720" rtlCol="0" anchor="ctr">
            <a:normAutofit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5400" b="1" dirty="0"/>
              <a:t>CRIAR NOVA OPERAÇÃO</a:t>
            </a:r>
          </a:p>
          <a:p>
            <a:pPr algn="ctr"/>
            <a:endParaRPr lang="pt-BR" sz="3600" dirty="0"/>
          </a:p>
        </p:txBody>
      </p:sp>
    </p:spTree>
    <p:extLst>
      <p:ext uri="{BB962C8B-B14F-4D97-AF65-F5344CB8AC3E}">
        <p14:creationId xmlns:p14="http://schemas.microsoft.com/office/powerpoint/2010/main" val="35864487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m 4">
            <a:extLst>
              <a:ext uri="{FF2B5EF4-FFF2-40B4-BE49-F238E27FC236}">
                <a16:creationId xmlns:a16="http://schemas.microsoft.com/office/drawing/2014/main" id="{9678C5F4-5D0B-434A-9415-A00C7CAADB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5771" y="1371164"/>
            <a:ext cx="7093005" cy="5438573"/>
          </a:xfrm>
          <a:prstGeom prst="rect">
            <a:avLst/>
          </a:prstGeom>
        </p:spPr>
      </p:pic>
      <p:sp>
        <p:nvSpPr>
          <p:cNvPr id="6" name="Título 1">
            <a:extLst>
              <a:ext uri="{FF2B5EF4-FFF2-40B4-BE49-F238E27FC236}">
                <a16:creationId xmlns:a16="http://schemas.microsoft.com/office/drawing/2014/main" id="{56DC792F-5F19-8B11-5A24-4F8D067778C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5400" b="1" dirty="0"/>
              <a:t>INSERINDO OPERADORES</a:t>
            </a:r>
          </a:p>
          <a:p>
            <a:pPr algn="ctr"/>
            <a:endParaRPr lang="pt-BR" sz="3600" dirty="0"/>
          </a:p>
        </p:txBody>
      </p:sp>
    </p:spTree>
    <p:extLst>
      <p:ext uri="{BB962C8B-B14F-4D97-AF65-F5344CB8AC3E}">
        <p14:creationId xmlns:p14="http://schemas.microsoft.com/office/powerpoint/2010/main" val="27573496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17B02B-5F1C-F7C7-4BE8-91D80FE9A9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EECD10C0-C414-29B2-5865-E52882978E8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5400" b="1" dirty="0"/>
              <a:t>INSERINDO OPERADORES</a:t>
            </a:r>
          </a:p>
          <a:p>
            <a:pPr algn="ctr"/>
            <a:endParaRPr lang="pt-BR" sz="3600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A782CC4F-B5B9-2701-5DDB-DD4332FCE7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4453" y="1120588"/>
            <a:ext cx="7463093" cy="5737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417559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7F0716-5D15-BD54-6E82-7E2ACAD2D4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826B0F0E-CCA8-E2D3-1F55-D42B654EDBD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5400" b="1" dirty="0"/>
              <a:t>LISTA DE OPERAÇÕES</a:t>
            </a:r>
          </a:p>
          <a:p>
            <a:pPr algn="ctr"/>
            <a:endParaRPr lang="pt-BR" sz="3600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2C1020FF-2C4E-61E9-CC27-185F7BE1245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3097" y="1337367"/>
            <a:ext cx="11357267" cy="4902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6193117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928D6E-D423-AF8B-F338-C1599D8AFF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C717ADFA-BCDD-3D53-9FBE-C9E9F67BAF7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5400" b="1" dirty="0"/>
              <a:t>LISTA DE OPERAÇÕES</a:t>
            </a:r>
          </a:p>
          <a:p>
            <a:pPr algn="ctr"/>
            <a:endParaRPr lang="pt-BR" sz="3600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FAC85480-4AA9-D448-DF86-A6E22BCB184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4044" y="1304586"/>
            <a:ext cx="11277283" cy="4898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74277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EEC102-A068-B383-4AB8-0CF975CB3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2DD3ECD4-6BEF-10D2-C163-AF3B6E14F1E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5400" b="1" dirty="0"/>
              <a:t>EDITAR OPERAÇÃO</a:t>
            </a:r>
          </a:p>
          <a:p>
            <a:pPr algn="ctr"/>
            <a:endParaRPr lang="pt-BR" sz="36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18A01E45-3740-FC5C-5FD9-A468A9814A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3998" y="1165412"/>
            <a:ext cx="6164004" cy="5513294"/>
          </a:xfrm>
          <a:prstGeom prst="rect">
            <a:avLst/>
          </a:prstGeom>
        </p:spPr>
      </p:pic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BFCACAF9-1572-7943-1C83-412F2FA12C6C}"/>
              </a:ext>
            </a:extLst>
          </p:cNvPr>
          <p:cNvSpPr/>
          <p:nvPr/>
        </p:nvSpPr>
        <p:spPr>
          <a:xfrm>
            <a:off x="5656729" y="5540188"/>
            <a:ext cx="3442447" cy="762000"/>
          </a:xfrm>
          <a:prstGeom prst="roundRect">
            <a:avLst/>
          </a:prstGeom>
          <a:solidFill>
            <a:schemeClr val="accent5">
              <a:lumMod val="20000"/>
              <a:lumOff val="80000"/>
              <a:alpha val="1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73796635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17CE0A-BE75-FF57-603E-D2D14948A3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A2CF6ED2-7FE0-84C8-BC25-C8E638B7337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342" y="1129004"/>
            <a:ext cx="6294428" cy="5617028"/>
          </a:xfrm>
          <a:prstGeom prst="rect">
            <a:avLst/>
          </a:prstGeom>
        </p:spPr>
      </p:pic>
      <p:sp>
        <p:nvSpPr>
          <p:cNvPr id="6" name="Título 1">
            <a:extLst>
              <a:ext uri="{FF2B5EF4-FFF2-40B4-BE49-F238E27FC236}">
                <a16:creationId xmlns:a16="http://schemas.microsoft.com/office/drawing/2014/main" id="{B3325E28-3432-EAB3-C57D-A265DAE711E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5400" b="1" dirty="0"/>
              <a:t>DETALHES OPERAÇÃO</a:t>
            </a:r>
          </a:p>
          <a:p>
            <a:pPr algn="ctr"/>
            <a:endParaRPr lang="pt-BR" sz="3600" dirty="0"/>
          </a:p>
        </p:txBody>
      </p:sp>
    </p:spTree>
    <p:extLst>
      <p:ext uri="{BB962C8B-B14F-4D97-AF65-F5344CB8AC3E}">
        <p14:creationId xmlns:p14="http://schemas.microsoft.com/office/powerpoint/2010/main" val="25530150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79E278-9702-0F68-C3DD-2C33FF93D9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93B9934A-C9C2-00B1-C35C-155CD876A43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5400" b="1" dirty="0"/>
              <a:t>OPERAÇÕES COM SVG ABERTO</a:t>
            </a:r>
          </a:p>
          <a:p>
            <a:pPr algn="ctr"/>
            <a:endParaRPr lang="pt-BR" sz="36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35A7A734-5158-77EC-7F0B-99FEE74AEA8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2756" y="1485629"/>
            <a:ext cx="10126488" cy="3886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003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7A91AB-A359-8E9A-2FFD-49F355D213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15A119D2-9CDF-CE2C-67D9-21898A8421D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5400" b="1" dirty="0"/>
              <a:t>OPERAÇÕES COM SVG ABERTO</a:t>
            </a:r>
          </a:p>
          <a:p>
            <a:pPr algn="ctr"/>
            <a:endParaRPr lang="pt-BR" sz="3600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9BFA3C45-F499-1497-939D-EFC9507E53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7045" y="1580892"/>
            <a:ext cx="10097909" cy="36962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831493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13E5A9-DE92-93CC-2811-88279DFF27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2A9899BF-D0C6-10AD-8FBE-87913D99A2C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5400" b="1" dirty="0"/>
              <a:t>OPERAÇÕES COM SVG ABERTO</a:t>
            </a:r>
          </a:p>
          <a:p>
            <a:pPr algn="ctr"/>
            <a:endParaRPr lang="pt-BR" sz="3600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2D5578A8-7D5B-6292-A21B-CDFF62A8FF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196236"/>
            <a:ext cx="10326541" cy="5296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471793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A0CA8E-6DE1-D37C-0B1D-8063F0936D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745C7B0D-ED5F-6BB8-D264-F35B4571C5F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5400" b="1" dirty="0"/>
              <a:t>OPERAÇÕES COM SVG ABERTO</a:t>
            </a:r>
          </a:p>
          <a:p>
            <a:pPr algn="ctr"/>
            <a:endParaRPr lang="pt-BR" sz="3600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40F85F00-387E-ACA3-D5E1-2D06AAAA10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1196236"/>
            <a:ext cx="10326541" cy="52966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542046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8E1F2A-899F-7443-0309-2DB08927810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6D55DE05-D11C-EF3E-E2AF-60FA4391B93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5400" b="1" dirty="0"/>
              <a:t>OPERAÇÕES COM SVG ABERTO</a:t>
            </a:r>
          </a:p>
          <a:p>
            <a:pPr algn="ctr"/>
            <a:endParaRPr lang="pt-BR" sz="36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86B809AB-5651-85C7-AC8C-86EF1A290C5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1743"/>
          <a:stretch>
            <a:fillRect/>
          </a:stretch>
        </p:blipFill>
        <p:spPr>
          <a:xfrm>
            <a:off x="1000083" y="1240971"/>
            <a:ext cx="10191834" cy="52519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5060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C54E5E-A685-C89E-6BCA-1A6DFB0115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873DBC37-38D0-777E-80D9-290F2556C7E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5400" b="1" dirty="0"/>
              <a:t>OPERAÇÕES COM SVG ABERTO</a:t>
            </a:r>
          </a:p>
          <a:p>
            <a:pPr algn="ctr"/>
            <a:endParaRPr lang="pt-BR" sz="3600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C1C0972F-A765-1730-4B69-23CC56C990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99440" y="1174393"/>
            <a:ext cx="9993120" cy="5572903"/>
          </a:xfrm>
          <a:prstGeom prst="rect">
            <a:avLst/>
          </a:prstGeom>
        </p:spPr>
      </p:pic>
      <p:sp>
        <p:nvSpPr>
          <p:cNvPr id="8" name="Retângulo 7">
            <a:extLst>
              <a:ext uri="{FF2B5EF4-FFF2-40B4-BE49-F238E27FC236}">
                <a16:creationId xmlns:a16="http://schemas.microsoft.com/office/drawing/2014/main" id="{0E544FE1-2EA0-7DE5-10E7-C60D99A35EB9}"/>
              </a:ext>
            </a:extLst>
          </p:cNvPr>
          <p:cNvSpPr/>
          <p:nvPr/>
        </p:nvSpPr>
        <p:spPr>
          <a:xfrm>
            <a:off x="8658808" y="2369976"/>
            <a:ext cx="2360645" cy="3247053"/>
          </a:xfrm>
          <a:prstGeom prst="rect">
            <a:avLst/>
          </a:prstGeom>
          <a:solidFill>
            <a:srgbClr val="FF0000">
              <a:alpha val="13000"/>
            </a:srgb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9" name="Retângulo 8">
            <a:extLst>
              <a:ext uri="{FF2B5EF4-FFF2-40B4-BE49-F238E27FC236}">
                <a16:creationId xmlns:a16="http://schemas.microsoft.com/office/drawing/2014/main" id="{4344F410-9742-2041-B219-E0195B009497}"/>
              </a:ext>
            </a:extLst>
          </p:cNvPr>
          <p:cNvSpPr/>
          <p:nvPr/>
        </p:nvSpPr>
        <p:spPr>
          <a:xfrm>
            <a:off x="4627984" y="4114800"/>
            <a:ext cx="3760236" cy="1903445"/>
          </a:xfrm>
          <a:prstGeom prst="rect">
            <a:avLst/>
          </a:prstGeom>
          <a:solidFill>
            <a:schemeClr val="accent1">
              <a:alpha val="26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0" name="Retângulo: Cantos Arredondados 9">
            <a:extLst>
              <a:ext uri="{FF2B5EF4-FFF2-40B4-BE49-F238E27FC236}">
                <a16:creationId xmlns:a16="http://schemas.microsoft.com/office/drawing/2014/main" id="{5110EDE6-817F-FE72-225A-F8BB6189BD97}"/>
              </a:ext>
            </a:extLst>
          </p:cNvPr>
          <p:cNvSpPr/>
          <p:nvPr/>
        </p:nvSpPr>
        <p:spPr>
          <a:xfrm>
            <a:off x="10282326" y="3631164"/>
            <a:ext cx="578498" cy="233265"/>
          </a:xfrm>
          <a:prstGeom prst="roundRect">
            <a:avLst/>
          </a:prstGeom>
          <a:solidFill>
            <a:schemeClr val="accent3">
              <a:alpha val="53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1" name="Retângulo: Cantos Arredondados 10">
            <a:extLst>
              <a:ext uri="{FF2B5EF4-FFF2-40B4-BE49-F238E27FC236}">
                <a16:creationId xmlns:a16="http://schemas.microsoft.com/office/drawing/2014/main" id="{A5CD0F0F-901E-749E-5297-A79B7B023604}"/>
              </a:ext>
            </a:extLst>
          </p:cNvPr>
          <p:cNvSpPr/>
          <p:nvPr/>
        </p:nvSpPr>
        <p:spPr>
          <a:xfrm>
            <a:off x="10282326" y="4087440"/>
            <a:ext cx="578498" cy="233265"/>
          </a:xfrm>
          <a:prstGeom prst="roundRect">
            <a:avLst/>
          </a:prstGeom>
          <a:solidFill>
            <a:schemeClr val="accent3">
              <a:alpha val="53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2" name="Retângulo: Cantos Arredondados 11">
            <a:extLst>
              <a:ext uri="{FF2B5EF4-FFF2-40B4-BE49-F238E27FC236}">
                <a16:creationId xmlns:a16="http://schemas.microsoft.com/office/drawing/2014/main" id="{E6FBF9E5-1355-C0A0-07C1-6AB3E1A37F54}"/>
              </a:ext>
            </a:extLst>
          </p:cNvPr>
          <p:cNvSpPr/>
          <p:nvPr/>
        </p:nvSpPr>
        <p:spPr>
          <a:xfrm>
            <a:off x="10282326" y="4617406"/>
            <a:ext cx="578498" cy="233265"/>
          </a:xfrm>
          <a:prstGeom prst="roundRect">
            <a:avLst/>
          </a:prstGeom>
          <a:solidFill>
            <a:schemeClr val="accent3">
              <a:alpha val="53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3" name="Retângulo: Cantos Arredondados 12">
            <a:extLst>
              <a:ext uri="{FF2B5EF4-FFF2-40B4-BE49-F238E27FC236}">
                <a16:creationId xmlns:a16="http://schemas.microsoft.com/office/drawing/2014/main" id="{06674825-FF44-17B0-772F-55933B1F1DCB}"/>
              </a:ext>
            </a:extLst>
          </p:cNvPr>
          <p:cNvSpPr/>
          <p:nvPr/>
        </p:nvSpPr>
        <p:spPr>
          <a:xfrm>
            <a:off x="10282326" y="5138672"/>
            <a:ext cx="578498" cy="233265"/>
          </a:xfrm>
          <a:prstGeom prst="roundRect">
            <a:avLst/>
          </a:prstGeom>
          <a:solidFill>
            <a:schemeClr val="accent3">
              <a:alpha val="53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  <p:sp>
        <p:nvSpPr>
          <p:cNvPr id="14" name="Seta: para Baixo 13">
            <a:extLst>
              <a:ext uri="{FF2B5EF4-FFF2-40B4-BE49-F238E27FC236}">
                <a16:creationId xmlns:a16="http://schemas.microsoft.com/office/drawing/2014/main" id="{8D7C7D45-C025-4496-5811-57618E02CF48}"/>
              </a:ext>
            </a:extLst>
          </p:cNvPr>
          <p:cNvSpPr/>
          <p:nvPr/>
        </p:nvSpPr>
        <p:spPr>
          <a:xfrm rot="5400000">
            <a:off x="8032980" y="4686931"/>
            <a:ext cx="783763" cy="714375"/>
          </a:xfrm>
          <a:prstGeom prst="downArrow">
            <a:avLst/>
          </a:prstGeom>
          <a:gradFill>
            <a:gsLst>
              <a:gs pos="55500">
                <a:schemeClr val="accent5">
                  <a:lumMod val="20000"/>
                  <a:lumOff val="80000"/>
                </a:schemeClr>
              </a:gs>
              <a:gs pos="37000">
                <a:schemeClr val="accent5">
                  <a:lumMod val="20000"/>
                  <a:lumOff val="80000"/>
                </a:schemeClr>
              </a:gs>
              <a:gs pos="0">
                <a:schemeClr val="accent5"/>
              </a:gs>
              <a:gs pos="74000">
                <a:schemeClr val="accent1">
                  <a:lumMod val="45000"/>
                  <a:lumOff val="55000"/>
                </a:schemeClr>
              </a:gs>
              <a:gs pos="83000">
                <a:schemeClr val="accent1">
                  <a:lumMod val="45000"/>
                  <a:lumOff val="55000"/>
                </a:schemeClr>
              </a:gs>
              <a:gs pos="100000">
                <a:schemeClr val="accent1">
                  <a:lumMod val="30000"/>
                  <a:lumOff val="70000"/>
                </a:schemeClr>
              </a:gs>
            </a:gsLst>
            <a:lin ang="5400000" scaled="1"/>
          </a:gra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7918251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325E00-C6D3-D9BB-3152-69E0399857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D6295E56-5817-1683-0D33-161A009912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9094" y="1194280"/>
            <a:ext cx="9213812" cy="5417827"/>
          </a:xfrm>
          <a:prstGeom prst="rect">
            <a:avLst/>
          </a:prstGeom>
        </p:spPr>
      </p:pic>
      <p:sp>
        <p:nvSpPr>
          <p:cNvPr id="6" name="Título 1">
            <a:extLst>
              <a:ext uri="{FF2B5EF4-FFF2-40B4-BE49-F238E27FC236}">
                <a16:creationId xmlns:a16="http://schemas.microsoft.com/office/drawing/2014/main" id="{974A7F4D-76B8-CB89-553B-3F2712726059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5400" b="1" dirty="0"/>
              <a:t>OPERAÇÕES COM SVG ABERTO</a:t>
            </a:r>
          </a:p>
          <a:p>
            <a:pPr algn="ctr"/>
            <a:endParaRPr lang="pt-BR" sz="3600" dirty="0"/>
          </a:p>
        </p:txBody>
      </p:sp>
    </p:spTree>
    <p:extLst>
      <p:ext uri="{BB962C8B-B14F-4D97-AF65-F5344CB8AC3E}">
        <p14:creationId xmlns:p14="http://schemas.microsoft.com/office/powerpoint/2010/main" val="22236295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DC717B-138D-707E-E458-78C7988011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88E6CC79-F57F-F19F-3B5B-C93344D83BA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5400" b="1" dirty="0"/>
              <a:t>LISTA DE OPERAÇÕES</a:t>
            </a:r>
          </a:p>
          <a:p>
            <a:pPr algn="ctr"/>
            <a:endParaRPr lang="pt-BR" sz="3600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D1267561-0686-2142-16FF-99FE7C264755}"/>
              </a:ext>
            </a:extLst>
          </p:cNvPr>
          <p:cNvPicPr>
            <a:picLocks noChangeAspect="1"/>
          </p:cNvPicPr>
          <p:nvPr/>
        </p:nvPicPr>
        <p:blipFill>
          <a:blip r:embed="rId3">
            <a:grayscl/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08966" y="1237944"/>
            <a:ext cx="9974067" cy="4382112"/>
          </a:xfrm>
          <a:prstGeom prst="rect">
            <a:avLst/>
          </a:prstGeom>
        </p:spPr>
      </p:pic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B3813A85-72F9-4249-3D4E-0C3EB914544E}"/>
              </a:ext>
            </a:extLst>
          </p:cNvPr>
          <p:cNvSpPr/>
          <p:nvPr/>
        </p:nvSpPr>
        <p:spPr>
          <a:xfrm>
            <a:off x="8258175" y="3752850"/>
            <a:ext cx="1190625" cy="276226"/>
          </a:xfrm>
          <a:prstGeom prst="roundRect">
            <a:avLst/>
          </a:prstGeom>
          <a:solidFill>
            <a:schemeClr val="accent5">
              <a:lumMod val="60000"/>
              <a:lumOff val="40000"/>
              <a:alpha val="27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470176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DBEF11-9438-5799-2746-C172E0AD1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6A67CDEA-AB9D-A94C-12E9-FE1FCBFBCA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6501" y="1219655"/>
            <a:ext cx="9258998" cy="5273220"/>
          </a:xfrm>
          <a:prstGeom prst="rect">
            <a:avLst/>
          </a:prstGeom>
        </p:spPr>
      </p:pic>
      <p:sp>
        <p:nvSpPr>
          <p:cNvPr id="6" name="Título 1">
            <a:extLst>
              <a:ext uri="{FF2B5EF4-FFF2-40B4-BE49-F238E27FC236}">
                <a16:creationId xmlns:a16="http://schemas.microsoft.com/office/drawing/2014/main" id="{4752007A-14A1-3579-AC77-DEFE1C4E4A0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5400" b="1" dirty="0"/>
              <a:t>ENCERRAR SVG</a:t>
            </a:r>
          </a:p>
          <a:p>
            <a:pPr algn="ctr"/>
            <a:endParaRPr lang="pt-BR" sz="3600" dirty="0"/>
          </a:p>
        </p:txBody>
      </p:sp>
    </p:spTree>
    <p:extLst>
      <p:ext uri="{BB962C8B-B14F-4D97-AF65-F5344CB8AC3E}">
        <p14:creationId xmlns:p14="http://schemas.microsoft.com/office/powerpoint/2010/main" val="14624265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158AC0-2643-8BF5-A76A-480A85FFF0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F8B45E77-8B8A-7BEC-3FE2-4672C9244E4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99772" y="7937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5400" b="1" dirty="0"/>
              <a:t>DETALHES OPERAÇÃO</a:t>
            </a:r>
            <a:endParaRPr lang="pt-BR" sz="3600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80B8DDCE-194C-D77E-C628-A4D2D87A0B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8487" y="1138319"/>
            <a:ext cx="5915025" cy="5557823"/>
          </a:xfrm>
          <a:prstGeom prst="rect">
            <a:avLst/>
          </a:prstGeom>
        </p:spPr>
      </p:pic>
      <p:sp>
        <p:nvSpPr>
          <p:cNvPr id="5" name="Retângulo: Cantos Arredondados 4">
            <a:extLst>
              <a:ext uri="{FF2B5EF4-FFF2-40B4-BE49-F238E27FC236}">
                <a16:creationId xmlns:a16="http://schemas.microsoft.com/office/drawing/2014/main" id="{B51D0535-39DE-D014-9B4F-132273C0D75D}"/>
              </a:ext>
            </a:extLst>
          </p:cNvPr>
          <p:cNvSpPr/>
          <p:nvPr/>
        </p:nvSpPr>
        <p:spPr>
          <a:xfrm>
            <a:off x="3138487" y="4371974"/>
            <a:ext cx="5915025" cy="942975"/>
          </a:xfrm>
          <a:prstGeom prst="roundRect">
            <a:avLst/>
          </a:prstGeom>
          <a:solidFill>
            <a:schemeClr val="accent1">
              <a:alpha val="27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2910087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DC8D02-5D69-03E0-C5CE-A5BECF5601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35E8EA36-FF26-8FC0-9CEF-80A798C2FF7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99772" y="7937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5400" b="1" dirty="0"/>
              <a:t>CONTROLE DE ACESSO</a:t>
            </a:r>
            <a:br>
              <a:rPr lang="pt-BR" sz="5400" b="1" dirty="0"/>
            </a:br>
            <a:r>
              <a:rPr lang="pt-BR" sz="3100" b="1" dirty="0"/>
              <a:t>Tela Inicial</a:t>
            </a:r>
            <a:endParaRPr lang="pt-BR" sz="36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A8AF41AE-8653-596A-AF5E-AA51066E93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61414" y="2295367"/>
            <a:ext cx="9469171" cy="22672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393707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E0B89C-C97E-EACE-58E8-33C02CEAE3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A0F97346-A168-3B05-7A2F-21D6D274BAD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99772" y="7937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5400" b="1" dirty="0"/>
              <a:t>CONTROLE DE ACESSO</a:t>
            </a:r>
            <a:br>
              <a:rPr lang="pt-BR" sz="5400" b="1" dirty="0"/>
            </a:br>
            <a:r>
              <a:rPr lang="pt-BR" sz="3100" b="1" dirty="0"/>
              <a:t>Tela Inicial</a:t>
            </a:r>
            <a:endParaRPr lang="pt-BR" sz="3600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C46D8C93-ECBD-D9A4-FB03-01A2785393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3832" y="1432060"/>
            <a:ext cx="7064336" cy="5346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55505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CF6DC5-81AF-8E10-AD3D-6F7E44AA12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953FCD64-2BEB-32F8-A020-99ED140422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99772" y="7937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5400" b="1" dirty="0"/>
              <a:t>CONTROLE DE ACESSO</a:t>
            </a:r>
            <a:br>
              <a:rPr lang="pt-BR" sz="5400" b="1" dirty="0"/>
            </a:br>
            <a:r>
              <a:rPr lang="pt-BR" sz="3100" b="1" dirty="0"/>
              <a:t>Tela Inicial</a:t>
            </a:r>
            <a:endParaRPr lang="pt-BR" sz="3600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AC55BF4F-A098-F600-6F5C-95685EDC2A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63832" y="1432060"/>
            <a:ext cx="7064336" cy="5346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8520980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AB4743-4E61-B60D-F27D-A2888A8988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A6CCEF64-006E-DEAD-F43D-0AFF8422357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99772" y="7937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5400" b="1" dirty="0"/>
              <a:t>CONTROLE DE ACESSO</a:t>
            </a:r>
            <a:br>
              <a:rPr lang="pt-BR" sz="5400" b="1" dirty="0"/>
            </a:br>
            <a:r>
              <a:rPr lang="pt-BR" sz="3100" b="1" dirty="0"/>
              <a:t>Tela Inicial</a:t>
            </a:r>
            <a:endParaRPr lang="pt-BR" sz="36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EBE18458-BB45-0175-CA98-CA4069F388E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colorTemperature colorTemp="4700"/>
                    </a14:imgEffect>
                    <a14:imgEffect>
                      <a14:saturation sat="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3294611" y="1404938"/>
            <a:ext cx="5602777" cy="5271859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6BA7E1F7-8BF7-10A0-572A-0EC7F3F5578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41498" y="1952625"/>
            <a:ext cx="907144" cy="47241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169294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B0F0C70-C650-CFC0-662C-FB0112669A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B04649A4-86AF-7F7C-620E-DF22ABF7360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109" y="3035465"/>
            <a:ext cx="11210925" cy="3454069"/>
          </a:xfrm>
          <a:prstGeom prst="rect">
            <a:avLst/>
          </a:prstGeom>
        </p:spPr>
      </p:pic>
      <p:sp>
        <p:nvSpPr>
          <p:cNvPr id="9" name="Título 1">
            <a:extLst>
              <a:ext uri="{FF2B5EF4-FFF2-40B4-BE49-F238E27FC236}">
                <a16:creationId xmlns:a16="http://schemas.microsoft.com/office/drawing/2014/main" id="{91F48C22-6810-BF31-1FBF-959437098D45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799771" y="889000"/>
            <a:ext cx="10515600" cy="1492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5400" b="1" dirty="0"/>
              <a:t>PAINEL DE DASHBOARD</a:t>
            </a:r>
            <a:br>
              <a:rPr lang="pt-BR" sz="5400" b="1" dirty="0"/>
            </a:br>
            <a:r>
              <a:rPr lang="pt-BR" sz="3600" b="1" dirty="0"/>
              <a:t>HORAS SVG </a:t>
            </a:r>
            <a:br>
              <a:rPr lang="pt-BR" sz="3600" b="1" dirty="0"/>
            </a:br>
            <a:r>
              <a:rPr lang="pt-BR" sz="3600" b="1" dirty="0"/>
              <a:t>MENSAL - 2025</a:t>
            </a:r>
            <a:endParaRPr lang="pt-BR" sz="1800" dirty="0"/>
          </a:p>
        </p:txBody>
      </p:sp>
    </p:spTree>
    <p:extLst>
      <p:ext uri="{BB962C8B-B14F-4D97-AF65-F5344CB8AC3E}">
        <p14:creationId xmlns:p14="http://schemas.microsoft.com/office/powerpoint/2010/main" val="29118132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9BF05E-B28E-EC0C-E64D-E22AA9BF2B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m 3">
            <a:extLst>
              <a:ext uri="{FF2B5EF4-FFF2-40B4-BE49-F238E27FC236}">
                <a16:creationId xmlns:a16="http://schemas.microsoft.com/office/drawing/2014/main" id="{CCA3A809-FCA3-B622-66D8-CB2FF08826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6725" y="3117359"/>
            <a:ext cx="11258550" cy="3442681"/>
          </a:xfrm>
          <a:prstGeom prst="rect">
            <a:avLst/>
          </a:prstGeom>
        </p:spPr>
      </p:pic>
      <p:sp>
        <p:nvSpPr>
          <p:cNvPr id="8" name="Título 1">
            <a:extLst>
              <a:ext uri="{FF2B5EF4-FFF2-40B4-BE49-F238E27FC236}">
                <a16:creationId xmlns:a16="http://schemas.microsoft.com/office/drawing/2014/main" id="{B48EDAE4-899A-B2A4-6824-52313BBA59E2}"/>
              </a:ext>
            </a:extLst>
          </p:cNvPr>
          <p:cNvSpPr txBox="1">
            <a:spLocks/>
          </p:cNvSpPr>
          <p:nvPr/>
        </p:nvSpPr>
        <p:spPr>
          <a:xfrm>
            <a:off x="838200" y="946150"/>
            <a:ext cx="10515600" cy="1492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5400" b="1" dirty="0"/>
              <a:t>PAINEL DE DASHBOARD</a:t>
            </a:r>
            <a:br>
              <a:rPr lang="pt-BR" sz="5400" b="1" dirty="0"/>
            </a:br>
            <a:r>
              <a:rPr lang="pt-BR" sz="3600" b="1" dirty="0"/>
              <a:t>HORAS SVG </a:t>
            </a:r>
            <a:br>
              <a:rPr lang="pt-BR" sz="3600" b="1" dirty="0"/>
            </a:br>
            <a:r>
              <a:rPr lang="pt-BR" sz="3600" b="1" dirty="0"/>
              <a:t>DIÁRIO - 2025</a:t>
            </a:r>
            <a:endParaRPr lang="pt-BR" sz="1800" dirty="0"/>
          </a:p>
        </p:txBody>
      </p:sp>
    </p:spTree>
    <p:extLst>
      <p:ext uri="{BB962C8B-B14F-4D97-AF65-F5344CB8AC3E}">
        <p14:creationId xmlns:p14="http://schemas.microsoft.com/office/powerpoint/2010/main" val="372873882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B6B470-F559-969E-4E53-1D7F6E4F28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m 2">
            <a:extLst>
              <a:ext uri="{FF2B5EF4-FFF2-40B4-BE49-F238E27FC236}">
                <a16:creationId xmlns:a16="http://schemas.microsoft.com/office/drawing/2014/main" id="{C8F726B1-DE2F-AEDF-17F1-FCFFE10229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5299" y="3039284"/>
            <a:ext cx="11201401" cy="3446431"/>
          </a:xfrm>
          <a:prstGeom prst="rect">
            <a:avLst/>
          </a:prstGeom>
        </p:spPr>
      </p:pic>
      <p:sp>
        <p:nvSpPr>
          <p:cNvPr id="8" name="Título 1">
            <a:extLst>
              <a:ext uri="{FF2B5EF4-FFF2-40B4-BE49-F238E27FC236}">
                <a16:creationId xmlns:a16="http://schemas.microsoft.com/office/drawing/2014/main" id="{6F115600-352A-4DD3-9B6E-0B7B18A22DA9}"/>
              </a:ext>
            </a:extLst>
          </p:cNvPr>
          <p:cNvSpPr txBox="1">
            <a:spLocks/>
          </p:cNvSpPr>
          <p:nvPr/>
        </p:nvSpPr>
        <p:spPr>
          <a:xfrm>
            <a:off x="838200" y="746125"/>
            <a:ext cx="10515600" cy="1492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 lnSpcReduction="1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5400" b="1" dirty="0"/>
              <a:t>PAINEL DE DASHBOARD</a:t>
            </a:r>
            <a:br>
              <a:rPr lang="pt-BR" sz="5400" b="1" dirty="0"/>
            </a:br>
            <a:r>
              <a:rPr lang="pt-BR" sz="3600" b="1" dirty="0"/>
              <a:t>HORAS SVG </a:t>
            </a:r>
            <a:br>
              <a:rPr lang="pt-BR" sz="3600" b="1" dirty="0"/>
            </a:br>
            <a:r>
              <a:rPr lang="pt-BR" sz="3600" b="1" dirty="0"/>
              <a:t>BIMESTRE - 2025</a:t>
            </a:r>
            <a:endParaRPr lang="pt-BR" sz="1800" dirty="0"/>
          </a:p>
        </p:txBody>
      </p:sp>
    </p:spTree>
    <p:extLst>
      <p:ext uri="{BB962C8B-B14F-4D97-AF65-F5344CB8AC3E}">
        <p14:creationId xmlns:p14="http://schemas.microsoft.com/office/powerpoint/2010/main" val="2240155334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07F57A8-8183-10D1-9365-F10D888E27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0B3DB7B2-019E-EA4E-3A7E-8FDCA951003C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746125"/>
            <a:ext cx="10515600" cy="1492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5400" b="1" dirty="0"/>
              <a:t>PAINEL DE DASHBOARD</a:t>
            </a:r>
            <a:br>
              <a:rPr lang="pt-BR" sz="5400" b="1" dirty="0"/>
            </a:br>
            <a:r>
              <a:rPr lang="pt-BR" sz="3600" b="1" dirty="0"/>
              <a:t>HORAS SVG </a:t>
            </a:r>
            <a:br>
              <a:rPr lang="pt-BR" sz="3600" b="1" dirty="0"/>
            </a:br>
            <a:r>
              <a:rPr lang="pt-BR" sz="3600" b="1" dirty="0"/>
              <a:t>SEMESTRE - 2025</a:t>
            </a:r>
            <a:endParaRPr lang="pt-BR" sz="1800" dirty="0"/>
          </a:p>
        </p:txBody>
      </p:sp>
      <p:pic>
        <p:nvPicPr>
          <p:cNvPr id="7" name="Imagem 6">
            <a:extLst>
              <a:ext uri="{FF2B5EF4-FFF2-40B4-BE49-F238E27FC236}">
                <a16:creationId xmlns:a16="http://schemas.microsoft.com/office/drawing/2014/main" id="{DABD5E5E-136B-617A-D2CC-82604C7757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1487" y="2851749"/>
            <a:ext cx="11249026" cy="34976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7003743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E9260A-37A3-4C03-0C64-9F8EF3BACA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E0A99496-C1B9-2FD1-3A93-0FFEAC5A04DB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746125"/>
            <a:ext cx="10515600" cy="1492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5400" b="1" dirty="0"/>
              <a:t>PAINEL DE DASHBOARD</a:t>
            </a:r>
            <a:br>
              <a:rPr lang="pt-BR" sz="5400" b="1" dirty="0"/>
            </a:br>
            <a:r>
              <a:rPr lang="pt-BR" sz="3600" b="1" dirty="0"/>
              <a:t>OPERAÇÕES </a:t>
            </a:r>
            <a:br>
              <a:rPr lang="pt-BR" sz="3600" b="1" dirty="0"/>
            </a:br>
            <a:r>
              <a:rPr lang="pt-BR" sz="3600" b="1" dirty="0"/>
              <a:t>MENSAL - 2025</a:t>
            </a:r>
            <a:endParaRPr lang="pt-BR" sz="1800" dirty="0"/>
          </a:p>
        </p:txBody>
      </p:sp>
      <p:pic>
        <p:nvPicPr>
          <p:cNvPr id="3" name="Imagem 2">
            <a:extLst>
              <a:ext uri="{FF2B5EF4-FFF2-40B4-BE49-F238E27FC236}">
                <a16:creationId xmlns:a16="http://schemas.microsoft.com/office/drawing/2014/main" id="{6FA9BA1B-1FE9-4A49-0768-34A50A633ED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7212" y="2798059"/>
            <a:ext cx="11077576" cy="36431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4625204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0D9375-827C-B76F-1B90-1392DAB0C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1">
            <a:extLst>
              <a:ext uri="{FF2B5EF4-FFF2-40B4-BE49-F238E27FC236}">
                <a16:creationId xmlns:a16="http://schemas.microsoft.com/office/drawing/2014/main" id="{2E897EBB-C008-5ECD-835E-0DC12C60A71F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838200" y="746125"/>
            <a:ext cx="10515600" cy="1492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 fontScale="90000"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5400" b="1" dirty="0"/>
              <a:t>PAINEL DE DASHBOARD</a:t>
            </a:r>
            <a:br>
              <a:rPr lang="pt-BR" sz="5400" b="1" dirty="0"/>
            </a:br>
            <a:r>
              <a:rPr lang="pt-BR" sz="3600" b="1" dirty="0"/>
              <a:t>OPERADORES </a:t>
            </a:r>
            <a:br>
              <a:rPr lang="pt-BR" sz="3600" b="1" dirty="0"/>
            </a:br>
            <a:r>
              <a:rPr lang="pt-BR" sz="3600" b="1" dirty="0"/>
              <a:t>MENSAL - 2025</a:t>
            </a:r>
            <a:endParaRPr lang="pt-BR" sz="1800" dirty="0"/>
          </a:p>
        </p:txBody>
      </p:sp>
      <p:pic>
        <p:nvPicPr>
          <p:cNvPr id="4" name="Imagem 3">
            <a:extLst>
              <a:ext uri="{FF2B5EF4-FFF2-40B4-BE49-F238E27FC236}">
                <a16:creationId xmlns:a16="http://schemas.microsoft.com/office/drawing/2014/main" id="{F37A4E9A-F903-3BAC-0717-C851ECAFD57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1012" y="2895975"/>
            <a:ext cx="11229976" cy="34473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5246774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2455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Espaço Reservado para Conteúdo 8">
            <a:extLst>
              <a:ext uri="{FF2B5EF4-FFF2-40B4-BE49-F238E27FC236}">
                <a16:creationId xmlns:a16="http://schemas.microsoft.com/office/drawing/2014/main" id="{0FA36A5A-0C02-DD8D-A8ED-EE6DB6E25E0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5362" y="0"/>
            <a:ext cx="10201275" cy="6800850"/>
          </a:xfrm>
        </p:spPr>
      </p:pic>
    </p:spTree>
    <p:extLst>
      <p:ext uri="{BB962C8B-B14F-4D97-AF65-F5344CB8AC3E}">
        <p14:creationId xmlns:p14="http://schemas.microsoft.com/office/powerpoint/2010/main" val="1321927717"/>
      </p:ext>
    </p:extLst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0140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3500">
                <a:solidFill>
                  <a:srgbClr val="F5F5F5"/>
                </a:solidFill>
                <a:latin typeface="Arial"/>
              </a:defRPr>
            </a:pPr>
            <a:r>
              <a:t>MÓDULO DE AFASTAMENTO E ELEGIBILIDADE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43000"/>
            <a:ext cx="1036015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900">
                <a:solidFill>
                  <a:srgbClr val="D7D7D7"/>
                </a:solidFill>
                <a:latin typeface="Arial"/>
              </a:defRPr>
            </a:pPr>
            <a:r>
              <a:t>Controle preventivo das condições que impedem a prestação do SVG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74519"/>
            <a:ext cx="5212080" cy="3520440"/>
          </a:xfrm>
          <a:prstGeom prst="roundRect">
            <a:avLst/>
          </a:prstGeom>
          <a:solidFill>
            <a:srgbClr val="191F26"/>
          </a:solidFill>
          <a:ln w="19050">
            <a:solidFill>
              <a:srgbClr val="B28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800">
                <a:solidFill>
                  <a:srgbClr val="B28B4E"/>
                </a:solidFill>
                <a:latin typeface="Arial"/>
              </a:defRPr>
            </a:pPr>
            <a:r>
              <a:t>OBJETIVO</a:t>
            </a:r>
          </a:p>
          <a:p>
            <a:pPr>
              <a:spcBef>
                <a:spcPts val="600"/>
              </a:spcBef>
              <a:defRPr sz="1500">
                <a:solidFill>
                  <a:srgbClr val="F5F5F5"/>
                </a:solidFill>
                <a:latin typeface="Arial"/>
              </a:defRPr>
            </a:pPr>
            <a:r>
              <a:t>• Registrar afastamentos e impedimentos dos operadores.</a:t>
            </a:r>
          </a:p>
          <a:p>
            <a:pPr>
              <a:spcBef>
                <a:spcPts val="600"/>
              </a:spcBef>
              <a:defRPr sz="1500">
                <a:solidFill>
                  <a:srgbClr val="F5F5F5"/>
                </a:solidFill>
                <a:latin typeface="Arial"/>
              </a:defRPr>
            </a:pPr>
            <a:r>
              <a:t>• Consultar a situação do operador em uma data de referência.</a:t>
            </a:r>
          </a:p>
          <a:p>
            <a:pPr>
              <a:spcBef>
                <a:spcPts val="600"/>
              </a:spcBef>
              <a:defRPr sz="1500">
                <a:solidFill>
                  <a:srgbClr val="F5F5F5"/>
                </a:solidFill>
                <a:latin typeface="Arial"/>
              </a:defRPr>
            </a:pPr>
            <a:r>
              <a:t>• Centralizar as regras de elegibilidade antes da integração com as operações.</a:t>
            </a:r>
          </a:p>
          <a:p>
            <a:pPr>
              <a:spcBef>
                <a:spcPts val="600"/>
              </a:spcBef>
              <a:defRPr sz="1500">
                <a:solidFill>
                  <a:srgbClr val="F5F5F5"/>
                </a:solidFill>
                <a:latin typeface="Arial"/>
              </a:defRPr>
            </a:pPr>
            <a:r>
              <a:t>• Evitar candidaturas incompatíveis com as regras administrativas do SVG.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874519"/>
            <a:ext cx="5212080" cy="3520440"/>
          </a:xfrm>
          <a:prstGeom prst="roundRect">
            <a:avLst/>
          </a:prstGeom>
          <a:solidFill>
            <a:srgbClr val="191F26"/>
          </a:solidFill>
          <a:ln w="19050">
            <a:solidFill>
              <a:srgbClr val="368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800">
                <a:solidFill>
                  <a:srgbClr val="368C5C"/>
                </a:solidFill>
                <a:latin typeface="Arial"/>
              </a:defRPr>
            </a:pPr>
            <a:r>
              <a:t>EXEMPLO</a:t>
            </a:r>
          </a:p>
          <a:p>
            <a:pPr>
              <a:spcBef>
                <a:spcPts val="600"/>
              </a:spcBef>
              <a:defRPr sz="1500">
                <a:solidFill>
                  <a:srgbClr val="F5F5F5"/>
                </a:solidFill>
                <a:latin typeface="Arial"/>
              </a:defRPr>
            </a:pPr>
            <a:r>
              <a:t>• Afastamento: 01/10/2026 a 15/10/2026.</a:t>
            </a:r>
          </a:p>
          <a:p>
            <a:pPr>
              <a:spcBef>
                <a:spcPts val="600"/>
              </a:spcBef>
              <a:defRPr sz="1500">
                <a:solidFill>
                  <a:srgbClr val="F5F5F5"/>
                </a:solidFill>
                <a:latin typeface="Arial"/>
              </a:defRPr>
            </a:pPr>
            <a:r>
              <a:t>• Operação: 02/10/2026.</a:t>
            </a:r>
          </a:p>
          <a:p>
            <a:pPr>
              <a:spcBef>
                <a:spcPts val="600"/>
              </a:spcBef>
              <a:defRPr sz="1500">
                <a:solidFill>
                  <a:srgbClr val="F5F5F5"/>
                </a:solidFill>
                <a:latin typeface="Arial"/>
              </a:defRPr>
            </a:pPr>
            <a:r>
              <a:t>• Resultado: operador não elegível naquela data.</a:t>
            </a:r>
          </a:p>
          <a:p>
            <a:pPr>
              <a:spcBef>
                <a:spcPts val="600"/>
              </a:spcBef>
              <a:defRPr sz="1500">
                <a:solidFill>
                  <a:srgbClr val="F5F5F5"/>
                </a:solidFill>
                <a:latin typeface="Arial"/>
              </a:defRPr>
            </a:pPr>
            <a:r>
              <a:t>• Na integração futura, o botão de inclusão/candidatura ficará indisponível e o motivo será exibido.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6537960"/>
            <a:ext cx="10149840" cy="10972"/>
          </a:xfrm>
          <a:prstGeom prst="rect">
            <a:avLst/>
          </a:prstGeom>
          <a:solidFill>
            <a:srgbClr val="B28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0" y="6601968"/>
            <a:ext cx="5577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>
                <a:solidFill>
                  <a:srgbClr val="AAAAAA"/>
                </a:solidFill>
                <a:latin typeface="Arial"/>
              </a:defRPr>
            </a:pPr>
            <a:r>
              <a:t>Op. 73 - 2026 - Divisão de Operações Especiais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0140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3500">
                <a:solidFill>
                  <a:srgbClr val="F5F5F5"/>
                </a:solidFill>
                <a:latin typeface="Arial"/>
              </a:defRPr>
            </a:pPr>
            <a:r>
              <a:t>REGRAS DE ELEGIBILIDADE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43000"/>
            <a:ext cx="1036015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900">
                <a:solidFill>
                  <a:srgbClr val="D7D7D7"/>
                </a:solidFill>
                <a:latin typeface="Arial"/>
              </a:defRPr>
            </a:pPr>
            <a:r>
              <a:t>Afastamento não é sinônimo de impedimento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600200"/>
            <a:ext cx="3657600" cy="4389120"/>
          </a:xfrm>
          <a:prstGeom prst="roundRect">
            <a:avLst/>
          </a:prstGeom>
          <a:solidFill>
            <a:srgbClr val="191F26"/>
          </a:solidFill>
          <a:ln w="19050">
            <a:solidFill>
              <a:srgbClr val="A543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800">
                <a:solidFill>
                  <a:srgbClr val="A54343"/>
                </a:solidFill>
                <a:latin typeface="Arial"/>
              </a:defRPr>
            </a:pPr>
            <a:r>
              <a:t>AFASTAMENTOS IMPEDITIVOS</a:t>
            </a:r>
          </a:p>
          <a:p>
            <a:pPr>
              <a:spcBef>
                <a:spcPts val="600"/>
              </a:spcBef>
              <a:defRPr sz="1250">
                <a:solidFill>
                  <a:srgbClr val="F5F5F5"/>
                </a:solidFill>
                <a:latin typeface="Arial"/>
              </a:defRPr>
            </a:pPr>
            <a:r>
              <a:t>• Licença para capacitação.</a:t>
            </a:r>
          </a:p>
          <a:p>
            <a:pPr>
              <a:spcBef>
                <a:spcPts val="600"/>
              </a:spcBef>
              <a:defRPr sz="1250">
                <a:solidFill>
                  <a:srgbClr val="F5F5F5"/>
                </a:solidFill>
                <a:latin typeface="Arial"/>
              </a:defRPr>
            </a:pPr>
            <a:r>
              <a:t>• Licença-prêmio por assiduidade.</a:t>
            </a:r>
          </a:p>
          <a:p>
            <a:pPr>
              <a:spcBef>
                <a:spcPts val="600"/>
              </a:spcBef>
              <a:defRPr sz="1250">
                <a:solidFill>
                  <a:srgbClr val="F5F5F5"/>
                </a:solidFill>
                <a:latin typeface="Arial"/>
              </a:defRPr>
            </a:pPr>
            <a:r>
              <a:t>• Interesse particular.</a:t>
            </a:r>
          </a:p>
          <a:p>
            <a:pPr>
              <a:spcBef>
                <a:spcPts val="600"/>
              </a:spcBef>
              <a:defRPr sz="1250">
                <a:solidFill>
                  <a:srgbClr val="F5F5F5"/>
                </a:solidFill>
                <a:latin typeface="Arial"/>
              </a:defRPr>
            </a:pPr>
            <a:r>
              <a:t>• Saúde própria ou de pessoa da família.</a:t>
            </a:r>
          </a:p>
          <a:p>
            <a:pPr>
              <a:spcBef>
                <a:spcPts val="600"/>
              </a:spcBef>
              <a:defRPr sz="1250">
                <a:solidFill>
                  <a:srgbClr val="F5F5F5"/>
                </a:solidFill>
                <a:latin typeface="Arial"/>
              </a:defRPr>
            </a:pPr>
            <a:r>
              <a:t>• Mandato classista.</a:t>
            </a:r>
          </a:p>
          <a:p>
            <a:pPr>
              <a:spcBef>
                <a:spcPts val="600"/>
              </a:spcBef>
              <a:defRPr sz="1250">
                <a:solidFill>
                  <a:srgbClr val="F5F5F5"/>
                </a:solidFill>
                <a:latin typeface="Arial"/>
              </a:defRPr>
            </a:pPr>
            <a:r>
              <a:t>• Afastamento do cônjuge/companheiro.</a:t>
            </a:r>
          </a:p>
          <a:p>
            <a:pPr>
              <a:spcBef>
                <a:spcPts val="600"/>
              </a:spcBef>
              <a:defRPr sz="1250">
                <a:solidFill>
                  <a:srgbClr val="F5F5F5"/>
                </a:solidFill>
                <a:latin typeface="Arial"/>
              </a:defRPr>
            </a:pPr>
            <a:r>
              <a:t>• Missão ou curso no exterior.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270248" y="1600200"/>
            <a:ext cx="3657600" cy="4389120"/>
          </a:xfrm>
          <a:prstGeom prst="roundRect">
            <a:avLst/>
          </a:prstGeom>
          <a:solidFill>
            <a:srgbClr val="191F26"/>
          </a:solidFill>
          <a:ln w="19050">
            <a:solidFill>
              <a:srgbClr val="B28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800">
                <a:solidFill>
                  <a:srgbClr val="B28B4E"/>
                </a:solidFill>
                <a:latin typeface="Arial"/>
              </a:defRPr>
            </a:pPr>
            <a:r>
              <a:t>OUTROS IMPEDIMENTOS</a:t>
            </a:r>
          </a:p>
          <a:p>
            <a:pPr>
              <a:spcBef>
                <a:spcPts val="600"/>
              </a:spcBef>
              <a:defRPr sz="1180">
                <a:solidFill>
                  <a:srgbClr val="F5F5F5"/>
                </a:solidFill>
                <a:latin typeface="Arial"/>
              </a:defRPr>
            </a:pPr>
            <a:r>
              <a:t>• Punição disciplinar ou penalidade administrativa.</a:t>
            </a:r>
          </a:p>
          <a:p>
            <a:pPr>
              <a:spcBef>
                <a:spcPts val="600"/>
              </a:spcBef>
              <a:defRPr sz="1180">
                <a:solidFill>
                  <a:srgbClr val="F5F5F5"/>
                </a:solidFill>
                <a:latin typeface="Arial"/>
              </a:defRPr>
            </a:pPr>
            <a:r>
              <a:t>• Porte de arma suspenso ou cassado.</a:t>
            </a:r>
          </a:p>
          <a:p>
            <a:pPr>
              <a:spcBef>
                <a:spcPts val="600"/>
              </a:spcBef>
              <a:defRPr sz="1180">
                <a:solidFill>
                  <a:srgbClr val="F5F5F5"/>
                </a:solidFill>
                <a:latin typeface="Arial"/>
              </a:defRPr>
            </a:pPr>
            <a:r>
              <a:t>• Restrição médica operacional.</a:t>
            </a:r>
          </a:p>
          <a:p>
            <a:pPr>
              <a:spcBef>
                <a:spcPts val="600"/>
              </a:spcBef>
              <a:defRPr sz="1180">
                <a:solidFill>
                  <a:srgbClr val="F5F5F5"/>
                </a:solidFill>
                <a:latin typeface="Arial"/>
              </a:defRPr>
            </a:pPr>
            <a:r>
              <a:t>• Gestante/lactante em regime diferenciado.</a:t>
            </a:r>
          </a:p>
          <a:p>
            <a:pPr>
              <a:spcBef>
                <a:spcPts val="600"/>
              </a:spcBef>
              <a:defRPr sz="1180">
                <a:solidFill>
                  <a:srgbClr val="F5F5F5"/>
                </a:solidFill>
                <a:latin typeface="Arial"/>
              </a:defRPr>
            </a:pPr>
            <a:r>
              <a:t>• Cessão ou requisição.</a:t>
            </a:r>
          </a:p>
          <a:p>
            <a:pPr>
              <a:spcBef>
                <a:spcPts val="600"/>
              </a:spcBef>
              <a:defRPr sz="1180">
                <a:solidFill>
                  <a:srgbClr val="F5F5F5"/>
                </a:solidFill>
                <a:latin typeface="Arial"/>
              </a:defRPr>
            </a:pPr>
            <a:r>
              <a:t>• Horário especial/redução de carga.</a:t>
            </a:r>
          </a:p>
          <a:p>
            <a:pPr>
              <a:spcBef>
                <a:spcPts val="600"/>
              </a:spcBef>
              <a:defRPr sz="1180">
                <a:solidFill>
                  <a:srgbClr val="F5F5F5"/>
                </a:solidFill>
                <a:latin typeface="Arial"/>
              </a:defRPr>
            </a:pPr>
            <a:r>
              <a:t>• Treinamento obrigatório pendente.</a:t>
            </a:r>
          </a:p>
          <a:p>
            <a:pPr>
              <a:spcBef>
                <a:spcPts val="600"/>
              </a:spcBef>
              <a:defRPr sz="1180">
                <a:solidFill>
                  <a:srgbClr val="F5F5F5"/>
                </a:solidFill>
                <a:latin typeface="Arial"/>
              </a:defRPr>
            </a:pPr>
            <a:r>
              <a:t>• Penalidade específica de SVG.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046720" y="1600200"/>
            <a:ext cx="3657600" cy="4389120"/>
          </a:xfrm>
          <a:prstGeom prst="roundRect">
            <a:avLst/>
          </a:prstGeom>
          <a:solidFill>
            <a:srgbClr val="191F26"/>
          </a:solidFill>
          <a:ln w="19050">
            <a:solidFill>
              <a:srgbClr val="368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800">
                <a:solidFill>
                  <a:srgbClr val="368C5C"/>
                </a:solidFill>
                <a:latin typeface="Arial"/>
              </a:defRPr>
            </a:pPr>
            <a:r>
              <a:t>EXCEÇÕES / REGRA ESPECIAL</a:t>
            </a:r>
          </a:p>
          <a:p>
            <a:pPr>
              <a:spcBef>
                <a:spcPts val="600"/>
              </a:spcBef>
              <a:defRPr sz="1230">
                <a:solidFill>
                  <a:srgbClr val="F5F5F5"/>
                </a:solidFill>
                <a:latin typeface="Arial"/>
              </a:defRPr>
            </a:pPr>
            <a:r>
              <a:t>• Férias não impedem a prestação do SVG.</a:t>
            </a:r>
          </a:p>
          <a:p>
            <a:pPr>
              <a:spcBef>
                <a:spcPts val="600"/>
              </a:spcBef>
              <a:defRPr sz="1230">
                <a:solidFill>
                  <a:srgbClr val="F5F5F5"/>
                </a:solidFill>
                <a:latin typeface="Arial"/>
              </a:defRPr>
            </a:pPr>
            <a:r>
              <a:t>• Abono de ponto anual não impede.</a:t>
            </a:r>
          </a:p>
          <a:p>
            <a:pPr>
              <a:spcBef>
                <a:spcPts val="600"/>
              </a:spcBef>
              <a:defRPr sz="1230">
                <a:solidFill>
                  <a:srgbClr val="F5F5F5"/>
                </a:solidFill>
                <a:latin typeface="Arial"/>
              </a:defRPr>
            </a:pPr>
            <a:r>
              <a:t>• Abono de aniversário não impede.</a:t>
            </a:r>
          </a:p>
          <a:p>
            <a:pPr>
              <a:spcBef>
                <a:spcPts val="600"/>
              </a:spcBef>
              <a:defRPr sz="1230">
                <a:solidFill>
                  <a:srgbClr val="F5F5F5"/>
                </a:solidFill>
                <a:latin typeface="Arial"/>
              </a:defRPr>
            </a:pPr>
            <a:r>
              <a:t>• Restrição médica: impedimento durante a restrição e por mais 15 dias após o término.</a:t>
            </a:r>
          </a:p>
          <a:p>
            <a:pPr>
              <a:spcBef>
                <a:spcPts val="600"/>
              </a:spcBef>
              <a:defRPr sz="1230">
                <a:solidFill>
                  <a:srgbClr val="F5F5F5"/>
                </a:solidFill>
                <a:latin typeface="Arial"/>
              </a:defRPr>
            </a:pPr>
            <a:r>
              <a:t>• Podem existir períodos sobrepostos; todos os motivos devem ser preservados.</a:t>
            </a:r>
          </a:p>
        </p:txBody>
      </p:sp>
      <p:sp>
        <p:nvSpPr>
          <p:cNvPr id="7" name="Rectangle 6"/>
          <p:cNvSpPr/>
          <p:nvPr/>
        </p:nvSpPr>
        <p:spPr>
          <a:xfrm>
            <a:off x="1005840" y="6537960"/>
            <a:ext cx="10149840" cy="10972"/>
          </a:xfrm>
          <a:prstGeom prst="rect">
            <a:avLst/>
          </a:prstGeom>
          <a:solidFill>
            <a:srgbClr val="B28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91840" y="6601968"/>
            <a:ext cx="5577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>
                <a:solidFill>
                  <a:srgbClr val="AAAAAA"/>
                </a:solidFill>
                <a:latin typeface="Arial"/>
              </a:defRPr>
            </a:pPr>
            <a:r>
              <a:t>Op. 73 - 2026 - Divisão de Operações Especiais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0140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3500">
                <a:solidFill>
                  <a:srgbClr val="F5F5F5"/>
                </a:solidFill>
                <a:latin typeface="Arial"/>
              </a:defRPr>
            </a:pPr>
            <a:r>
              <a:t>ARQUITETURA DO MÓDULO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43000"/>
            <a:ext cx="1036015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900">
                <a:solidFill>
                  <a:srgbClr val="D7D7D7"/>
                </a:solidFill>
                <a:latin typeface="Arial"/>
              </a:defRPr>
            </a:pPr>
            <a:r>
              <a:t>Separação entre persistência, regra de domínio e consumo pela aplicação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423160"/>
            <a:ext cx="1828800" cy="1920240"/>
          </a:xfrm>
          <a:prstGeom prst="roundRect">
            <a:avLst/>
          </a:prstGeom>
          <a:solidFill>
            <a:srgbClr val="191F26"/>
          </a:solidFill>
          <a:ln>
            <a:solidFill>
              <a:srgbClr val="B28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700">
                <a:solidFill>
                  <a:srgbClr val="B28B4E"/>
                </a:solidFill>
              </a:defRPr>
            </a:pPr>
            <a:r>
              <a:t>Repository</a:t>
            </a:r>
          </a:p>
          <a:p>
            <a:pPr algn="ctr">
              <a:defRPr sz="1150">
                <a:solidFill>
                  <a:srgbClr val="F5F5F5"/>
                </a:solidFill>
              </a:defRPr>
            </a:pPr>
            <a:r>
              <a:t>Consulta afastamentos e impedimentos</a:t>
            </a:r>
            <a:br/>
            <a:r>
              <a:t>por operador e período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971800" y="2423160"/>
            <a:ext cx="1828800" cy="1920240"/>
          </a:xfrm>
          <a:prstGeom prst="roundRect">
            <a:avLst/>
          </a:prstGeom>
          <a:solidFill>
            <a:srgbClr val="191F26"/>
          </a:solidFill>
          <a:ln>
            <a:solidFill>
              <a:srgbClr val="B28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700">
                <a:solidFill>
                  <a:srgbClr val="B28B4E"/>
                </a:solidFill>
              </a:defRPr>
            </a:pPr>
            <a:r>
              <a:t>Domain Service</a:t>
            </a:r>
          </a:p>
          <a:p>
            <a:pPr algn="ctr">
              <a:defRPr sz="1150">
                <a:solidFill>
                  <a:srgbClr val="F5F5F5"/>
                </a:solidFill>
              </a:defRPr>
            </a:pPr>
            <a:r>
              <a:t>ElegibilidadeSVGService</a:t>
            </a:r>
            <a:br/>
            <a:r>
              <a:t>aplica as regras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0" y="2423160"/>
            <a:ext cx="1828800" cy="1920240"/>
          </a:xfrm>
          <a:prstGeom prst="roundRect">
            <a:avLst/>
          </a:prstGeom>
          <a:solidFill>
            <a:srgbClr val="191F26"/>
          </a:solidFill>
          <a:ln>
            <a:solidFill>
              <a:srgbClr val="B28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700">
                <a:solidFill>
                  <a:srgbClr val="B28B4E"/>
                </a:solidFill>
              </a:defRPr>
            </a:pPr>
            <a:r>
              <a:t>Resultado</a:t>
            </a:r>
          </a:p>
          <a:p>
            <a:pPr algn="ctr">
              <a:defRPr sz="1150">
                <a:solidFill>
                  <a:srgbClr val="F5F5F5"/>
                </a:solidFill>
              </a:defRPr>
            </a:pPr>
            <a:r>
              <a:t>XResultadoElegibilidadeSVG</a:t>
            </a:r>
            <a:br/>
            <a:r>
              <a:t>Elegível + motivos + impedido até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01000" y="2423160"/>
            <a:ext cx="1828800" cy="1920240"/>
          </a:xfrm>
          <a:prstGeom prst="roundRect">
            <a:avLst/>
          </a:prstGeom>
          <a:solidFill>
            <a:srgbClr val="191F26"/>
          </a:solidFill>
          <a:ln>
            <a:solidFill>
              <a:srgbClr val="B28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700">
                <a:solidFill>
                  <a:srgbClr val="B28B4E"/>
                </a:solidFill>
              </a:defRPr>
            </a:pPr>
            <a:r>
              <a:t>App Service</a:t>
            </a:r>
          </a:p>
          <a:p>
            <a:pPr algn="ctr">
              <a:defRPr sz="1150">
                <a:solidFill>
                  <a:srgbClr val="F5F5F5"/>
                </a:solidFill>
              </a:defRPr>
            </a:pPr>
            <a:r>
              <a:t>Expõe o domínio para</a:t>
            </a:r>
            <a:br/>
            <a:r>
              <a:t>a camada Web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0058400" y="2423160"/>
            <a:ext cx="1828800" cy="1920240"/>
          </a:xfrm>
          <a:prstGeom prst="roundRect">
            <a:avLst/>
          </a:prstGeom>
          <a:solidFill>
            <a:srgbClr val="191F26"/>
          </a:solidFill>
          <a:ln>
            <a:solidFill>
              <a:srgbClr val="B28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700">
                <a:solidFill>
                  <a:srgbClr val="B28B4E"/>
                </a:solidFill>
              </a:defRPr>
            </a:pPr>
            <a:r>
              <a:t>Web</a:t>
            </a:r>
          </a:p>
          <a:p>
            <a:pPr algn="ctr">
              <a:defRPr sz="1150">
                <a:solidFill>
                  <a:srgbClr val="F5F5F5"/>
                </a:solidFill>
              </a:defRPr>
            </a:pPr>
            <a:r>
              <a:t>Views / Controllers</a:t>
            </a:r>
            <a:br/>
            <a:r>
              <a:t>V1 e integração futura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3160" y="2926080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700">
                <a:solidFill>
                  <a:srgbClr val="F5F5F5"/>
                </a:solidFill>
              </a:defRPr>
            </a:pPr>
            <a: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937760" y="2926080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700">
                <a:solidFill>
                  <a:srgbClr val="F5F5F5"/>
                </a:solidFill>
              </a:defRPr>
            </a:pPr>
            <a: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52360" y="2926080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700">
                <a:solidFill>
                  <a:srgbClr val="F5F5F5"/>
                </a:solidFill>
              </a:defRPr>
            </a:pPr>
            <a: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46920" y="2926080"/>
            <a:ext cx="5029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700">
                <a:solidFill>
                  <a:srgbClr val="F5F5F5"/>
                </a:solidFill>
              </a:defRPr>
            </a:pPr>
            <a:r>
              <a:t>→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828800" y="4709160"/>
            <a:ext cx="8503920" cy="1143000"/>
          </a:xfrm>
          <a:prstGeom prst="roundRect">
            <a:avLst/>
          </a:prstGeom>
          <a:solidFill>
            <a:srgbClr val="191F26"/>
          </a:solidFill>
          <a:ln w="19050">
            <a:solidFill>
              <a:srgbClr val="368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800">
                <a:solidFill>
                  <a:srgbClr val="368C5C"/>
                </a:solidFill>
                <a:latin typeface="Arial"/>
              </a:defRPr>
            </a:pPr>
            <a:r>
              <a:t>PRINCÍPIO</a:t>
            </a:r>
          </a:p>
          <a:p>
            <a:pPr>
              <a:spcBef>
                <a:spcPts val="600"/>
              </a:spcBef>
              <a:defRPr sz="1300">
                <a:solidFill>
                  <a:srgbClr val="F5F5F5"/>
                </a:solidFill>
                <a:latin typeface="Arial"/>
              </a:defRPr>
            </a:pPr>
            <a:r>
              <a:t>• A regra de elegibilidade fica centralizada no domínio, evitando duplicação em telas, controllers ou queries.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05840" y="6537960"/>
            <a:ext cx="10149840" cy="10972"/>
          </a:xfrm>
          <a:prstGeom prst="rect">
            <a:avLst/>
          </a:prstGeom>
          <a:solidFill>
            <a:srgbClr val="B28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91840" y="6601968"/>
            <a:ext cx="5577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>
                <a:solidFill>
                  <a:srgbClr val="AAAAAA"/>
                </a:solidFill>
                <a:latin typeface="Arial"/>
              </a:defRPr>
            </a:pPr>
            <a:r>
              <a:t>Op. 73 - 2026 - Divisão de Operações Especiais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0140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3500">
                <a:solidFill>
                  <a:srgbClr val="F5F5F5"/>
                </a:solidFill>
                <a:latin typeface="Arial"/>
              </a:defRPr>
            </a:pPr>
            <a:r>
              <a:t>V1 - GESTÃO DE AFASTAMENTOS E IMPEDIMENTOS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43000"/>
            <a:ext cx="1036015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900">
                <a:solidFill>
                  <a:srgbClr val="D7D7D7"/>
                </a:solidFill>
                <a:latin typeface="Arial"/>
              </a:defRPr>
            </a:pPr>
            <a:r>
              <a:t>Cadastro, consulta e rastreabilidade antes da integração com o SVG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94360" y="1600200"/>
            <a:ext cx="5394960" cy="4480560"/>
          </a:xfrm>
          <a:prstGeom prst="roundRect">
            <a:avLst/>
          </a:prstGeom>
          <a:solidFill>
            <a:srgbClr val="191F26"/>
          </a:solidFill>
          <a:ln w="19050">
            <a:solidFill>
              <a:srgbClr val="B28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800">
                <a:solidFill>
                  <a:srgbClr val="B28B4E"/>
                </a:solidFill>
                <a:latin typeface="Arial"/>
              </a:defRPr>
            </a:pPr>
            <a:r>
              <a:t>TELA DE CONSULTA</a:t>
            </a:r>
          </a:p>
          <a:p>
            <a:pPr>
              <a:spcBef>
                <a:spcPts val="600"/>
              </a:spcBef>
              <a:defRPr sz="1300">
                <a:solidFill>
                  <a:srgbClr val="F5F5F5"/>
                </a:solidFill>
                <a:latin typeface="Arial"/>
              </a:defRPr>
            </a:pPr>
            <a:r>
              <a:t>• Filtros: operador, seção, tipo, ano, mês, período inicial e final.</a:t>
            </a:r>
          </a:p>
          <a:p>
            <a:pPr>
              <a:spcBef>
                <a:spcPts val="600"/>
              </a:spcBef>
              <a:defRPr sz="1300">
                <a:solidFill>
                  <a:srgbClr val="F5F5F5"/>
                </a:solidFill>
                <a:latin typeface="Arial"/>
              </a:defRPr>
            </a:pPr>
            <a:r>
              <a:t>• Ano: exibir apenas anos existentes na base; ano atual selecionado por padrão.</a:t>
            </a:r>
          </a:p>
          <a:p>
            <a:pPr>
              <a:spcBef>
                <a:spcPts val="600"/>
              </a:spcBef>
              <a:defRPr sz="1300">
                <a:solidFill>
                  <a:srgbClr val="F5F5F5"/>
                </a:solidFill>
                <a:latin typeface="Arial"/>
              </a:defRPr>
            </a:pPr>
            <a:r>
              <a:t>• Mês: restringe os registros ao mês e ano selecionados.</a:t>
            </a:r>
          </a:p>
          <a:p>
            <a:pPr>
              <a:spcBef>
                <a:spcPts val="600"/>
              </a:spcBef>
              <a:defRPr sz="1300">
                <a:solidFill>
                  <a:srgbClr val="F5F5F5"/>
                </a:solidFill>
                <a:latin typeface="Arial"/>
              </a:defRPr>
            </a:pPr>
            <a:r>
              <a:t>• Período: seleção de dia/mês vinculada ao ano escolhido.</a:t>
            </a:r>
          </a:p>
          <a:p>
            <a:pPr>
              <a:spcBef>
                <a:spcPts val="600"/>
              </a:spcBef>
              <a:defRPr sz="1300">
                <a:solidFill>
                  <a:srgbClr val="F5F5F5"/>
                </a:solidFill>
                <a:latin typeface="Arial"/>
              </a:defRPr>
            </a:pPr>
            <a:r>
              <a:t>• Sem filtros: listar todos os registros em ordem de data.</a:t>
            </a:r>
          </a:p>
          <a:p>
            <a:pPr>
              <a:spcBef>
                <a:spcPts val="600"/>
              </a:spcBef>
              <a:defRPr sz="1300">
                <a:solidFill>
                  <a:srgbClr val="F5F5F5"/>
                </a:solidFill>
                <a:latin typeface="Arial"/>
              </a:defRPr>
            </a:pPr>
            <a:r>
              <a:t>• Tabela: operador, tipo, data inicial e data final.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600200"/>
            <a:ext cx="5394960" cy="4480560"/>
          </a:xfrm>
          <a:prstGeom prst="roundRect">
            <a:avLst/>
          </a:prstGeom>
          <a:solidFill>
            <a:srgbClr val="191F26"/>
          </a:solidFill>
          <a:ln w="19050">
            <a:solidFill>
              <a:srgbClr val="368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800">
                <a:solidFill>
                  <a:srgbClr val="368C5C"/>
                </a:solidFill>
                <a:latin typeface="Arial"/>
              </a:defRPr>
            </a:pPr>
            <a:r>
              <a:t>REGRAS DE CADASTRO</a:t>
            </a:r>
          </a:p>
          <a:p>
            <a:pPr>
              <a:spcBef>
                <a:spcPts val="600"/>
              </a:spcBef>
              <a:defRPr sz="1300">
                <a:solidFill>
                  <a:srgbClr val="F5F5F5"/>
                </a:solidFill>
                <a:latin typeface="Arial"/>
              </a:defRPr>
            </a:pPr>
            <a:r>
              <a:t>• Permitir períodos sobrepostos.</a:t>
            </a:r>
          </a:p>
          <a:p>
            <a:pPr>
              <a:spcBef>
                <a:spcPts val="600"/>
              </a:spcBef>
              <a:defRPr sz="1300">
                <a:solidFill>
                  <a:srgbClr val="F5F5F5"/>
                </a:solidFill>
                <a:latin typeface="Arial"/>
              </a:defRPr>
            </a:pPr>
            <a:r>
              <a:t>• Distinguir afastamento administrativo de impedimento de elegibilidade.</a:t>
            </a:r>
          </a:p>
          <a:p>
            <a:pPr>
              <a:spcBef>
                <a:spcPts val="600"/>
              </a:spcBef>
              <a:defRPr sz="1300">
                <a:solidFill>
                  <a:srgbClr val="F5F5F5"/>
                </a:solidFill>
                <a:latin typeface="Arial"/>
              </a:defRPr>
            </a:pPr>
            <a:r>
              <a:t>• Permitir impedimentos com término conhecido ou indeterminado.</a:t>
            </a:r>
          </a:p>
          <a:p>
            <a:pPr>
              <a:spcBef>
                <a:spcPts val="600"/>
              </a:spcBef>
              <a:defRPr sz="1300">
                <a:solidFill>
                  <a:srgbClr val="F5F5F5"/>
                </a:solidFill>
                <a:latin typeface="Arial"/>
              </a:defRPr>
            </a:pPr>
            <a:r>
              <a:t>• Preservar múltiplos motivos simultâneos.</a:t>
            </a:r>
          </a:p>
          <a:p>
            <a:pPr>
              <a:spcBef>
                <a:spcPts val="600"/>
              </a:spcBef>
              <a:defRPr sz="1300">
                <a:solidFill>
                  <a:srgbClr val="F5F5F5"/>
                </a:solidFill>
                <a:latin typeface="Arial"/>
              </a:defRPr>
            </a:pPr>
            <a:r>
              <a:t>• Consulta por data deve responder se o operador está elegível e, quando possível, até quando permanece impedido.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6537960"/>
            <a:ext cx="10149840" cy="10972"/>
          </a:xfrm>
          <a:prstGeom prst="rect">
            <a:avLst/>
          </a:prstGeom>
          <a:solidFill>
            <a:srgbClr val="B28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0" y="6601968"/>
            <a:ext cx="5577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>
                <a:solidFill>
                  <a:srgbClr val="AAAAAA"/>
                </a:solidFill>
                <a:latin typeface="Arial"/>
              </a:defRPr>
            </a:pPr>
            <a:r>
              <a:t>Op. 73 - 2026 - Divisão de Operações Especiais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0040"/>
            <a:ext cx="1120140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b="1" sz="3500">
                <a:solidFill>
                  <a:srgbClr val="F5F5F5"/>
                </a:solidFill>
                <a:latin typeface="Arial"/>
              </a:defRPr>
            </a:pPr>
            <a:r>
              <a:t>EVOLUÇÃO DO MÓDULO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43000"/>
            <a:ext cx="10360152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900">
                <a:solidFill>
                  <a:srgbClr val="D7D7D7"/>
                </a:solidFill>
                <a:latin typeface="Arial"/>
              </a:defRPr>
            </a:pPr>
            <a:r>
              <a:t>V2: visualização mensal e integração com operações/SVG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737360"/>
            <a:ext cx="5212080" cy="4160520"/>
          </a:xfrm>
          <a:prstGeom prst="roundRect">
            <a:avLst/>
          </a:prstGeom>
          <a:solidFill>
            <a:srgbClr val="191F26"/>
          </a:solidFill>
          <a:ln w="19050">
            <a:solidFill>
              <a:srgbClr val="B28B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800">
                <a:solidFill>
                  <a:srgbClr val="B28B4E"/>
                </a:solidFill>
                <a:latin typeface="Arial"/>
              </a:defRPr>
            </a:pPr>
            <a:r>
              <a:t>VISUALIZAÇÃO MENSAL</a:t>
            </a:r>
          </a:p>
          <a:p>
            <a:pPr>
              <a:spcBef>
                <a:spcPts val="600"/>
              </a:spcBef>
              <a:defRPr sz="1400">
                <a:solidFill>
                  <a:srgbClr val="F5F5F5"/>
                </a:solidFill>
                <a:latin typeface="Arial"/>
              </a:defRPr>
            </a:pPr>
            <a:r>
              <a:t>• Nova view inspirada no controle atual em planilha.</a:t>
            </a:r>
          </a:p>
          <a:p>
            <a:pPr>
              <a:spcBef>
                <a:spcPts val="600"/>
              </a:spcBef>
              <a:defRPr sz="1400">
                <a:solidFill>
                  <a:srgbClr val="F5F5F5"/>
                </a:solidFill>
                <a:latin typeface="Arial"/>
              </a:defRPr>
            </a:pPr>
            <a:r>
              <a:t>• Operadores nas linhas e dias do mês nas colunas.</a:t>
            </a:r>
          </a:p>
          <a:p>
            <a:pPr>
              <a:spcBef>
                <a:spcPts val="600"/>
              </a:spcBef>
              <a:defRPr sz="1400">
                <a:solidFill>
                  <a:srgbClr val="F5F5F5"/>
                </a:solidFill>
                <a:latin typeface="Arial"/>
              </a:defRPr>
            </a:pPr>
            <a:r>
              <a:t>• Períodos destacados visualmente.</a:t>
            </a:r>
          </a:p>
          <a:p>
            <a:pPr>
              <a:spcBef>
                <a:spcPts val="600"/>
              </a:spcBef>
              <a:defRPr sz="1400">
                <a:solidFill>
                  <a:srgbClr val="F5F5F5"/>
                </a:solidFill>
                <a:latin typeface="Arial"/>
              </a:defRPr>
            </a:pPr>
            <a:r>
              <a:t>• Filtros mantidos para operador, seção, tipo, ano e mês.</a:t>
            </a:r>
          </a:p>
          <a:p>
            <a:pPr>
              <a:spcBef>
                <a:spcPts val="600"/>
              </a:spcBef>
              <a:defRPr sz="1400">
                <a:solidFill>
                  <a:srgbClr val="F5F5F5"/>
                </a:solidFill>
                <a:latin typeface="Arial"/>
              </a:defRPr>
            </a:pPr>
            <a:r>
              <a:t>• Objetivo: leitura rápida da disponibilidade da equipe ao longo do mês.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737360"/>
            <a:ext cx="5212080" cy="4160520"/>
          </a:xfrm>
          <a:prstGeom prst="roundRect">
            <a:avLst/>
          </a:prstGeom>
          <a:solidFill>
            <a:srgbClr val="191F26"/>
          </a:solidFill>
          <a:ln w="19050">
            <a:solidFill>
              <a:srgbClr val="368C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800">
                <a:solidFill>
                  <a:srgbClr val="368C5C"/>
                </a:solidFill>
                <a:latin typeface="Arial"/>
              </a:defRPr>
            </a:pPr>
            <a:r>
              <a:t>INTEGRAÇÃO COM SVG</a:t>
            </a:r>
          </a:p>
          <a:p>
            <a:pPr>
              <a:spcBef>
                <a:spcPts val="600"/>
              </a:spcBef>
              <a:defRPr sz="1400">
                <a:solidFill>
                  <a:srgbClr val="F5F5F5"/>
                </a:solidFill>
                <a:latin typeface="Arial"/>
              </a:defRPr>
            </a:pPr>
            <a:r>
              <a:t>• Validar elegibilidade pela data da operação.</a:t>
            </a:r>
          </a:p>
          <a:p>
            <a:pPr>
              <a:spcBef>
                <a:spcPts val="600"/>
              </a:spcBef>
              <a:defRPr sz="1400">
                <a:solidFill>
                  <a:srgbClr val="F5F5F5"/>
                </a:solidFill>
                <a:latin typeface="Arial"/>
              </a:defRPr>
            </a:pPr>
            <a:r>
              <a:t>• Operador impedido poderá permanecer visível, porém com ação desabilitada.</a:t>
            </a:r>
          </a:p>
          <a:p>
            <a:pPr>
              <a:spcBef>
                <a:spcPts val="600"/>
              </a:spcBef>
              <a:defRPr sz="1400">
                <a:solidFill>
                  <a:srgbClr val="F5F5F5"/>
                </a:solidFill>
                <a:latin typeface="Arial"/>
              </a:defRPr>
            </a:pPr>
            <a:r>
              <a:t>• Exibir informativo com o motivo do impedimento.</a:t>
            </a:r>
          </a:p>
          <a:p>
            <a:pPr>
              <a:spcBef>
                <a:spcPts val="600"/>
              </a:spcBef>
              <a:defRPr sz="1400">
                <a:solidFill>
                  <a:srgbClr val="F5F5F5"/>
                </a:solidFill>
                <a:latin typeface="Arial"/>
              </a:defRPr>
            </a:pPr>
            <a:r>
              <a:t>• Aplicar a mesma regra na inclusão administrativa e na candidatura do próprio operador.</a:t>
            </a:r>
          </a:p>
          <a:p>
            <a:pPr>
              <a:spcBef>
                <a:spcPts val="600"/>
              </a:spcBef>
              <a:defRPr sz="1400">
                <a:solidFill>
                  <a:srgbClr val="F5F5F5"/>
                </a:solidFill>
                <a:latin typeface="Arial"/>
              </a:defRPr>
            </a:pPr>
            <a:r>
              <a:t>• Evitar refatoração futura: a integração consumirá o serviço de elegibilidade já existente.</a:t>
            </a:r>
          </a:p>
        </p:txBody>
      </p:sp>
      <p:sp>
        <p:nvSpPr>
          <p:cNvPr id="6" name="Rectangle 5"/>
          <p:cNvSpPr/>
          <p:nvPr/>
        </p:nvSpPr>
        <p:spPr>
          <a:xfrm>
            <a:off x="1005840" y="6537960"/>
            <a:ext cx="10149840" cy="10972"/>
          </a:xfrm>
          <a:prstGeom prst="rect">
            <a:avLst/>
          </a:prstGeom>
          <a:solidFill>
            <a:srgbClr val="B28B4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91840" y="6601968"/>
            <a:ext cx="55778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850">
                <a:solidFill>
                  <a:srgbClr val="AAAAAA"/>
                </a:solidFill>
                <a:latin typeface="Arial"/>
              </a:defRPr>
            </a:pPr>
            <a:r>
              <a:t>Op. 73 - 2026 - Divisão de Operações Especiais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Tema do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29AF8C"/>
      </a:accent1>
      <a:accent2>
        <a:srgbClr val="97BE49"/>
      </a:accent2>
      <a:accent3>
        <a:srgbClr val="3D9CCC"/>
      </a:accent3>
      <a:accent4>
        <a:srgbClr val="7C60C6"/>
      </a:accent4>
      <a:accent5>
        <a:srgbClr val="C9492C"/>
      </a:accent5>
      <a:accent6>
        <a:srgbClr val="D58C2E"/>
      </a:accent6>
      <a:hlink>
        <a:srgbClr val="0563C1"/>
      </a:hlink>
      <a:folHlink>
        <a:srgbClr val="954F72"/>
      </a:folHlink>
    </a:clrScheme>
    <a:fontScheme name="Tema do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3E4F19A7-A959-40BB-972C-4880BAF8EB09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5974</TotalTime>
  <Words>166</Words>
  <Application>Microsoft Office PowerPoint</Application>
  <PresentationFormat>Widescreen</PresentationFormat>
  <Paragraphs>52</Paragraphs>
  <Slides>32</Slides>
  <Notes>22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32</vt:i4>
      </vt:variant>
    </vt:vector>
  </HeadingPairs>
  <TitlesOfParts>
    <vt:vector size="36" baseType="lpstr">
      <vt:lpstr>Arial</vt:lpstr>
      <vt:lpstr>Calibri</vt:lpstr>
      <vt:lpstr>Calibri Light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INSERINDO OPERADORES </vt:lpstr>
      <vt:lpstr>INSERINDO OPERADORES </vt:lpstr>
      <vt:lpstr>LISTA DE OPERAÇÕES </vt:lpstr>
      <vt:lpstr>LISTA DE OPERAÇÕES </vt:lpstr>
      <vt:lpstr>EDITAR OPERAÇÃO </vt:lpstr>
      <vt:lpstr>DETALHES OPERAÇÃO </vt:lpstr>
      <vt:lpstr>OPERAÇÕES COM SVG ABERTO </vt:lpstr>
      <vt:lpstr>OPERAÇÕES COM SVG ABERTO </vt:lpstr>
      <vt:lpstr>OPERAÇÕES COM SVG ABERTO </vt:lpstr>
      <vt:lpstr>OPERAÇÕES COM SVG ABERTO </vt:lpstr>
      <vt:lpstr>OPERAÇÕES COM SVG ABERTO </vt:lpstr>
      <vt:lpstr>OPERAÇÕES COM SVG ABERTO </vt:lpstr>
      <vt:lpstr>OPERAÇÕES COM SVG ABERTO </vt:lpstr>
      <vt:lpstr>LISTA DE OPERAÇÕES </vt:lpstr>
      <vt:lpstr>ENCERRAR SVG </vt:lpstr>
      <vt:lpstr>DETALHES OPERAÇÃO</vt:lpstr>
      <vt:lpstr>CONTROLE DE ACESSO Tela Inicial</vt:lpstr>
      <vt:lpstr>CONTROLE DE ACESSO Tela Inicial</vt:lpstr>
      <vt:lpstr>CONTROLE DE ACESSO Tela Inicial</vt:lpstr>
      <vt:lpstr>CONTROLE DE ACESSO Tela Inicial</vt:lpstr>
      <vt:lpstr>PAINEL DE DASHBOARD HORAS SVG  MENSAL - 2025</vt:lpstr>
      <vt:lpstr>Apresentação do PowerPoint</vt:lpstr>
      <vt:lpstr>Apresentação do PowerPoint</vt:lpstr>
      <vt:lpstr>PAINEL DE DASHBOARD HORAS SVG  SEMESTRE - 2025</vt:lpstr>
      <vt:lpstr>PAINEL DE DASHBOARD OPERAÇÕES  MENSAL - 2025</vt:lpstr>
      <vt:lpstr>PAINEL DE DASHBOARD OPERADORES  MENSAL - 2025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Wagner Nogueira</dc:creator>
  <cp:lastModifiedBy>Wagner Nogueira</cp:lastModifiedBy>
  <cp:revision>11</cp:revision>
  <dcterms:created xsi:type="dcterms:W3CDTF">2026-08-18T22:50:42Z</dcterms:created>
  <dcterms:modified xsi:type="dcterms:W3CDTF">2026-09-08T14:33:41Z</dcterms:modified>
</cp:coreProperties>
</file>