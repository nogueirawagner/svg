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2"/>
  </p:notes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90" r:id="rId26"/>
    <p:sldId id="291" r:id="rId27"/>
    <p:sldId id="292" r:id="rId28"/>
    <p:sldId id="295" r:id="rId29"/>
    <p:sldId id="300" r:id="rId30"/>
    <p:sldId id="296" r:id="rId31"/>
    <p:sldId id="297" r:id="rId32"/>
    <p:sldId id="298" r:id="rId33"/>
    <p:sldId id="301" r:id="rId34"/>
    <p:sldId id="302" r:id="rId35"/>
    <p:sldId id="303" r:id="rId36"/>
    <p:sldId id="304" r:id="rId37"/>
    <p:sldId id="305" r:id="rId38"/>
    <p:sldId id="306" r:id="rId39"/>
    <p:sldId id="307" r:id="rId40"/>
    <p:sldId id="308" r:id="rId41"/>
    <p:sldId id="309" r:id="rId42"/>
    <p:sldId id="310" r:id="rId43"/>
    <p:sldId id="311" r:id="rId44"/>
    <p:sldId id="283" r:id="rId45"/>
    <p:sldId id="284" r:id="rId46"/>
    <p:sldId id="286" r:id="rId47"/>
    <p:sldId id="287" r:id="rId48"/>
    <p:sldId id="288" r:id="rId49"/>
    <p:sldId id="289" r:id="rId50"/>
    <p:sldId id="294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ício" id="{DC355B6E-1F2F-4152-9B6C-70C29D28E1B4}">
          <p14:sldIdLst>
            <p14:sldId id="256"/>
          </p14:sldIdLst>
        </p14:section>
        <p14:section name="Criar Operação" id="{B26075AF-D04B-42B1-870B-C23DE96251B0}">
          <p14:sldIdLst>
            <p14:sldId id="259"/>
            <p14:sldId id="258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Tela de SVG Aberto" id="{FC057D78-995A-45DE-AE3B-102D8577C1CD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Controle de Acesso" id="{131C7906-84EB-43C8-9F27-ECA6562DA29E}">
          <p14:sldIdLst>
            <p14:sldId id="277"/>
            <p14:sldId id="278"/>
            <p14:sldId id="279"/>
            <p14:sldId id="280"/>
          </p14:sldIdLst>
        </p14:section>
        <p14:section name="Afastamentos / Impedimento" id="{C94C583A-82F6-4B9E-A694-B803B319C151}">
          <p14:sldIdLst>
            <p14:sldId id="290"/>
            <p14:sldId id="291"/>
            <p14:sldId id="292"/>
            <p14:sldId id="295"/>
            <p14:sldId id="300"/>
            <p14:sldId id="296"/>
            <p14:sldId id="297"/>
            <p14:sldId id="298"/>
          </p14:sldIdLst>
        </p14:section>
        <p14:section name="Viaturas" id="{617233F0-B355-4792-9889-69E6D90BF3F9}">
          <p14:sldIdLst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</p14:sldIdLst>
        </p14:section>
        <p14:section name="Dashboard" id="{FAB4DAAA-B0CF-4D9C-91A0-5A8C67D92932}">
          <p14:sldIdLst>
            <p14:sldId id="283"/>
            <p14:sldId id="284"/>
            <p14:sldId id="286"/>
            <p14:sldId id="287"/>
            <p14:sldId id="288"/>
            <p14:sldId id="289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0" autoAdjust="0"/>
    <p:restoredTop sz="94660"/>
  </p:normalViewPr>
  <p:slideViewPr>
    <p:cSldViewPr snapToGrid="0">
      <p:cViewPr>
        <p:scale>
          <a:sx n="98" d="100"/>
          <a:sy n="98" d="100"/>
        </p:scale>
        <p:origin x="190" y="-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2A546-2BD9-4636-927E-CF67B769F9DA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FC50DF-1596-478B-86D4-48284F9C6E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6396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C50DF-1596-478B-86D4-48284F9C6E46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2807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7E2A9-BC68-D27D-8BB4-41B2F71B0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BE54E91-1DBD-39BA-1D16-27CAAA3FC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C3A2E28-CD46-0D0F-8EE5-699532B2F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C501A50-FD0A-8E0C-0A1F-0483B09D8E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C50DF-1596-478B-86D4-48284F9C6E46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7706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760DA-649B-F6BB-9C27-601A7822E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2C8523B-D2FA-1E28-E530-80F79029A8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478272D-6645-61DC-51B5-753C2B2FD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F998791-674F-774A-EB0F-AADD42183E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C50DF-1596-478B-86D4-48284F9C6E46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9560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5299F-830D-D0C0-A0F3-29BE4174A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CD6C569-C2BA-12C8-17C2-CE91F3802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A1559CC-B8A7-5B3E-BED3-76E53E0465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65EC0F2-14AD-F073-B54C-1D271C9B7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C50DF-1596-478B-86D4-48284F9C6E46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86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E59B1-C111-3701-2B0B-C47D08177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8C7D347-B2A7-2C26-45CA-DDC234F88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ED65283-A079-3504-A0EF-3DF5C51CA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D884050-182E-B16A-9F2D-44F63E3476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C50DF-1596-478B-86D4-48284F9C6E46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9036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6CE10-7349-8683-3C66-AFB5C430B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3C04B77-6DDD-263A-8C83-FB077C3521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C8FDDD8-677F-FDDA-AA4F-D8A0E3332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3FB5176-A2DB-4C26-5483-EFB289D641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C50DF-1596-478B-86D4-48284F9C6E46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9701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930A3-8EDC-AB8B-5B4B-E2F890B26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50401D4-5EA8-4811-CE86-A1815EC03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9E336D6-9C08-8B88-A7E3-D522DE235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E3D3A9-A6D6-135C-C6E8-5F9FBB526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C50DF-1596-478B-86D4-48284F9C6E46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8415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EF684-6FB9-CFF7-0BC9-08A1347CD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C6EF9EE-0C0D-19D7-5F99-F252C5C567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A9F92AC-6FA5-7FFD-CEE5-A51973A4E2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CDF5987-ACC6-8C3E-3543-2FBFB679C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C50DF-1596-478B-86D4-48284F9C6E46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95216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87A19-9D61-C153-ACB7-1F11822AC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7C51101-146E-391E-A656-B89B73BC3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3F8A27A-E54E-0D6C-4F7A-987EF7306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58F60CC-68CD-6C16-48F2-AE7CAE7499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C50DF-1596-478B-86D4-48284F9C6E46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3769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D7F2E-2FE3-6BB1-5587-41CDAABCE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3F969E8-77F4-B01D-765A-08A8DFC35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3BC1AD4-6AA4-A273-3035-5076CD0FC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91E0473-32D5-D83C-737F-D03747AD85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C50DF-1596-478B-86D4-48284F9C6E46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02759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9C29E-C8A1-612D-F6D8-E7E0587E6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5C54DDF-74D6-0296-15EB-AE039700BD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A5A2A7C-7421-D2E9-276B-5242FFB31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2F79D40-99BB-65CB-AB0D-2E0360252A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C50DF-1596-478B-86D4-48284F9C6E46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0744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95E21-2503-F85B-F3F7-B0AFD6C09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6118399-4642-1C42-B293-0B969AB12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99BC9EC-9E72-8D74-6817-2212ACE7F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12DFD08-6DFB-A7DF-3B57-11BC2F0511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C50DF-1596-478B-86D4-48284F9C6E46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64512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AE513-0426-51C9-36DE-48C0A53F6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72006AD-22BE-7970-DB68-C4E7294B4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C0E0BF6-0344-2AA8-2476-3DBD0F71D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9C8669-7897-45FD-86E7-B316CB084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C50DF-1596-478B-86D4-48284F9C6E46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96181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A4A80-AAF1-B883-9CB8-1BDD22AE5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1882B97-2B34-DD6F-C8E5-8295FA83F9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B5E052D-DD6C-46C1-7644-86BB597CFC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B586E58-8C6C-9270-8DCE-FBDD3BA0A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C50DF-1596-478B-86D4-48284F9C6E46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23721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CBAE3-EA5F-3778-526C-66E5FF4AA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AC1E714-E3E3-82C7-3E49-29C1CC585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C00EA5F-6474-43A7-2A37-F880D702B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9D20747-26B2-5285-381A-270A450047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C50DF-1596-478B-86D4-48284F9C6E46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90652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1E8C2-3CD9-86E7-94F6-6981E9484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5AF4A07-7924-B90E-1B49-DB02D3C425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205196C-E7B0-17C7-8E84-9FC067714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D67313A-4ECF-CA78-BCAD-327D5DC89E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C50DF-1596-478B-86D4-48284F9C6E46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11887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A6782-BF14-3AA4-31A0-526F0278B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E351961-82D6-1A38-52A5-ACC5AEB6BA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BD918A4-B7EC-6449-B157-46F606745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308BA3C-48EA-4728-681F-54F4A68E1C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C50DF-1596-478B-86D4-48284F9C6E46}" type="slidenum">
              <a:rPr lang="pt-BR" smtClean="0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55254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DAC59-278A-FE06-578B-55CAEA764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6270A0D-195C-D380-DFA2-64ACFBF93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7493D34-C5A3-D280-36ED-1539D3431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57DAEAB-9C9F-B6BC-4525-EF73230AA3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C50DF-1596-478B-86D4-48284F9C6E46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48149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897AF-F97F-EBD6-9E04-26C411EA0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B53E432-0691-7ED1-EDBC-3D8ABC4B7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0C964B4-6679-A9F7-C2BD-41AEFA6E7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72C9E76-25AA-BA34-0CF3-2DA9A9D8EE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C50DF-1596-478B-86D4-48284F9C6E46}" type="slidenum">
              <a:rPr lang="pt-BR" smtClean="0"/>
              <a:t>46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99889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65A5B-3254-C276-5336-4A684A7ED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33DF626-F30E-A018-AF65-ABC9605B44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2E02F58-DE8C-B45E-3978-3ADDBE901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D73E689-23FA-8334-A2D2-A42F1DEEEA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C50DF-1596-478B-86D4-48284F9C6E46}" type="slidenum">
              <a:rPr lang="pt-BR" smtClean="0"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60889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C77FB-83F8-A852-67B6-7DA6D3628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820CB40-E177-6E12-49B9-70297BAC7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43BFE2D-8261-2DA4-60FF-92759A2A8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FC04C5-F78E-599B-089C-14CA428EC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C50DF-1596-478B-86D4-48284F9C6E46}" type="slidenum">
              <a:rPr lang="pt-BR" smtClean="0"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56603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89BE8-D347-156A-2CAD-DE407744F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C03D9E2-CB26-EF58-DCD3-3A8DE0C2E6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8BF15A3-6369-3CFC-E581-5BDE5986F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013DE56-1C56-DAC9-1BCD-ECFAD1078B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C50DF-1596-478B-86D4-48284F9C6E46}" type="slidenum">
              <a:rPr lang="pt-BR" smtClean="0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343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335B1-82CA-4E15-A5D8-FED425F1DBD2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F9310-BB4F-4F9D-8475-C127F45CE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6616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335B1-82CA-4E15-A5D8-FED425F1DBD2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F9310-BB4F-4F9D-8475-C127F45CE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476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335B1-82CA-4E15-A5D8-FED425F1DBD2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F9310-BB4F-4F9D-8475-C127F45CE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906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335B1-82CA-4E15-A5D8-FED425F1DBD2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F9310-BB4F-4F9D-8475-C127F45CE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6173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335B1-82CA-4E15-A5D8-FED425F1DBD2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F9310-BB4F-4F9D-8475-C127F45CE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2868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335B1-82CA-4E15-A5D8-FED425F1DBD2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F9310-BB4F-4F9D-8475-C127F45CE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922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335B1-82CA-4E15-A5D8-FED425F1DBD2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F9310-BB4F-4F9D-8475-C127F45CE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0925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335B1-82CA-4E15-A5D8-FED425F1DBD2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F9310-BB4F-4F9D-8475-C127F45CE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8223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335B1-82CA-4E15-A5D8-FED425F1DBD2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F9310-BB4F-4F9D-8475-C127F45CE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877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335B1-82CA-4E15-A5D8-FED425F1DBD2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F9310-BB4F-4F9D-8475-C127F45CE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6882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335B1-82CA-4E15-A5D8-FED425F1DBD2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F9310-BB4F-4F9D-8475-C127F45CE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27381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311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5335B1-82CA-4E15-A5D8-FED425F1DBD2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5F9310-BB4F-4F9D-8475-C127F45CE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75730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microsoft.com/office/2007/relationships/hdphoto" Target="../media/hdphoto2.wdp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7F7631B-D988-ECC2-ACD5-37AC7B75D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0"/>
            <a:ext cx="10287000" cy="6858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82C153F-AE84-AD66-E9FF-18EF96279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500" y="5905501"/>
            <a:ext cx="952499" cy="95249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20C66E9-8682-95DB-9F02-F284365241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05500"/>
            <a:ext cx="952499" cy="95249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699140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75B1BA9-738A-1129-7CEC-08E51C531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808" y="1405942"/>
            <a:ext cx="8186384" cy="5304051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2F7E1E18-7CDD-9A73-58D6-2447C8270FF1}"/>
              </a:ext>
            </a:extLst>
          </p:cNvPr>
          <p:cNvSpPr txBox="1">
            <a:spLocks/>
          </p:cNvSpPr>
          <p:nvPr/>
        </p:nvSpPr>
        <p:spPr>
          <a:xfrm>
            <a:off x="1208809" y="-111030"/>
            <a:ext cx="9144000" cy="1410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noProof="0" dirty="0"/>
              <a:t>TELA INICIAL DO SISTEMA</a:t>
            </a:r>
          </a:p>
          <a:p>
            <a:pPr algn="ctr"/>
            <a:r>
              <a:rPr lang="pt-BR" sz="3600" noProof="0" dirty="0"/>
              <a:t>LISTA DE OPERAÇÕES</a:t>
            </a:r>
          </a:p>
        </p:txBody>
      </p:sp>
    </p:spTree>
    <p:extLst>
      <p:ext uri="{BB962C8B-B14F-4D97-AF65-F5344CB8AC3E}">
        <p14:creationId xmlns:p14="http://schemas.microsoft.com/office/powerpoint/2010/main" val="1503160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B2389F3A-06B7-23F6-87A9-622036203708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rcRect l="33248"/>
          <a:stretch>
            <a:fillRect/>
          </a:stretch>
        </p:blipFill>
        <p:spPr>
          <a:xfrm>
            <a:off x="1353738" y="1765003"/>
            <a:ext cx="9524736" cy="388276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69730218-335F-BAD1-C254-F34A73D0D7BD}"/>
              </a:ext>
            </a:extLst>
          </p:cNvPr>
          <p:cNvSpPr/>
          <p:nvPr/>
        </p:nvSpPr>
        <p:spPr>
          <a:xfrm>
            <a:off x="6003634" y="2967335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pt-BR" sz="5400" b="0" cap="none" spc="0" noProof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EAFA2869-3D21-99B5-1A8F-294D85A8102E}"/>
              </a:ext>
            </a:extLst>
          </p:cNvPr>
          <p:cNvSpPr txBox="1">
            <a:spLocks/>
          </p:cNvSpPr>
          <p:nvPr/>
        </p:nvSpPr>
        <p:spPr>
          <a:xfrm>
            <a:off x="1616364" y="478320"/>
            <a:ext cx="9144000" cy="7716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noProof="0" dirty="0"/>
              <a:t>CRIAR NOVA OPERAÇÃO</a:t>
            </a:r>
          </a:p>
          <a:p>
            <a:pPr algn="ctr"/>
            <a:endParaRPr lang="pt-BR" sz="3600" noProof="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17AE185-C493-CE4C-14DB-9FAF504CD4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524" b="45746"/>
          <a:stretch>
            <a:fillRect/>
          </a:stretch>
        </p:blipFill>
        <p:spPr>
          <a:xfrm>
            <a:off x="8968512" y="1765003"/>
            <a:ext cx="1909961" cy="1663997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4512BBE6-47EE-B1A0-97E3-E27D65B65E73}"/>
              </a:ext>
            </a:extLst>
          </p:cNvPr>
          <p:cNvCxnSpPr>
            <a:cxnSpLocks/>
          </p:cNvCxnSpPr>
          <p:nvPr/>
        </p:nvCxnSpPr>
        <p:spPr>
          <a:xfrm flipV="1">
            <a:off x="7718612" y="2823882"/>
            <a:ext cx="1443317" cy="3109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4492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8E50F85-E4EA-F4AE-B954-9D9C340AB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553" y="1165412"/>
            <a:ext cx="7274893" cy="5692588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931D6621-32FC-674E-B127-B1230A15C0C3}"/>
              </a:ext>
            </a:extLst>
          </p:cNvPr>
          <p:cNvSpPr txBox="1">
            <a:spLocks/>
          </p:cNvSpPr>
          <p:nvPr/>
        </p:nvSpPr>
        <p:spPr>
          <a:xfrm>
            <a:off x="1616364" y="478320"/>
            <a:ext cx="9144000" cy="7716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noProof="0" dirty="0"/>
              <a:t>CRIAR NOVA OPERAÇÃO</a:t>
            </a:r>
          </a:p>
          <a:p>
            <a:pPr algn="ctr"/>
            <a:endParaRPr lang="pt-BR" sz="3600" noProof="0" dirty="0"/>
          </a:p>
        </p:txBody>
      </p:sp>
    </p:spTree>
    <p:extLst>
      <p:ext uri="{BB962C8B-B14F-4D97-AF65-F5344CB8AC3E}">
        <p14:creationId xmlns:p14="http://schemas.microsoft.com/office/powerpoint/2010/main" val="3586448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678C5F4-5D0B-434A-9415-A00C7CAAD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771" y="1371164"/>
            <a:ext cx="7093005" cy="5438573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56DC792F-5F19-8B11-5A24-4F8D067778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noProof="0" dirty="0"/>
              <a:t>INSERINDO OPERADORES</a:t>
            </a:r>
          </a:p>
          <a:p>
            <a:pPr algn="ctr"/>
            <a:endParaRPr lang="pt-BR" sz="3600" noProof="0" dirty="0"/>
          </a:p>
        </p:txBody>
      </p:sp>
    </p:spTree>
    <p:extLst>
      <p:ext uri="{BB962C8B-B14F-4D97-AF65-F5344CB8AC3E}">
        <p14:creationId xmlns:p14="http://schemas.microsoft.com/office/powerpoint/2010/main" val="2757349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7B02B-5F1C-F7C7-4BE8-91D80FE9A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EECD10C0-C414-29B2-5865-E52882978E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noProof="0" dirty="0"/>
              <a:t>INSERINDO OPERADORES</a:t>
            </a:r>
          </a:p>
          <a:p>
            <a:pPr algn="ctr"/>
            <a:endParaRPr lang="pt-BR" sz="3600" noProof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782CC4F-B5B9-2701-5DDB-DD4332FCE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453" y="1120588"/>
            <a:ext cx="7463093" cy="573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175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F0716-5D15-BD54-6E82-7E2ACAD2D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826B0F0E-CCA8-E2D3-1F55-D42B654EDB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noProof="0" dirty="0"/>
              <a:t>LISTA DE OPERAÇÕES</a:t>
            </a:r>
          </a:p>
          <a:p>
            <a:pPr algn="ctr"/>
            <a:endParaRPr lang="pt-BR" sz="3600" noProof="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C1020FF-2C4E-61E9-CC27-185F7BE12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97" y="1337367"/>
            <a:ext cx="11357267" cy="4902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931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28D6E-D423-AF8B-F338-C1599D8AF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C717ADFA-BCDD-3D53-9FBE-C9E9F67BAF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noProof="0" dirty="0"/>
              <a:t>LISTA DE OPERAÇÕES</a:t>
            </a:r>
          </a:p>
          <a:p>
            <a:pPr algn="ctr"/>
            <a:endParaRPr lang="pt-BR" sz="3600" noProof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AC85480-4AA9-D448-DF86-A6E22BCB1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44" y="1304586"/>
            <a:ext cx="11277283" cy="48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427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EC102-A068-B383-4AB8-0CF975CB3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2DD3ECD4-6BEF-10D2-C163-AF3B6E14F1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noProof="0" dirty="0"/>
              <a:t>EDITAR OPERAÇÃO</a:t>
            </a:r>
          </a:p>
          <a:p>
            <a:pPr algn="ctr"/>
            <a:endParaRPr lang="pt-BR" sz="3600" noProof="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8A01E45-3740-FC5C-5FD9-A468A9814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998" y="1165412"/>
            <a:ext cx="6164004" cy="5513294"/>
          </a:xfrm>
          <a:prstGeom prst="rect">
            <a:avLst/>
          </a:prstGeom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BFCACAF9-1572-7943-1C83-412F2FA12C6C}"/>
              </a:ext>
            </a:extLst>
          </p:cNvPr>
          <p:cNvSpPr/>
          <p:nvPr/>
        </p:nvSpPr>
        <p:spPr>
          <a:xfrm>
            <a:off x="5656729" y="5540188"/>
            <a:ext cx="3442447" cy="762000"/>
          </a:xfrm>
          <a:prstGeom prst="roundRect">
            <a:avLst/>
          </a:prstGeom>
          <a:solidFill>
            <a:schemeClr val="accent5">
              <a:lumMod val="20000"/>
              <a:lumOff val="80000"/>
              <a:alpha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37966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7CE0A-BE75-FF57-603E-D2D14948A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2CF6ED2-7FE0-84C8-BC25-C8E638B73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342" y="1129004"/>
            <a:ext cx="6294428" cy="5617028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B3325E28-3432-EAB3-C57D-A265DAE711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noProof="0" dirty="0"/>
              <a:t>DETALHES OPERAÇÃO</a:t>
            </a:r>
          </a:p>
          <a:p>
            <a:pPr algn="ctr"/>
            <a:endParaRPr lang="pt-BR" sz="3600" noProof="0" dirty="0"/>
          </a:p>
        </p:txBody>
      </p:sp>
    </p:spTree>
    <p:extLst>
      <p:ext uri="{BB962C8B-B14F-4D97-AF65-F5344CB8AC3E}">
        <p14:creationId xmlns:p14="http://schemas.microsoft.com/office/powerpoint/2010/main" val="2553015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9E278-9702-0F68-C3DD-2C33FF93D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93B9934A-C9C2-00B1-C35C-155CD876A4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noProof="0" dirty="0"/>
              <a:t>OPERAÇÕES COM SVG ABERTO</a:t>
            </a:r>
          </a:p>
          <a:p>
            <a:pPr algn="ctr"/>
            <a:endParaRPr lang="pt-BR" sz="3600" noProof="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5A7A734-5158-77EC-7F0B-99FEE74AE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56" y="1485629"/>
            <a:ext cx="10126488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0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A91AB-A359-8E9A-2FFD-49F355D21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5A119D2-9CDF-CE2C-67D9-21898A8421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noProof="0" dirty="0"/>
              <a:t>OPERAÇÕES COM SVG ABERTO</a:t>
            </a:r>
          </a:p>
          <a:p>
            <a:pPr algn="ctr"/>
            <a:endParaRPr lang="pt-BR" sz="3600" noProof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BFA3C45-F499-1497-939D-EFC9507E5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045" y="1580892"/>
            <a:ext cx="10097909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314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3E5A9-DE92-93CC-2811-88279DFF2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2A9899BF-D0C6-10AD-8FBE-87913D99A2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noProof="0" dirty="0"/>
              <a:t>OPERAÇÕES COM SVG ABERTO</a:t>
            </a:r>
          </a:p>
          <a:p>
            <a:pPr algn="ctr"/>
            <a:endParaRPr lang="pt-BR" sz="3600" noProof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D5578A8-7D5B-6292-A21B-CDFF62A8F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96236"/>
            <a:ext cx="10326541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717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0CA8E-6DE1-D37C-0B1D-8063F0936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745C7B0D-ED5F-6BB8-D264-F35B4571C5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noProof="0" dirty="0"/>
              <a:t>OPERAÇÕES COM SVG ABERTO</a:t>
            </a:r>
          </a:p>
          <a:p>
            <a:pPr algn="ctr"/>
            <a:endParaRPr lang="pt-BR" sz="3600" noProof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0F85F00-387E-ACA3-D5E1-2D06AAAA1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96236"/>
            <a:ext cx="10326541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20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E1F2A-899F-7443-0309-2DB089278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6D55DE05-D11C-EF3E-E2AF-60FA4391B9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noProof="0" dirty="0"/>
              <a:t>OPERAÇÕES COM SVG ABERTO</a:t>
            </a:r>
          </a:p>
          <a:p>
            <a:pPr algn="ctr"/>
            <a:endParaRPr lang="pt-BR" sz="3600" noProof="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6B809AB-5651-85C7-AC8C-86EF1A290C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43"/>
          <a:stretch>
            <a:fillRect/>
          </a:stretch>
        </p:blipFill>
        <p:spPr>
          <a:xfrm>
            <a:off x="1000083" y="1240971"/>
            <a:ext cx="10191834" cy="525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0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54E5E-A685-C89E-6BCA-1A6DFB011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873DBC37-38D0-777E-80D9-290F2556C7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noProof="0" dirty="0"/>
              <a:t>OPERAÇÕES COM SVG ABERTO</a:t>
            </a:r>
          </a:p>
          <a:p>
            <a:pPr algn="ctr"/>
            <a:endParaRPr lang="pt-BR" sz="3600" noProof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1C0972F-A765-1730-4B69-23CC56C99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440" y="1174393"/>
            <a:ext cx="9993120" cy="5572903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0E544FE1-2EA0-7DE5-10E7-C60D99A35EB9}"/>
              </a:ext>
            </a:extLst>
          </p:cNvPr>
          <p:cNvSpPr/>
          <p:nvPr/>
        </p:nvSpPr>
        <p:spPr>
          <a:xfrm>
            <a:off x="8658808" y="2369976"/>
            <a:ext cx="2360645" cy="3247053"/>
          </a:xfrm>
          <a:prstGeom prst="rect">
            <a:avLst/>
          </a:prstGeom>
          <a:solidFill>
            <a:srgbClr val="FF0000">
              <a:alpha val="1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344F410-9742-2041-B219-E0195B009497}"/>
              </a:ext>
            </a:extLst>
          </p:cNvPr>
          <p:cNvSpPr/>
          <p:nvPr/>
        </p:nvSpPr>
        <p:spPr>
          <a:xfrm>
            <a:off x="4627984" y="4114800"/>
            <a:ext cx="3760236" cy="1903445"/>
          </a:xfrm>
          <a:prstGeom prst="rect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110EDE6-817F-FE72-225A-F8BB6189BD97}"/>
              </a:ext>
            </a:extLst>
          </p:cNvPr>
          <p:cNvSpPr/>
          <p:nvPr/>
        </p:nvSpPr>
        <p:spPr>
          <a:xfrm>
            <a:off x="10282326" y="3631164"/>
            <a:ext cx="578498" cy="233265"/>
          </a:xfrm>
          <a:prstGeom prst="roundRect">
            <a:avLst/>
          </a:prstGeom>
          <a:solidFill>
            <a:schemeClr val="accent3">
              <a:alpha val="5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5CD0F0F-901E-749E-5297-A79B7B023604}"/>
              </a:ext>
            </a:extLst>
          </p:cNvPr>
          <p:cNvSpPr/>
          <p:nvPr/>
        </p:nvSpPr>
        <p:spPr>
          <a:xfrm>
            <a:off x="10282326" y="4087440"/>
            <a:ext cx="578498" cy="233265"/>
          </a:xfrm>
          <a:prstGeom prst="roundRect">
            <a:avLst/>
          </a:prstGeom>
          <a:solidFill>
            <a:schemeClr val="accent3">
              <a:alpha val="5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6FBF9E5-1355-C0A0-07C1-6AB3E1A37F54}"/>
              </a:ext>
            </a:extLst>
          </p:cNvPr>
          <p:cNvSpPr/>
          <p:nvPr/>
        </p:nvSpPr>
        <p:spPr>
          <a:xfrm>
            <a:off x="10282326" y="4617406"/>
            <a:ext cx="578498" cy="233265"/>
          </a:xfrm>
          <a:prstGeom prst="roundRect">
            <a:avLst/>
          </a:prstGeom>
          <a:solidFill>
            <a:schemeClr val="accent3">
              <a:alpha val="5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6674825-FF44-17B0-772F-55933B1F1DCB}"/>
              </a:ext>
            </a:extLst>
          </p:cNvPr>
          <p:cNvSpPr/>
          <p:nvPr/>
        </p:nvSpPr>
        <p:spPr>
          <a:xfrm>
            <a:off x="10282326" y="5138672"/>
            <a:ext cx="578498" cy="233265"/>
          </a:xfrm>
          <a:prstGeom prst="roundRect">
            <a:avLst/>
          </a:prstGeom>
          <a:solidFill>
            <a:schemeClr val="accent3">
              <a:alpha val="5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Seta: para Baixo 13">
            <a:extLst>
              <a:ext uri="{FF2B5EF4-FFF2-40B4-BE49-F238E27FC236}">
                <a16:creationId xmlns:a16="http://schemas.microsoft.com/office/drawing/2014/main" id="{8D7C7D45-C025-4496-5811-57618E02CF48}"/>
              </a:ext>
            </a:extLst>
          </p:cNvPr>
          <p:cNvSpPr/>
          <p:nvPr/>
        </p:nvSpPr>
        <p:spPr>
          <a:xfrm rot="5400000">
            <a:off x="8032980" y="4686931"/>
            <a:ext cx="783763" cy="714375"/>
          </a:xfrm>
          <a:prstGeom prst="downArrow">
            <a:avLst/>
          </a:prstGeom>
          <a:gradFill>
            <a:gsLst>
              <a:gs pos="55500">
                <a:schemeClr val="accent5">
                  <a:lumMod val="20000"/>
                  <a:lumOff val="80000"/>
                </a:schemeClr>
              </a:gs>
              <a:gs pos="37000">
                <a:schemeClr val="accent5">
                  <a:lumMod val="20000"/>
                  <a:lumOff val="80000"/>
                </a:schemeClr>
              </a:gs>
              <a:gs pos="0">
                <a:schemeClr val="accent5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79182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25E00-C6D3-D9BB-3152-69E039985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6295E56-5817-1683-0D33-161A00991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094" y="1194280"/>
            <a:ext cx="9213812" cy="5417827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974A7F4D-76B8-CB89-553B-3F27127260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noProof="0" dirty="0"/>
              <a:t>OPERAÇÕES COM SVG ABERTO</a:t>
            </a:r>
          </a:p>
          <a:p>
            <a:pPr algn="ctr"/>
            <a:endParaRPr lang="pt-BR" sz="3600" noProof="0" dirty="0"/>
          </a:p>
        </p:txBody>
      </p:sp>
    </p:spTree>
    <p:extLst>
      <p:ext uri="{BB962C8B-B14F-4D97-AF65-F5344CB8AC3E}">
        <p14:creationId xmlns:p14="http://schemas.microsoft.com/office/powerpoint/2010/main" val="2223629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C717B-138D-707E-E458-78C798801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88E6CC79-F57F-F19F-3B5B-C93344D83B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noProof="0" dirty="0"/>
              <a:t>LISTA DE OPERAÇÕES</a:t>
            </a:r>
          </a:p>
          <a:p>
            <a:pPr algn="ctr"/>
            <a:endParaRPr lang="pt-BR" sz="3600" noProof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1267561-0686-2142-16FF-99FE7C264755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8966" y="1237944"/>
            <a:ext cx="9974067" cy="4382112"/>
          </a:xfrm>
          <a:prstGeom prst="rect">
            <a:avLst/>
          </a:prstGeom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B3813A85-72F9-4249-3D4E-0C3EB914544E}"/>
              </a:ext>
            </a:extLst>
          </p:cNvPr>
          <p:cNvSpPr/>
          <p:nvPr/>
        </p:nvSpPr>
        <p:spPr>
          <a:xfrm>
            <a:off x="8258175" y="3752850"/>
            <a:ext cx="1190625" cy="276226"/>
          </a:xfrm>
          <a:prstGeom prst="roundRect">
            <a:avLst/>
          </a:prstGeom>
          <a:solidFill>
            <a:schemeClr val="accent5">
              <a:lumMod val="60000"/>
              <a:lumOff val="40000"/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47017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BEF11-9438-5799-2746-C172E0AD1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A67CDEA-AB9D-A94C-12E9-FE1FCBFBC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501" y="1219655"/>
            <a:ext cx="9258998" cy="5273220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4752007A-14A1-3579-AC77-DEFE1C4E4A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noProof="0" dirty="0"/>
              <a:t>ENCERRAR SVG</a:t>
            </a:r>
          </a:p>
          <a:p>
            <a:pPr algn="ctr"/>
            <a:endParaRPr lang="pt-BR" sz="3600" noProof="0" dirty="0"/>
          </a:p>
        </p:txBody>
      </p:sp>
    </p:spTree>
    <p:extLst>
      <p:ext uri="{BB962C8B-B14F-4D97-AF65-F5344CB8AC3E}">
        <p14:creationId xmlns:p14="http://schemas.microsoft.com/office/powerpoint/2010/main" val="1462426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58AC0-2643-8BF5-A76A-480A85FFF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F8B45E77-8B8A-7BEC-3FE2-4672C9244E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9772" y="793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noProof="0" dirty="0"/>
              <a:t>DETALHES OPERAÇÃO</a:t>
            </a:r>
            <a:endParaRPr lang="pt-BR" sz="3600" noProof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0B8DDCE-194C-D77E-C628-A4D2D87A0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487" y="1138319"/>
            <a:ext cx="5915025" cy="5557823"/>
          </a:xfrm>
          <a:prstGeom prst="rect">
            <a:avLst/>
          </a:prstGeom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B51D0535-39DE-D014-9B4F-132273C0D75D}"/>
              </a:ext>
            </a:extLst>
          </p:cNvPr>
          <p:cNvSpPr/>
          <p:nvPr/>
        </p:nvSpPr>
        <p:spPr>
          <a:xfrm>
            <a:off x="3138487" y="4371974"/>
            <a:ext cx="5915025" cy="942975"/>
          </a:xfrm>
          <a:prstGeom prst="roundRect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529100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C8D02-5D69-03E0-C5CE-A5BECF560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5E8EA36-FF26-8FC0-9CEF-80A798C2FF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9772" y="793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noProof="0" dirty="0"/>
              <a:t>CONTROLE DE ACESSO</a:t>
            </a:r>
            <a:br>
              <a:rPr lang="pt-BR" sz="5400" b="1" noProof="0" dirty="0"/>
            </a:br>
            <a:r>
              <a:rPr lang="pt-BR" sz="3100" b="1" noProof="0" dirty="0"/>
              <a:t>Tela Inicial</a:t>
            </a:r>
            <a:endParaRPr lang="pt-BR" sz="3600" noProof="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8AF41AE-8653-596A-AF5E-AA51066E9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414" y="2295367"/>
            <a:ext cx="9469171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937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0B89C-C97E-EACE-58E8-33C02CEAE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A0F97346-A168-3B05-7A2F-21D6D274BA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9772" y="793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noProof="0" dirty="0"/>
              <a:t>CONTROLE DE ACESSO</a:t>
            </a:r>
            <a:br>
              <a:rPr lang="pt-BR" sz="5400" b="1" noProof="0" dirty="0"/>
            </a:br>
            <a:r>
              <a:rPr lang="pt-BR" sz="3100" b="1" noProof="0" dirty="0"/>
              <a:t>Tela Inicial</a:t>
            </a:r>
            <a:endParaRPr lang="pt-BR" sz="3600" noProof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46D8C93-ECBD-D9A4-FB03-01A278539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832" y="1432060"/>
            <a:ext cx="7064336" cy="5346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55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F6DC5-81AF-8E10-AD3D-6F7E44AA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953FCD64-2BEB-32F8-A020-99ED140422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9772" y="793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noProof="0" dirty="0"/>
              <a:t>CONTROLE DE ACESSO</a:t>
            </a:r>
            <a:br>
              <a:rPr lang="pt-BR" sz="5400" b="1" noProof="0" dirty="0"/>
            </a:br>
            <a:r>
              <a:rPr lang="pt-BR" sz="3100" b="1" noProof="0" dirty="0"/>
              <a:t>Tela Inicial</a:t>
            </a:r>
            <a:endParaRPr lang="pt-BR" sz="3600" noProof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C55BF4F-A098-F600-6F5C-95685EDC2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832" y="1432060"/>
            <a:ext cx="7064336" cy="5346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2098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B4743-4E61-B60D-F27D-A2888A898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A6CCEF64-006E-DEAD-F43D-0AFF842235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9772" y="793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noProof="0" dirty="0"/>
              <a:t>CONTROLE DE ACESSO</a:t>
            </a:r>
            <a:br>
              <a:rPr lang="pt-BR" sz="5400" b="1" noProof="0" dirty="0"/>
            </a:br>
            <a:r>
              <a:rPr lang="pt-BR" sz="3100" b="1" noProof="0" dirty="0"/>
              <a:t>Tela Inicial</a:t>
            </a:r>
            <a:endParaRPr lang="pt-BR" sz="3600" noProof="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BE18458-BB45-0175-CA98-CA4069F388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94611" y="1404938"/>
            <a:ext cx="5602777" cy="527185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BA7E1F7-8BF7-10A0-572A-0EC7F3F557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1498" y="1952625"/>
            <a:ext cx="907144" cy="472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6929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500" b="1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MÓDULO DE AFASTAMENTO E ELEGIBILIDADE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601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D7D7D7"/>
                </a:solidFill>
                <a:latin typeface="Arial"/>
              </a:defRPr>
            </a:pPr>
            <a:r>
              <a:rPr lang="pt-BR" noProof="0" dirty="0"/>
              <a:t>Controle preventivo das condições que impedem a prestação do SVG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5212080" cy="3520440"/>
          </a:xfrm>
          <a:prstGeom prst="roundRect">
            <a:avLst/>
          </a:prstGeom>
          <a:solidFill>
            <a:srgbClr val="191F26"/>
          </a:solidFill>
          <a:ln w="19050">
            <a:solidFill>
              <a:srgbClr val="B28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B28B4E"/>
                </a:solidFill>
                <a:latin typeface="Arial"/>
              </a:defRPr>
            </a:pPr>
            <a:r>
              <a:rPr lang="pt-BR" noProof="0" dirty="0"/>
              <a:t>OBJETIVO</a:t>
            </a:r>
          </a:p>
          <a:p>
            <a:pPr>
              <a:spcBef>
                <a:spcPts val="600"/>
              </a:spcBef>
              <a:defRPr sz="1500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• Registrar afastamentos e impedimentos dos operadores.</a:t>
            </a:r>
          </a:p>
          <a:p>
            <a:pPr>
              <a:spcBef>
                <a:spcPts val="600"/>
              </a:spcBef>
              <a:defRPr sz="1500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• Consultar a situação do operador em uma data de referência.</a:t>
            </a:r>
          </a:p>
          <a:p>
            <a:pPr>
              <a:spcBef>
                <a:spcPts val="600"/>
              </a:spcBef>
              <a:defRPr sz="1500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• Centralizar as regras de elegibilidade antes da integração com as operações.</a:t>
            </a:r>
          </a:p>
          <a:p>
            <a:pPr>
              <a:spcBef>
                <a:spcPts val="600"/>
              </a:spcBef>
              <a:defRPr sz="1500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• Evitar candidaturas incompatíveis com as regras administrativas do SVG.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874519"/>
            <a:ext cx="5212080" cy="3520440"/>
          </a:xfrm>
          <a:prstGeom prst="roundRect">
            <a:avLst/>
          </a:prstGeom>
          <a:solidFill>
            <a:srgbClr val="191F26"/>
          </a:solidFill>
          <a:ln w="19050">
            <a:solidFill>
              <a:srgbClr val="36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68C5C"/>
                </a:solidFill>
                <a:latin typeface="Arial"/>
              </a:defRPr>
            </a:pPr>
            <a:r>
              <a:rPr lang="pt-BR" noProof="0" dirty="0"/>
              <a:t>EXEMPLO</a:t>
            </a:r>
          </a:p>
          <a:p>
            <a:pPr>
              <a:spcBef>
                <a:spcPts val="600"/>
              </a:spcBef>
              <a:defRPr sz="1500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• Afastamento: 01/10/2026 a 15/10/2026.</a:t>
            </a:r>
          </a:p>
          <a:p>
            <a:pPr>
              <a:spcBef>
                <a:spcPts val="600"/>
              </a:spcBef>
              <a:defRPr sz="1500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• Operação: 02/10/2026.</a:t>
            </a:r>
          </a:p>
          <a:p>
            <a:pPr>
              <a:spcBef>
                <a:spcPts val="600"/>
              </a:spcBef>
              <a:defRPr sz="1500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• Resultado: operador não elegível naquela data.</a:t>
            </a:r>
          </a:p>
          <a:p>
            <a:pPr>
              <a:spcBef>
                <a:spcPts val="600"/>
              </a:spcBef>
              <a:defRPr sz="1500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• Na integração futura, o botão de inclusão/candidatura ficará indisponível e o motivo será exibido.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6537960"/>
            <a:ext cx="10149840" cy="10972"/>
          </a:xfrm>
          <a:prstGeom prst="rect">
            <a:avLst/>
          </a:prstGeom>
          <a:solidFill>
            <a:srgbClr val="B2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3291840" y="6601968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AAAAAA"/>
                </a:solidFill>
                <a:latin typeface="Arial"/>
              </a:defRPr>
            </a:pPr>
            <a:r>
              <a:rPr lang="pt-BR" noProof="0" dirty="0"/>
              <a:t>Op. 73 - 2026 - Divisão de Operações Especiais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500" b="1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REGRAS DE ELEGIBILIDADE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601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D7D7D7"/>
                </a:solidFill>
                <a:latin typeface="Arial"/>
              </a:defRPr>
            </a:pPr>
            <a:r>
              <a:rPr lang="pt-BR" noProof="0" dirty="0"/>
              <a:t>Afastamento não é sinônimo de impedimento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3657600" cy="4389120"/>
          </a:xfrm>
          <a:prstGeom prst="roundRect">
            <a:avLst/>
          </a:prstGeom>
          <a:solidFill>
            <a:srgbClr val="191F26"/>
          </a:solidFill>
          <a:ln w="19050">
            <a:solidFill>
              <a:srgbClr val="A5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A54343"/>
                </a:solidFill>
                <a:latin typeface="Arial"/>
              </a:defRPr>
            </a:pPr>
            <a:r>
              <a:rPr lang="pt-BR" noProof="0" dirty="0"/>
              <a:t>AFASTAMENTOS IMPEDITIVOS</a:t>
            </a:r>
          </a:p>
          <a:p>
            <a:pPr>
              <a:spcBef>
                <a:spcPts val="600"/>
              </a:spcBef>
              <a:defRPr sz="1250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• Licença para capacitação.</a:t>
            </a:r>
          </a:p>
          <a:p>
            <a:pPr>
              <a:spcBef>
                <a:spcPts val="600"/>
              </a:spcBef>
              <a:defRPr sz="1250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• Licença-prêmio por assiduidade.</a:t>
            </a:r>
          </a:p>
          <a:p>
            <a:pPr>
              <a:spcBef>
                <a:spcPts val="600"/>
              </a:spcBef>
              <a:defRPr sz="1250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• Interesse particular.</a:t>
            </a:r>
          </a:p>
          <a:p>
            <a:pPr>
              <a:spcBef>
                <a:spcPts val="600"/>
              </a:spcBef>
              <a:defRPr sz="1250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• Saúde própria ou de pessoa da família.</a:t>
            </a:r>
          </a:p>
          <a:p>
            <a:pPr>
              <a:spcBef>
                <a:spcPts val="600"/>
              </a:spcBef>
              <a:defRPr sz="1250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• Mandato classista.</a:t>
            </a:r>
          </a:p>
          <a:p>
            <a:pPr>
              <a:spcBef>
                <a:spcPts val="600"/>
              </a:spcBef>
              <a:defRPr sz="1250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• Afastamento do cônjuge/companheiro.</a:t>
            </a:r>
          </a:p>
          <a:p>
            <a:pPr>
              <a:spcBef>
                <a:spcPts val="600"/>
              </a:spcBef>
              <a:defRPr sz="1250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• Missão ou curso no exterior.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70248" y="1600200"/>
            <a:ext cx="3657600" cy="4389120"/>
          </a:xfrm>
          <a:prstGeom prst="roundRect">
            <a:avLst/>
          </a:prstGeom>
          <a:solidFill>
            <a:srgbClr val="191F26"/>
          </a:solidFill>
          <a:ln w="19050">
            <a:solidFill>
              <a:srgbClr val="B28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B28B4E"/>
                </a:solidFill>
                <a:latin typeface="Arial"/>
              </a:defRPr>
            </a:pPr>
            <a:r>
              <a:rPr lang="pt-BR" noProof="0" dirty="0"/>
              <a:t>OUTROS IMPEDIMENTOS</a:t>
            </a:r>
          </a:p>
          <a:p>
            <a:pPr>
              <a:spcBef>
                <a:spcPts val="600"/>
              </a:spcBef>
              <a:defRPr sz="1180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• Punição disciplinar ou penalidade administrativa.</a:t>
            </a:r>
          </a:p>
          <a:p>
            <a:pPr>
              <a:spcBef>
                <a:spcPts val="600"/>
              </a:spcBef>
              <a:defRPr sz="1180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• Porte de arma suspenso ou cassado.</a:t>
            </a:r>
          </a:p>
          <a:p>
            <a:pPr>
              <a:spcBef>
                <a:spcPts val="600"/>
              </a:spcBef>
              <a:defRPr sz="1180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• Restrição médica operacional.</a:t>
            </a:r>
          </a:p>
          <a:p>
            <a:pPr>
              <a:spcBef>
                <a:spcPts val="600"/>
              </a:spcBef>
              <a:defRPr sz="1180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• Gestante/lactante em regime diferenciado.</a:t>
            </a:r>
          </a:p>
          <a:p>
            <a:pPr>
              <a:spcBef>
                <a:spcPts val="600"/>
              </a:spcBef>
              <a:defRPr sz="1180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• Cessão ou requisição.</a:t>
            </a:r>
          </a:p>
          <a:p>
            <a:pPr>
              <a:spcBef>
                <a:spcPts val="600"/>
              </a:spcBef>
              <a:defRPr sz="1180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• Horário especial/redução de carga.</a:t>
            </a:r>
          </a:p>
          <a:p>
            <a:pPr>
              <a:spcBef>
                <a:spcPts val="600"/>
              </a:spcBef>
              <a:defRPr sz="1180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• Treinamento obrigatório pendente.</a:t>
            </a:r>
          </a:p>
          <a:p>
            <a:pPr>
              <a:spcBef>
                <a:spcPts val="600"/>
              </a:spcBef>
              <a:defRPr sz="1180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• Penalidade específica de SVG.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00200"/>
            <a:ext cx="3657600" cy="4389120"/>
          </a:xfrm>
          <a:prstGeom prst="roundRect">
            <a:avLst/>
          </a:prstGeom>
          <a:solidFill>
            <a:srgbClr val="191F26"/>
          </a:solidFill>
          <a:ln w="19050">
            <a:solidFill>
              <a:srgbClr val="36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68C5C"/>
                </a:solidFill>
                <a:latin typeface="Arial"/>
              </a:defRPr>
            </a:pPr>
            <a:r>
              <a:rPr lang="pt-BR" noProof="0" dirty="0"/>
              <a:t>EXCEÇÕES / REGRA ESPECIAL</a:t>
            </a:r>
          </a:p>
          <a:p>
            <a:pPr>
              <a:spcBef>
                <a:spcPts val="600"/>
              </a:spcBef>
              <a:defRPr sz="1230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• Férias não impedem a prestação do SVG.</a:t>
            </a:r>
          </a:p>
          <a:p>
            <a:pPr>
              <a:spcBef>
                <a:spcPts val="600"/>
              </a:spcBef>
              <a:defRPr sz="1230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• Abono de ponto anual não impede.</a:t>
            </a:r>
          </a:p>
          <a:p>
            <a:pPr>
              <a:spcBef>
                <a:spcPts val="600"/>
              </a:spcBef>
              <a:defRPr sz="1230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• Abono de aniversário não impede.</a:t>
            </a:r>
          </a:p>
          <a:p>
            <a:pPr>
              <a:spcBef>
                <a:spcPts val="600"/>
              </a:spcBef>
              <a:defRPr sz="1230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• Restrição médica: impedimento durante a restrição e por mais 15 dias após o término.</a:t>
            </a:r>
          </a:p>
          <a:p>
            <a:pPr>
              <a:spcBef>
                <a:spcPts val="600"/>
              </a:spcBef>
              <a:defRPr sz="1230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• Podem existir períodos sobrepostos; todos os motivos devem ser preservados.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6537960"/>
            <a:ext cx="10149840" cy="10972"/>
          </a:xfrm>
          <a:prstGeom prst="rect">
            <a:avLst/>
          </a:prstGeom>
          <a:solidFill>
            <a:srgbClr val="B2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3291840" y="6601968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AAAAAA"/>
                </a:solidFill>
                <a:latin typeface="Arial"/>
              </a:defRPr>
            </a:pPr>
            <a:r>
              <a:rPr lang="pt-BR" noProof="0" dirty="0"/>
              <a:t>Op. 73 - 2026 - Divisão de Operações Especiais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500" b="1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ARQUITETURA DO MÓDULO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601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D7D7D7"/>
                </a:solidFill>
                <a:latin typeface="Arial"/>
              </a:defRPr>
            </a:pPr>
            <a:r>
              <a:rPr lang="pt-BR" noProof="0" dirty="0"/>
              <a:t>Separação entre persistência, regra de domínio e consumo pela aplicação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423160"/>
            <a:ext cx="1828800" cy="1920240"/>
          </a:xfrm>
          <a:prstGeom prst="roundRect">
            <a:avLst/>
          </a:prstGeom>
          <a:solidFill>
            <a:srgbClr val="191F26"/>
          </a:solidFill>
          <a:ln>
            <a:solidFill>
              <a:srgbClr val="B28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B28B4E"/>
                </a:solidFill>
              </a:defRPr>
            </a:pPr>
            <a:r>
              <a:rPr lang="pt-BR" noProof="0" dirty="0" err="1"/>
              <a:t>Repository</a:t>
            </a:r>
            <a:endParaRPr lang="pt-BR" noProof="0" dirty="0"/>
          </a:p>
          <a:p>
            <a:pPr algn="ctr">
              <a:defRPr sz="1150">
                <a:solidFill>
                  <a:srgbClr val="F5F5F5"/>
                </a:solidFill>
              </a:defRPr>
            </a:pPr>
            <a:r>
              <a:rPr lang="pt-BR" noProof="0" dirty="0"/>
              <a:t>Consulta afastamentos e impedimentos</a:t>
            </a:r>
            <a:br>
              <a:rPr lang="pt-BR" noProof="0" dirty="0"/>
            </a:br>
            <a:r>
              <a:rPr lang="pt-BR" noProof="0" dirty="0"/>
              <a:t>por operador e período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2423160"/>
            <a:ext cx="1828800" cy="1920240"/>
          </a:xfrm>
          <a:prstGeom prst="roundRect">
            <a:avLst/>
          </a:prstGeom>
          <a:solidFill>
            <a:srgbClr val="191F26"/>
          </a:solidFill>
          <a:ln>
            <a:solidFill>
              <a:srgbClr val="B28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B28B4E"/>
                </a:solidFill>
              </a:defRPr>
            </a:pPr>
            <a:r>
              <a:rPr lang="pt-BR" noProof="0" dirty="0"/>
              <a:t>Domain Service</a:t>
            </a:r>
          </a:p>
          <a:p>
            <a:pPr algn="ctr">
              <a:defRPr sz="1150">
                <a:solidFill>
                  <a:srgbClr val="F5F5F5"/>
                </a:solidFill>
              </a:defRPr>
            </a:pPr>
            <a:r>
              <a:rPr lang="pt-BR" noProof="0" dirty="0" err="1"/>
              <a:t>ElegibilidadeSVGService</a:t>
            </a:r>
            <a:br>
              <a:rPr lang="pt-BR" noProof="0" dirty="0"/>
            </a:br>
            <a:r>
              <a:rPr lang="pt-BR" noProof="0" dirty="0"/>
              <a:t>aplica as regras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2423160"/>
            <a:ext cx="1828800" cy="1920240"/>
          </a:xfrm>
          <a:prstGeom prst="roundRect">
            <a:avLst/>
          </a:prstGeom>
          <a:solidFill>
            <a:srgbClr val="191F26"/>
          </a:solidFill>
          <a:ln>
            <a:solidFill>
              <a:srgbClr val="B28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B28B4E"/>
                </a:solidFill>
              </a:defRPr>
            </a:pPr>
            <a:r>
              <a:rPr lang="pt-BR" noProof="0" dirty="0"/>
              <a:t>Resultado</a:t>
            </a:r>
          </a:p>
          <a:p>
            <a:pPr algn="ctr">
              <a:defRPr sz="1150">
                <a:solidFill>
                  <a:srgbClr val="F5F5F5"/>
                </a:solidFill>
              </a:defRPr>
            </a:pPr>
            <a:r>
              <a:rPr lang="pt-BR" noProof="0" dirty="0" err="1"/>
              <a:t>XResultadoElegibilidadeSVG</a:t>
            </a:r>
            <a:br>
              <a:rPr lang="pt-BR" noProof="0" dirty="0"/>
            </a:br>
            <a:r>
              <a:rPr lang="pt-BR" noProof="0" dirty="0"/>
              <a:t>Elegível + motivos + impedido até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423160"/>
            <a:ext cx="1828800" cy="1920240"/>
          </a:xfrm>
          <a:prstGeom prst="roundRect">
            <a:avLst/>
          </a:prstGeom>
          <a:solidFill>
            <a:srgbClr val="191F26"/>
          </a:solidFill>
          <a:ln>
            <a:solidFill>
              <a:srgbClr val="B28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B28B4E"/>
                </a:solidFill>
              </a:defRPr>
            </a:pPr>
            <a:r>
              <a:rPr lang="pt-BR" noProof="0" dirty="0"/>
              <a:t>App Service</a:t>
            </a:r>
          </a:p>
          <a:p>
            <a:pPr algn="ctr">
              <a:defRPr sz="1150">
                <a:solidFill>
                  <a:srgbClr val="F5F5F5"/>
                </a:solidFill>
              </a:defRPr>
            </a:pPr>
            <a:r>
              <a:rPr lang="pt-BR" noProof="0" dirty="0"/>
              <a:t>Expõe o domínio para</a:t>
            </a:r>
            <a:br>
              <a:rPr lang="pt-BR" noProof="0" dirty="0"/>
            </a:br>
            <a:r>
              <a:rPr lang="pt-BR" noProof="0" dirty="0"/>
              <a:t>a camada Web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2423160"/>
            <a:ext cx="1828800" cy="1920240"/>
          </a:xfrm>
          <a:prstGeom prst="roundRect">
            <a:avLst/>
          </a:prstGeom>
          <a:solidFill>
            <a:srgbClr val="191F26"/>
          </a:solidFill>
          <a:ln>
            <a:solidFill>
              <a:srgbClr val="B28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B28B4E"/>
                </a:solidFill>
              </a:defRPr>
            </a:pPr>
            <a:r>
              <a:rPr lang="pt-BR" noProof="0" dirty="0"/>
              <a:t>Web</a:t>
            </a:r>
          </a:p>
          <a:p>
            <a:pPr algn="ctr">
              <a:defRPr sz="1150">
                <a:solidFill>
                  <a:srgbClr val="F5F5F5"/>
                </a:solidFill>
              </a:defRPr>
            </a:pPr>
            <a:r>
              <a:rPr lang="pt-BR" noProof="0" dirty="0" err="1"/>
              <a:t>Views</a:t>
            </a:r>
            <a:r>
              <a:rPr lang="pt-BR" noProof="0" dirty="0"/>
              <a:t> / </a:t>
            </a:r>
            <a:r>
              <a:rPr lang="pt-BR" noProof="0" dirty="0" err="1"/>
              <a:t>Controllers</a:t>
            </a:r>
            <a:br>
              <a:rPr lang="pt-BR" noProof="0" dirty="0"/>
            </a:br>
            <a:r>
              <a:rPr lang="pt-BR" noProof="0" dirty="0"/>
              <a:t>V1 e integração futura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92608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F5F5F5"/>
                </a:solidFill>
              </a:defRPr>
            </a:pPr>
            <a:r>
              <a:rPr lang="pt-BR" noProof="0" dirty="0"/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92608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F5F5F5"/>
                </a:solidFill>
              </a:defRPr>
            </a:pPr>
            <a:r>
              <a:rPr lang="pt-BR" noProof="0" dirty="0"/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92608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F5F5F5"/>
                </a:solidFill>
              </a:defRPr>
            </a:pPr>
            <a:r>
              <a:rPr lang="pt-BR" noProof="0" dirty="0"/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292608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F5F5F5"/>
                </a:solidFill>
              </a:defRPr>
            </a:pPr>
            <a:r>
              <a:rPr lang="pt-BR" noProof="0" dirty="0"/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4709160"/>
            <a:ext cx="8503920" cy="1143000"/>
          </a:xfrm>
          <a:prstGeom prst="roundRect">
            <a:avLst/>
          </a:prstGeom>
          <a:solidFill>
            <a:srgbClr val="191F26"/>
          </a:solidFill>
          <a:ln w="19050">
            <a:solidFill>
              <a:srgbClr val="36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68C5C"/>
                </a:solidFill>
                <a:latin typeface="Arial"/>
              </a:defRPr>
            </a:pPr>
            <a:r>
              <a:rPr lang="pt-BR" noProof="0" dirty="0"/>
              <a:t>PRINCÍPIO</a:t>
            </a:r>
          </a:p>
          <a:p>
            <a:pPr>
              <a:spcBef>
                <a:spcPts val="600"/>
              </a:spcBef>
              <a:defRPr sz="1300">
                <a:solidFill>
                  <a:srgbClr val="F5F5F5"/>
                </a:solidFill>
                <a:latin typeface="Arial"/>
              </a:defRPr>
            </a:pPr>
            <a:r>
              <a:rPr lang="pt-BR" noProof="0" dirty="0"/>
              <a:t>• A regra de elegibilidade fica centralizada no domínio, evitando duplicação em telas, </a:t>
            </a:r>
            <a:r>
              <a:rPr lang="pt-BR" noProof="0" dirty="0" err="1"/>
              <a:t>controllers</a:t>
            </a:r>
            <a:r>
              <a:rPr lang="pt-BR" noProof="0" dirty="0"/>
              <a:t> ou queries.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6537960"/>
            <a:ext cx="10149840" cy="10972"/>
          </a:xfrm>
          <a:prstGeom prst="rect">
            <a:avLst/>
          </a:prstGeom>
          <a:solidFill>
            <a:srgbClr val="B2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3291840" y="6601968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AAAAAA"/>
                </a:solidFill>
                <a:latin typeface="Arial"/>
              </a:defRPr>
            </a:pPr>
            <a:r>
              <a:rPr lang="pt-BR" noProof="0" dirty="0"/>
              <a:t>Op. 73 - 2026 - Divisão de Operações Especiais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103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563EB"/>
                </a:solidFill>
                <a:latin typeface="Aptos"/>
              </a:defRPr>
            </a:pPr>
            <a:r>
              <a:rPr lang="pt-BR" noProof="0" dirty="0"/>
              <a:t>MÓDULO DE AFASTAMENTO E ELEGIBILIDADE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Visualização dos afastamentos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868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670"/>
                </a:solidFill>
                <a:latin typeface="Aptos"/>
              </a:defRPr>
            </a:pPr>
            <a:r>
              <a:rPr lang="pt-BR" noProof="0" dirty="0"/>
              <a:t>Registro estruturado do operador, motivo e período.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197864"/>
            <a:ext cx="11292840" cy="10972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Rectangle 5"/>
          <p:cNvSpPr/>
          <p:nvPr/>
        </p:nvSpPr>
        <p:spPr>
          <a:xfrm>
            <a:off x="521206" y="1362457"/>
            <a:ext cx="7521617" cy="3448598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8275320" y="155448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98754"/>
                </a:solidFill>
                <a:latin typeface="Aptos"/>
              </a:defRPr>
            </a:pPr>
            <a:r>
              <a:rPr lang="pt-BR" noProof="0" dirty="0"/>
              <a:t>VISUALIZAÇÃO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901952"/>
            <a:ext cx="3246120" cy="649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30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Pesquisa do operador por nome ou numérica.</a:t>
            </a:r>
          </a:p>
          <a:p>
            <a:pPr>
              <a:spcAft>
                <a:spcPts val="500"/>
              </a:spcAft>
              <a:defRPr sz="930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Filtros por períodos de tempo e seção.</a:t>
            </a:r>
          </a:p>
          <a:p>
            <a:pPr>
              <a:spcAft>
                <a:spcPts val="500"/>
              </a:spcAft>
              <a:defRPr sz="930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Filtro por tipo de afastamento.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519672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C6670"/>
                </a:solidFill>
                <a:latin typeface="Aptos"/>
              </a:defRPr>
            </a:pPr>
            <a:r>
              <a:rPr lang="pt-BR" noProof="0" dirty="0"/>
              <a:t>Op. 73 - 2026 - Divisão de Operações Especiais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48B62AD3-B011-3370-2CC3-9606AAD9E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7" y="1362456"/>
            <a:ext cx="7521617" cy="344859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32B9D8-3AA5-588F-6268-705794895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FAC4FA-C473-BF79-2C7E-48A747113EEA}"/>
              </a:ext>
            </a:extLst>
          </p:cNvPr>
          <p:cNvSpPr txBox="1"/>
          <p:nvPr/>
        </p:nvSpPr>
        <p:spPr>
          <a:xfrm>
            <a:off x="438912" y="2103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563EB"/>
                </a:solidFill>
                <a:latin typeface="Aptos"/>
              </a:defRPr>
            </a:pPr>
            <a:r>
              <a:rPr lang="pt-BR" noProof="0" dirty="0"/>
              <a:t>MÓDULO DE AFASTAMENTO E ELEGIBILIDADE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34304A-FDAA-7CF8-9173-FC1002C81B29}"/>
              </a:ext>
            </a:extLst>
          </p:cNvPr>
          <p:cNvSpPr txBox="1"/>
          <p:nvPr/>
        </p:nvSpPr>
        <p:spPr>
          <a:xfrm>
            <a:off x="438912" y="4754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Cadastro de novo afastamento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DCDC2F-6299-B7F2-D1DC-3201C4EF3DEB}"/>
              </a:ext>
            </a:extLst>
          </p:cNvPr>
          <p:cNvSpPr txBox="1"/>
          <p:nvPr/>
        </p:nvSpPr>
        <p:spPr>
          <a:xfrm>
            <a:off x="438912" y="868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670"/>
                </a:solidFill>
                <a:latin typeface="Aptos"/>
              </a:defRPr>
            </a:pPr>
            <a:r>
              <a:rPr lang="pt-BR" noProof="0" dirty="0"/>
              <a:t>Registro estruturado do operador, motivo e período.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A49EB9-886E-451D-F83A-53DCB28A3217}"/>
              </a:ext>
            </a:extLst>
          </p:cNvPr>
          <p:cNvSpPr/>
          <p:nvPr/>
        </p:nvSpPr>
        <p:spPr>
          <a:xfrm>
            <a:off x="438912" y="1197864"/>
            <a:ext cx="11292840" cy="10972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67B19D-8F18-F797-296C-F20716B9335E}"/>
              </a:ext>
            </a:extLst>
          </p:cNvPr>
          <p:cNvSpPr/>
          <p:nvPr/>
        </p:nvSpPr>
        <p:spPr>
          <a:xfrm>
            <a:off x="521207" y="1362456"/>
            <a:ext cx="7507224" cy="4809744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7" name="Picture 6" descr="image(5).png">
            <a:extLst>
              <a:ext uri="{FF2B5EF4-FFF2-40B4-BE49-F238E27FC236}">
                <a16:creationId xmlns:a16="http://schemas.microsoft.com/office/drawing/2014/main" id="{9DB0784A-43E9-62D9-48D4-F3B364065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26217"/>
            <a:ext cx="7452360" cy="46822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B910C1-7256-219B-0575-CF00C635C5CC}"/>
              </a:ext>
            </a:extLst>
          </p:cNvPr>
          <p:cNvSpPr txBox="1"/>
          <p:nvPr/>
        </p:nvSpPr>
        <p:spPr>
          <a:xfrm>
            <a:off x="8275320" y="155448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98754"/>
                </a:solidFill>
                <a:latin typeface="Aptos"/>
              </a:defRPr>
            </a:pPr>
            <a:r>
              <a:rPr lang="pt-BR" noProof="0" dirty="0"/>
              <a:t>CADASTRO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A1837F-9DB6-355E-5730-C0117B23F676}"/>
              </a:ext>
            </a:extLst>
          </p:cNvPr>
          <p:cNvSpPr txBox="1"/>
          <p:nvPr/>
        </p:nvSpPr>
        <p:spPr>
          <a:xfrm>
            <a:off x="8275320" y="1901952"/>
            <a:ext cx="3246120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30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Pesquisa do operador por nome ou numérica.</a:t>
            </a:r>
          </a:p>
          <a:p>
            <a:pPr>
              <a:spcAft>
                <a:spcPts val="500"/>
              </a:spcAft>
              <a:defRPr sz="930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Seleção padronizada do tipo de afastamento.</a:t>
            </a:r>
          </a:p>
          <a:p>
            <a:pPr>
              <a:spcAft>
                <a:spcPts val="500"/>
              </a:spcAft>
              <a:defRPr sz="930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Data inicial e final definem o período de vigência.</a:t>
            </a:r>
          </a:p>
          <a:p>
            <a:pPr>
              <a:spcAft>
                <a:spcPts val="500"/>
              </a:spcAft>
              <a:defRPr sz="930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Observação permite registrar informação complementar quando necessária.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1C8B93-6301-6DE6-1974-215DDCB9C12A}"/>
              </a:ext>
            </a:extLst>
          </p:cNvPr>
          <p:cNvSpPr txBox="1"/>
          <p:nvPr/>
        </p:nvSpPr>
        <p:spPr>
          <a:xfrm>
            <a:off x="438912" y="6519672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C6670"/>
                </a:solidFill>
                <a:latin typeface="Aptos"/>
              </a:defRPr>
            </a:pPr>
            <a:r>
              <a:rPr lang="pt-BR" noProof="0" dirty="0"/>
              <a:t>Op. 73 - 2026 - Divisão de Operações Especiais</a:t>
            </a:r>
          </a:p>
        </p:txBody>
      </p:sp>
    </p:spTree>
    <p:extLst>
      <p:ext uri="{BB962C8B-B14F-4D97-AF65-F5344CB8AC3E}">
        <p14:creationId xmlns:p14="http://schemas.microsoft.com/office/powerpoint/2010/main" val="39964101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103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563EB"/>
                </a:solidFill>
                <a:latin typeface="Aptos"/>
              </a:defRPr>
            </a:pPr>
            <a:r>
              <a:rPr lang="pt-BR" noProof="0" dirty="0"/>
              <a:t>MÓDULO DE AFASTAMENTO E ELEGIBILIDADE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Edição do afastamento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868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670"/>
                </a:solidFill>
                <a:latin typeface="Aptos"/>
              </a:defRPr>
            </a:pPr>
            <a:r>
              <a:rPr lang="pt-BR" noProof="0" dirty="0"/>
              <a:t>Correção controlada dos dados já registrados.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197864"/>
            <a:ext cx="11292840" cy="10972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Rectangle 5"/>
          <p:cNvSpPr/>
          <p:nvPr/>
        </p:nvSpPr>
        <p:spPr>
          <a:xfrm>
            <a:off x="521207" y="1362456"/>
            <a:ext cx="7507224" cy="4809744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7" name="Picture 6" descr="image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4058"/>
            <a:ext cx="7452359" cy="45265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75320" y="155448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B27414"/>
                </a:solidFill>
                <a:latin typeface="Aptos"/>
              </a:defRPr>
            </a:pPr>
            <a:r>
              <a:rPr lang="pt-BR" noProof="0" dirty="0"/>
              <a:t>MANUTENÇÃO DO REGISTRO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901952"/>
            <a:ext cx="3246120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30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Permite corrigir operador, tipo e período.</a:t>
            </a:r>
          </a:p>
          <a:p>
            <a:pPr>
              <a:spcAft>
                <a:spcPts val="500"/>
              </a:spcAft>
              <a:defRPr sz="930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Mantém o mesmo padrão de dados utilizado no cadastro.</a:t>
            </a:r>
          </a:p>
          <a:p>
            <a:pPr>
              <a:spcAft>
                <a:spcPts val="500"/>
              </a:spcAft>
              <a:defRPr sz="930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Evita criar registros duplicados apenas para corrigir informação.</a:t>
            </a:r>
          </a:p>
          <a:p>
            <a:pPr>
              <a:spcAft>
                <a:spcPts val="500"/>
              </a:spcAft>
              <a:defRPr sz="930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A alteração passa a refletir nas consultas e na avaliação de elegibilidade.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519672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C6670"/>
                </a:solidFill>
                <a:latin typeface="Aptos"/>
              </a:defRPr>
            </a:pPr>
            <a:r>
              <a:rPr lang="pt-BR" noProof="0" dirty="0"/>
              <a:t>Op. 73 - 2026 - Divisão de Operações Especiais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103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563EB"/>
                </a:solidFill>
                <a:latin typeface="Aptos"/>
              </a:defRPr>
            </a:pPr>
            <a:r>
              <a:rPr lang="pt-BR" noProof="0" dirty="0"/>
              <a:t>MÓDULO DE AFASTAMENTO E ELEGIBILIDADE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Exclusão com confirmação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868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670"/>
                </a:solidFill>
                <a:latin typeface="Aptos"/>
              </a:defRPr>
            </a:pPr>
            <a:r>
              <a:rPr lang="pt-BR" noProof="0" dirty="0"/>
              <a:t>A remoção exige conferência explícita antes de alterar a base.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197864"/>
            <a:ext cx="11292840" cy="10972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7507224" cy="4581144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7" name="Picture 6" descr="image(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50046"/>
            <a:ext cx="7452360" cy="33156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75320" y="162763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D23444"/>
                </a:solidFill>
                <a:latin typeface="Aptos"/>
              </a:defRPr>
            </a:pPr>
            <a:r>
              <a:rPr lang="pt-BR" noProof="0" dirty="0"/>
              <a:t>SEGURANÇA DA OPERAÇÃO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975104"/>
            <a:ext cx="3246120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30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A tela reapresenta operador, tipo e período antes da exclusão.</a:t>
            </a:r>
          </a:p>
          <a:p>
            <a:pPr>
              <a:spcAft>
                <a:spcPts val="500"/>
              </a:spcAft>
              <a:defRPr sz="930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A confirmação reduz exclusões acidentais.</a:t>
            </a:r>
          </a:p>
          <a:p>
            <a:pPr>
              <a:spcAft>
                <a:spcPts val="500"/>
              </a:spcAft>
              <a:defRPr sz="930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Cancelar retorna ao fluxo sem modificar o registro.</a:t>
            </a:r>
          </a:p>
          <a:p>
            <a:pPr>
              <a:spcAft>
                <a:spcPts val="500"/>
              </a:spcAft>
              <a:defRPr sz="930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A exclusão é uma função administrativa, não disponível ao operador.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519672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C6670"/>
                </a:solidFill>
                <a:latin typeface="Aptos"/>
              </a:defRPr>
            </a:pPr>
            <a:r>
              <a:rPr lang="pt-BR" noProof="0" dirty="0"/>
              <a:t>Op. 73 - 2026 - Divisão de Operações Especiais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103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563EB"/>
                </a:solidFill>
                <a:latin typeface="Aptos"/>
              </a:defRPr>
            </a:pPr>
            <a:r>
              <a:rPr lang="pt-BR" noProof="0" dirty="0"/>
              <a:t>MÓDULO DE AFASTAMENTO E ELEGIBILIDADE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Visão do operador: afastamentos da própria seção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868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670"/>
                </a:solidFill>
                <a:latin typeface="Aptos"/>
              </a:defRPr>
            </a:pPr>
            <a:r>
              <a:rPr lang="pt-BR" noProof="0" dirty="0"/>
              <a:t>Consulta operacional somente leitura, vinculada à seção do usuário autenticado.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197864"/>
            <a:ext cx="11292840" cy="10972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Rectangle 5"/>
          <p:cNvSpPr/>
          <p:nvPr/>
        </p:nvSpPr>
        <p:spPr>
          <a:xfrm>
            <a:off x="411479" y="1362456"/>
            <a:ext cx="7964424" cy="4791455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7" name="Picture 6" descr="image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914185"/>
            <a:ext cx="7909560" cy="36879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58784" y="148132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Aptos"/>
              </a:defRPr>
            </a:pPr>
            <a:r>
              <a:rPr lang="pt-BR" noProof="0" dirty="0"/>
              <a:t>VISÃO DA SEÇÃO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58784" y="1828800"/>
            <a:ext cx="3063240" cy="417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30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A seção é determinada pelo operador logado; não é escolhida livremente.</a:t>
            </a:r>
          </a:p>
          <a:p>
            <a:pPr>
              <a:spcAft>
                <a:spcPts val="500"/>
              </a:spcAft>
              <a:defRPr sz="930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Mês e ano atual são carregados como referência inicial.</a:t>
            </a:r>
          </a:p>
          <a:p>
            <a:pPr>
              <a:spcAft>
                <a:spcPts val="500"/>
              </a:spcAft>
              <a:defRPr sz="930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A lista mostra períodos que interceptam o mês, mesmo quando começaram no mês anterior.</a:t>
            </a:r>
          </a:p>
          <a:p>
            <a:pPr>
              <a:spcAft>
                <a:spcPts val="500"/>
              </a:spcAft>
              <a:defRPr sz="930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Situação identifica registros encerrados, em andamento e programados.</a:t>
            </a:r>
          </a:p>
          <a:p>
            <a:pPr>
              <a:spcAft>
                <a:spcPts val="500"/>
              </a:spcAft>
              <a:defRPr sz="930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A consulta não permite criar, editar ou excluir afastamentos.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519672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C6670"/>
                </a:solidFill>
                <a:latin typeface="Aptos"/>
              </a:defRPr>
            </a:pPr>
            <a:r>
              <a:rPr lang="pt-BR" noProof="0" dirty="0"/>
              <a:t>Op. 73 - 2026 - Divisão de Operações Especiais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9436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00" b="1" noProof="0" dirty="0">
                <a:solidFill>
                  <a:srgbClr val="BE9A52"/>
                </a:solidFill>
                <a:latin typeface="Aptos"/>
              </a:rPr>
              <a:t>NOVO MÓDULO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3400" b="1" noProof="0" dirty="0">
                <a:solidFill>
                  <a:srgbClr val="FFFFFF"/>
                </a:solidFill>
                <a:latin typeface="Aptos"/>
              </a:rPr>
              <a:t>Controle de Viaturas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48840"/>
            <a:ext cx="98755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800" b="0" noProof="0" dirty="0">
                <a:solidFill>
                  <a:srgbClr val="CDD2D7"/>
                </a:solidFill>
                <a:latin typeface="Aptos"/>
              </a:rPr>
              <a:t>Fluxo operacional para consulta, retirada, utilização, devolução e acompanhamento das viaturas da DOE.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9319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800" b="1" noProof="0" dirty="0">
                <a:solidFill>
                  <a:srgbClr val="BE9A52"/>
                </a:solidFill>
                <a:latin typeface="Aptos"/>
              </a:rPr>
              <a:t>LISTAR  →  RETIRAR  →  EM USO  →  DEVOLVER  →  HISTÓRICO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6364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800" b="0" noProof="0" dirty="0">
                <a:solidFill>
                  <a:srgbClr val="969EA6"/>
                </a:solidFill>
                <a:latin typeface="Aptos"/>
              </a:rPr>
              <a:t>Divisão de Operações Especiais – DOE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000" b="1" noProof="0" dirty="0">
                <a:solidFill>
                  <a:srgbClr val="1471E6"/>
                </a:solidFill>
                <a:latin typeface="Aptos"/>
              </a:rPr>
              <a:t>SVG • VERSÃO OPERADORES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2600" b="1" noProof="0" dirty="0">
                <a:solidFill>
                  <a:srgbClr val="1C2228"/>
                </a:solidFill>
                <a:latin typeface="Aptos"/>
              </a:rPr>
              <a:t>Tela inicial: o painel central da frota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10972800" cy="13716"/>
          </a:xfrm>
          <a:prstGeom prst="rect">
            <a:avLst/>
          </a:prstGeom>
          <a:solidFill>
            <a:srgbClr val="E0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800" b="0" noProof="0" dirty="0">
                <a:solidFill>
                  <a:srgbClr val="5A626A"/>
                </a:solidFill>
                <a:latin typeface="Aptos"/>
              </a:rPr>
              <a:t>Divisão de Operações Especiais – DOE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6539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noProof="0" dirty="0"/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554480"/>
            <a:ext cx="2697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ctangle 8"/>
          <p:cNvSpPr/>
          <p:nvPr/>
        </p:nvSpPr>
        <p:spPr>
          <a:xfrm>
            <a:off x="8732520" y="1554480"/>
            <a:ext cx="54864" cy="1051560"/>
          </a:xfrm>
          <a:prstGeom prst="rect">
            <a:avLst/>
          </a:prstGeom>
          <a:solidFill>
            <a:srgbClr val="147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8933688" y="1554480"/>
            <a:ext cx="23865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350" b="1" noProof="0" dirty="0">
                <a:solidFill>
                  <a:srgbClr val="1C2228"/>
                </a:solidFill>
                <a:latin typeface="Aptos"/>
              </a:rPr>
              <a:t>Identificação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33688" y="1874520"/>
            <a:ext cx="226771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sz="969" noProof="0" dirty="0"/>
              <a:t>Prefixo, placa, modelo, tipo e seção identificam cada viatura.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2761488"/>
            <a:ext cx="2697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Rectangle 12"/>
          <p:cNvSpPr/>
          <p:nvPr/>
        </p:nvSpPr>
        <p:spPr>
          <a:xfrm>
            <a:off x="8732520" y="2761488"/>
            <a:ext cx="54864" cy="1051560"/>
          </a:xfrm>
          <a:prstGeom prst="rect">
            <a:avLst/>
          </a:prstGeom>
          <a:solidFill>
            <a:srgbClr val="BE9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8933688" y="2889504"/>
            <a:ext cx="23865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350" b="1" noProof="0" dirty="0">
                <a:solidFill>
                  <a:srgbClr val="1C2228"/>
                </a:solidFill>
                <a:latin typeface="Aptos"/>
              </a:rPr>
              <a:t>Controle operacional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3209544"/>
            <a:ext cx="226771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sz="969" noProof="0" dirty="0"/>
              <a:t>KM atual, último abastecimento, revisão e situação ficam reunidos na listagem.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3968496"/>
            <a:ext cx="269748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Rectangle 16"/>
          <p:cNvSpPr/>
          <p:nvPr/>
        </p:nvSpPr>
        <p:spPr>
          <a:xfrm>
            <a:off x="8732520" y="3968496"/>
            <a:ext cx="54864" cy="1298448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8933688" y="4224528"/>
            <a:ext cx="23865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350" b="1" noProof="0" dirty="0">
                <a:solidFill>
                  <a:srgbClr val="1C2228"/>
                </a:solidFill>
                <a:latin typeface="Aptos"/>
              </a:rPr>
              <a:t>Ponto de partida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688" y="4544568"/>
            <a:ext cx="22677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sz="969" noProof="0" dirty="0"/>
              <a:t>A situação libera a ação adequada: Retirar, Devolver ou Histórico.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25312"/>
            <a:ext cx="106070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sz="1120" noProof="0" dirty="0"/>
              <a:t>A tela inicial concentra a posição atual da frota e é o ponto de entrada para todas as movimentações.</a:t>
            </a:r>
          </a:p>
        </p:txBody>
      </p:sp>
      <p:pic>
        <p:nvPicPr>
          <p:cNvPr id="21" name="Picture 20" descr="792d2313-c03f-4b4d-92ca-4466812bda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63190"/>
            <a:ext cx="8001000" cy="323453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000" b="1" noProof="0" dirty="0">
                <a:solidFill>
                  <a:srgbClr val="1471E6"/>
                </a:solidFill>
                <a:latin typeface="Aptos"/>
              </a:rPr>
              <a:t>SVG • VERSÃO OPERADORES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2600" b="1" noProof="0" dirty="0">
                <a:solidFill>
                  <a:srgbClr val="1C2228"/>
                </a:solidFill>
                <a:latin typeface="Aptos"/>
              </a:rPr>
              <a:t>Controle de Viaturas: tela inicial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10972800" cy="13716"/>
          </a:xfrm>
          <a:prstGeom prst="rect">
            <a:avLst/>
          </a:prstGeom>
          <a:solidFill>
            <a:srgbClr val="E0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800" b="0" noProof="0" dirty="0">
                <a:solidFill>
                  <a:srgbClr val="5A626A"/>
                </a:solidFill>
                <a:latin typeface="Aptos"/>
              </a:rPr>
              <a:t>Divisão de Operações Especiais – DOE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6539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noProof="0" dirty="0"/>
              <a:t>12</a:t>
            </a:r>
          </a:p>
        </p:txBody>
      </p:sp>
      <p:pic>
        <p:nvPicPr>
          <p:cNvPr id="7" name="Picture 6" descr="ChatGPT Image 18 de set. de 2026, 17_17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33081"/>
            <a:ext cx="8366760" cy="27861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034272" y="1572768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ctangle 8"/>
          <p:cNvSpPr/>
          <p:nvPr/>
        </p:nvSpPr>
        <p:spPr>
          <a:xfrm>
            <a:off x="9034272" y="1572768"/>
            <a:ext cx="54864" cy="1051560"/>
          </a:xfrm>
          <a:prstGeom prst="rect">
            <a:avLst/>
          </a:prstGeom>
          <a:solidFill>
            <a:srgbClr val="147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9235440" y="1664208"/>
            <a:ext cx="211226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450" b="1" noProof="0" dirty="0">
                <a:solidFill>
                  <a:srgbClr val="1C2228"/>
                </a:solidFill>
                <a:latin typeface="Aptos"/>
              </a:rPr>
              <a:t>Pesquisa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993392"/>
            <a:ext cx="2112264" cy="55778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20" b="0" noProof="0" dirty="0">
                <a:solidFill>
                  <a:srgbClr val="5A626A"/>
                </a:solidFill>
                <a:latin typeface="Aptos"/>
              </a:rPr>
              <a:t>Busca por prefixo, placa, modelo ou responsável.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4272" y="2761488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Rectangle 12"/>
          <p:cNvSpPr/>
          <p:nvPr/>
        </p:nvSpPr>
        <p:spPr>
          <a:xfrm>
            <a:off x="9034272" y="2761488"/>
            <a:ext cx="54864" cy="1234440"/>
          </a:xfrm>
          <a:prstGeom prst="rect">
            <a:avLst/>
          </a:prstGeom>
          <a:solidFill>
            <a:srgbClr val="147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9235440" y="2852928"/>
            <a:ext cx="211226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450" b="1" noProof="0" dirty="0">
                <a:solidFill>
                  <a:srgbClr val="1C2228"/>
                </a:solidFill>
                <a:latin typeface="Aptos"/>
              </a:rPr>
              <a:t>Filtros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3182112"/>
            <a:ext cx="2112264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20" b="0" noProof="0" dirty="0">
                <a:solidFill>
                  <a:srgbClr val="5A626A"/>
                </a:solidFill>
                <a:latin typeface="Aptos"/>
              </a:rPr>
              <a:t>Seção, tipo, situação e revisão podem ser combinados para localizar rapidamente a viatura.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4272" y="4160520"/>
            <a:ext cx="24231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Rectangle 16"/>
          <p:cNvSpPr/>
          <p:nvPr/>
        </p:nvSpPr>
        <p:spPr>
          <a:xfrm>
            <a:off x="9034272" y="4160520"/>
            <a:ext cx="54864" cy="1298448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9235440" y="4251959"/>
            <a:ext cx="211226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450" b="1" noProof="0" dirty="0">
                <a:solidFill>
                  <a:srgbClr val="1C2228"/>
                </a:solidFill>
                <a:latin typeface="Aptos"/>
              </a:rPr>
              <a:t>Situação e ações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4581144"/>
            <a:ext cx="2112264" cy="8046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20" b="0" noProof="0" dirty="0">
                <a:solidFill>
                  <a:srgbClr val="5A626A"/>
                </a:solidFill>
                <a:latin typeface="Aptos"/>
              </a:rPr>
              <a:t>A listagem mostra disponibilidade e libera Retirar, Devolver ou Histórico conforme o estado atual.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080760"/>
            <a:ext cx="10424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350" b="1" noProof="0" dirty="0">
                <a:solidFill>
                  <a:srgbClr val="1C2228"/>
                </a:solidFill>
                <a:latin typeface="Aptos"/>
              </a:rPr>
              <a:t>A tela inicial funciona como o ponto central de consulta e movimentação da frota.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000" b="1" noProof="0" dirty="0">
                <a:solidFill>
                  <a:srgbClr val="1471E6"/>
                </a:solidFill>
                <a:latin typeface="Aptos"/>
              </a:rPr>
              <a:t>SVG • VERSÃO OPERADORES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2600" b="1" noProof="0" dirty="0">
                <a:solidFill>
                  <a:srgbClr val="1C2228"/>
                </a:solidFill>
                <a:latin typeface="Aptos"/>
              </a:rPr>
              <a:t>Retirada de Viatura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10972800" cy="13716"/>
          </a:xfrm>
          <a:prstGeom prst="rect">
            <a:avLst/>
          </a:prstGeom>
          <a:solidFill>
            <a:srgbClr val="E0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800" b="0" noProof="0" dirty="0">
                <a:solidFill>
                  <a:srgbClr val="5A626A"/>
                </a:solidFill>
                <a:latin typeface="Aptos"/>
              </a:rPr>
              <a:t>Divisão de Operações Especiais – DOE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6539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noProof="0" dirty="0"/>
              <a:t>13</a:t>
            </a:r>
          </a:p>
        </p:txBody>
      </p:sp>
      <p:pic>
        <p:nvPicPr>
          <p:cNvPr id="7" name="Picture 6" descr="b45bbcb0-32b4-490e-9067-17667852f7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32346"/>
            <a:ext cx="5440680" cy="477054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572768"/>
            <a:ext cx="489204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ctangle 8"/>
          <p:cNvSpPr/>
          <p:nvPr/>
        </p:nvSpPr>
        <p:spPr>
          <a:xfrm>
            <a:off x="6309360" y="1572768"/>
            <a:ext cx="54864" cy="932688"/>
          </a:xfrm>
          <a:prstGeom prst="rect">
            <a:avLst/>
          </a:prstGeom>
          <a:solidFill>
            <a:srgbClr val="147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6510528" y="1664208"/>
            <a:ext cx="45811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450" b="1" noProof="0" dirty="0">
                <a:solidFill>
                  <a:srgbClr val="1C2228"/>
                </a:solidFill>
                <a:latin typeface="Aptos"/>
              </a:rPr>
              <a:t>1. Identificação da viatura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1993392"/>
            <a:ext cx="458114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20" b="0" noProof="0" dirty="0">
                <a:solidFill>
                  <a:srgbClr val="5A626A"/>
                </a:solidFill>
                <a:latin typeface="Aptos"/>
              </a:rPr>
              <a:t>Antes da retirada, o operador confere prefixo, modelo, placa, seção e quilometragem atual.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688336"/>
            <a:ext cx="489204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Rectangle 12"/>
          <p:cNvSpPr/>
          <p:nvPr/>
        </p:nvSpPr>
        <p:spPr>
          <a:xfrm>
            <a:off x="6309360" y="2688336"/>
            <a:ext cx="54864" cy="932688"/>
          </a:xfrm>
          <a:prstGeom prst="rect">
            <a:avLst/>
          </a:prstGeom>
          <a:solidFill>
            <a:srgbClr val="147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6510528" y="2779776"/>
            <a:ext cx="45811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450" b="1" noProof="0" dirty="0">
                <a:solidFill>
                  <a:srgbClr val="1C2228"/>
                </a:solidFill>
                <a:latin typeface="Aptos"/>
              </a:rPr>
              <a:t>2. Operador responsável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108960"/>
            <a:ext cx="458114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20" b="0" noProof="0" dirty="0">
                <a:solidFill>
                  <a:srgbClr val="5A626A"/>
                </a:solidFill>
                <a:latin typeface="Aptos"/>
              </a:rPr>
              <a:t>O operador logado é selecionado automaticamente. Se necessário, é possível pesquisar outro operador.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803904"/>
            <a:ext cx="489204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309360" y="3803904"/>
            <a:ext cx="54864" cy="932688"/>
          </a:xfrm>
          <a:prstGeom prst="rect">
            <a:avLst/>
          </a:prstGeom>
          <a:solidFill>
            <a:srgbClr val="BE9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6510528" y="3895344"/>
            <a:ext cx="45811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450" b="1" noProof="0" dirty="0">
                <a:solidFill>
                  <a:srgbClr val="1C2228"/>
                </a:solidFill>
                <a:latin typeface="Aptos"/>
              </a:rPr>
              <a:t>3. Finalidade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4224528"/>
            <a:ext cx="458114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20" b="0" noProof="0" dirty="0">
                <a:solidFill>
                  <a:srgbClr val="5A626A"/>
                </a:solidFill>
                <a:latin typeface="Aptos"/>
              </a:rPr>
              <a:t>A finalidade da utilização é registrada no momento da retirada.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919472"/>
            <a:ext cx="489204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Rectangle 20"/>
          <p:cNvSpPr/>
          <p:nvPr/>
        </p:nvSpPr>
        <p:spPr>
          <a:xfrm>
            <a:off x="6309360" y="4919472"/>
            <a:ext cx="54864" cy="932688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6510528" y="5010912"/>
            <a:ext cx="45811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450" b="1" noProof="0" dirty="0">
                <a:solidFill>
                  <a:srgbClr val="1C2228"/>
                </a:solidFill>
                <a:latin typeface="Aptos"/>
              </a:rPr>
              <a:t>4. Observação e confirmação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5340096"/>
            <a:ext cx="458114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20" b="0" noProof="0" dirty="0">
                <a:solidFill>
                  <a:srgbClr val="5A626A"/>
                </a:solidFill>
                <a:latin typeface="Aptos"/>
              </a:rPr>
              <a:t>O campo de observação é opcional; Confirmar Retirada registra a movimentação.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000" b="1" noProof="0" dirty="0">
                <a:solidFill>
                  <a:srgbClr val="1471E6"/>
                </a:solidFill>
                <a:latin typeface="Aptos"/>
              </a:rPr>
              <a:t>SVG • VERSÃO OPERADORES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2600" b="1" noProof="0" dirty="0">
                <a:solidFill>
                  <a:srgbClr val="1C2228"/>
                </a:solidFill>
                <a:latin typeface="Aptos"/>
              </a:rPr>
              <a:t>Devolução de Viatura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10972800" cy="13716"/>
          </a:xfrm>
          <a:prstGeom prst="rect">
            <a:avLst/>
          </a:prstGeom>
          <a:solidFill>
            <a:srgbClr val="E0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800" b="0" noProof="0" dirty="0">
                <a:solidFill>
                  <a:srgbClr val="5A626A"/>
                </a:solidFill>
                <a:latin typeface="Aptos"/>
              </a:rPr>
              <a:t>Divisão de Operações Especiais – DOE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6539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noProof="0" dirty="0"/>
              <a:t>14</a:t>
            </a:r>
          </a:p>
        </p:txBody>
      </p:sp>
      <p:pic>
        <p:nvPicPr>
          <p:cNvPr id="7" name="Picture 6" descr="d3498983-8c45-4922-b3ea-412fa32a97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43888"/>
            <a:ext cx="5257800" cy="3928006"/>
          </a:xfrm>
          <a:prstGeom prst="rect">
            <a:avLst/>
          </a:prstGeom>
        </p:spPr>
      </p:pic>
      <p:pic>
        <p:nvPicPr>
          <p:cNvPr id="8" name="Picture 7" descr="4d9b0694-b8af-4fb1-a922-aa371403fb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543" y="1444752"/>
            <a:ext cx="4836472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971032"/>
            <a:ext cx="4983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250" b="1" noProof="0" dirty="0">
                <a:solidFill>
                  <a:srgbClr val="1C2228"/>
                </a:solidFill>
                <a:latin typeface="Aptos"/>
              </a:rPr>
              <a:t>SEM REGISTRO DE ABASTECIMENTO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5971032"/>
            <a:ext cx="4983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250" b="1" noProof="0" dirty="0">
                <a:solidFill>
                  <a:srgbClr val="1C2228"/>
                </a:solidFill>
                <a:latin typeface="Aptos"/>
              </a:rPr>
              <a:t>COM REGISTRO DE ABASTECIMENTO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291072"/>
            <a:ext cx="10424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200" b="0" noProof="0" dirty="0">
                <a:solidFill>
                  <a:srgbClr val="5A626A"/>
                </a:solidFill>
                <a:latin typeface="Aptos"/>
              </a:rPr>
              <a:t>Na devolução são informados o responsável e o KM atual. Ao marcar que houve abastecimento, o sistema solicita também o KM do abastecimento.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000" b="1" noProof="0" dirty="0">
                <a:solidFill>
                  <a:srgbClr val="1471E6"/>
                </a:solidFill>
                <a:latin typeface="Aptos"/>
              </a:rPr>
              <a:t>SVG • VERSÃO OPERADORES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2600" b="1" noProof="0" dirty="0">
                <a:solidFill>
                  <a:srgbClr val="1C2228"/>
                </a:solidFill>
                <a:latin typeface="Aptos"/>
              </a:rPr>
              <a:t>Devolução: dados que atualizam a viatura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10972800" cy="13716"/>
          </a:xfrm>
          <a:prstGeom prst="rect">
            <a:avLst/>
          </a:prstGeom>
          <a:solidFill>
            <a:srgbClr val="E0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800" b="0" noProof="0" dirty="0">
                <a:solidFill>
                  <a:srgbClr val="5A626A"/>
                </a:solidFill>
                <a:latin typeface="Aptos"/>
              </a:rPr>
              <a:t>Divisão de Operações Especiais – DOE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6539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noProof="0" dirty="0"/>
              <a:t>15</a:t>
            </a:r>
          </a:p>
        </p:txBody>
      </p:sp>
      <p:pic>
        <p:nvPicPr>
          <p:cNvPr id="7" name="Picture 6" descr="4d9b0694-b8af-4fb1-a922-aa371403fb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763" y="1417320"/>
            <a:ext cx="5129592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55080" y="1600200"/>
            <a:ext cx="4800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ctangle 8"/>
          <p:cNvSpPr/>
          <p:nvPr/>
        </p:nvSpPr>
        <p:spPr>
          <a:xfrm>
            <a:off x="6355080" y="1600200"/>
            <a:ext cx="54864" cy="914400"/>
          </a:xfrm>
          <a:prstGeom prst="rect">
            <a:avLst/>
          </a:prstGeom>
          <a:solidFill>
            <a:srgbClr val="147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6556248" y="1691640"/>
            <a:ext cx="4489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450" b="1" noProof="0" dirty="0">
                <a:solidFill>
                  <a:srgbClr val="1C2228"/>
                </a:solidFill>
                <a:latin typeface="Aptos"/>
              </a:rPr>
              <a:t>Responsável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020824"/>
            <a:ext cx="4489704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20" b="0" noProof="0" dirty="0">
                <a:solidFill>
                  <a:srgbClr val="5A626A"/>
                </a:solidFill>
                <a:latin typeface="Aptos"/>
              </a:rPr>
              <a:t>Registra quem está efetivamente devolvendo a viatura.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697480"/>
            <a:ext cx="4800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Rectangle 12"/>
          <p:cNvSpPr/>
          <p:nvPr/>
        </p:nvSpPr>
        <p:spPr>
          <a:xfrm>
            <a:off x="6355080" y="2697480"/>
            <a:ext cx="54864" cy="914400"/>
          </a:xfrm>
          <a:prstGeom prst="rect">
            <a:avLst/>
          </a:prstGeom>
          <a:solidFill>
            <a:srgbClr val="147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6556248" y="2788920"/>
            <a:ext cx="4489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450" b="1" noProof="0" dirty="0">
                <a:solidFill>
                  <a:srgbClr val="1C2228"/>
                </a:solidFill>
                <a:latin typeface="Aptos"/>
              </a:rPr>
              <a:t>KM da devolução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3118104"/>
            <a:ext cx="4489704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20" b="0" noProof="0" dirty="0">
                <a:solidFill>
                  <a:srgbClr val="5A626A"/>
                </a:solidFill>
                <a:latin typeface="Aptos"/>
              </a:rPr>
              <a:t>Atualiza a quilometragem corrente da viatura.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794760"/>
            <a:ext cx="4800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355080" y="3794760"/>
            <a:ext cx="54864" cy="9144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6556248" y="3886200"/>
            <a:ext cx="4489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450" b="1" noProof="0" dirty="0">
                <a:solidFill>
                  <a:srgbClr val="1C2228"/>
                </a:solidFill>
                <a:latin typeface="Aptos"/>
              </a:rPr>
              <a:t>Abastecimento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4215384"/>
            <a:ext cx="4489704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20" b="0" noProof="0" dirty="0">
                <a:solidFill>
                  <a:srgbClr val="5A626A"/>
                </a:solidFill>
                <a:latin typeface="Aptos"/>
              </a:rPr>
              <a:t>O controle registra se houve abastecimento e, quando houver, em qual quilometragem.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892040"/>
            <a:ext cx="4800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Rectangle 20"/>
          <p:cNvSpPr/>
          <p:nvPr/>
        </p:nvSpPr>
        <p:spPr>
          <a:xfrm>
            <a:off x="6355080" y="4892040"/>
            <a:ext cx="54864" cy="914400"/>
          </a:xfrm>
          <a:prstGeom prst="rect">
            <a:avLst/>
          </a:prstGeom>
          <a:solidFill>
            <a:srgbClr val="BE9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6556248" y="4983479"/>
            <a:ext cx="4489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450" b="1" noProof="0" dirty="0">
                <a:solidFill>
                  <a:srgbClr val="1C2228"/>
                </a:solidFill>
                <a:latin typeface="Aptos"/>
              </a:rPr>
              <a:t>Nova disponibilidade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5312664"/>
            <a:ext cx="4489704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20" b="0" noProof="0" dirty="0">
                <a:solidFill>
                  <a:srgbClr val="5A626A"/>
                </a:solidFill>
                <a:latin typeface="Aptos"/>
              </a:rPr>
              <a:t>Após a confirmação, a movimentação é encerrada e os dados ficam disponíveis para o controle da frota.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000" b="1" noProof="0" dirty="0">
                <a:solidFill>
                  <a:srgbClr val="1471E6"/>
                </a:solidFill>
                <a:latin typeface="Aptos"/>
              </a:rPr>
              <a:t>SVG • VERSÃO OPERADORES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2600" b="1" noProof="0" dirty="0">
                <a:solidFill>
                  <a:srgbClr val="1C2228"/>
                </a:solidFill>
                <a:latin typeface="Aptos"/>
              </a:rPr>
              <a:t>Histórico da Viatura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10972800" cy="13716"/>
          </a:xfrm>
          <a:prstGeom prst="rect">
            <a:avLst/>
          </a:prstGeom>
          <a:solidFill>
            <a:srgbClr val="E0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800" b="0" noProof="0" dirty="0">
                <a:solidFill>
                  <a:srgbClr val="5A626A"/>
                </a:solidFill>
                <a:latin typeface="Aptos"/>
              </a:rPr>
              <a:t>Divisão de Operações Especiais – DOE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6539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noProof="0" dirty="0"/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87968" y="1554480"/>
            <a:ext cx="254203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ctangle 8"/>
          <p:cNvSpPr/>
          <p:nvPr/>
        </p:nvSpPr>
        <p:spPr>
          <a:xfrm>
            <a:off x="8887968" y="1554480"/>
            <a:ext cx="54864" cy="1051560"/>
          </a:xfrm>
          <a:prstGeom prst="rect">
            <a:avLst/>
          </a:prstGeom>
          <a:solidFill>
            <a:srgbClr val="147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9089136" y="1554480"/>
            <a:ext cx="22311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350" b="1" noProof="0" dirty="0">
                <a:solidFill>
                  <a:srgbClr val="1C2228"/>
                </a:solidFill>
                <a:latin typeface="Aptos"/>
              </a:rPr>
              <a:t>Movimentações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9136" y="1874520"/>
            <a:ext cx="226771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sz="969" noProof="0" dirty="0"/>
              <a:t>Registra cronologicamente cada retirada e devolução.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87968" y="2761488"/>
            <a:ext cx="254203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Rectangle 12"/>
          <p:cNvSpPr/>
          <p:nvPr/>
        </p:nvSpPr>
        <p:spPr>
          <a:xfrm>
            <a:off x="8887968" y="2761488"/>
            <a:ext cx="54864" cy="123444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9089136" y="2889504"/>
            <a:ext cx="22311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350" b="1" noProof="0" dirty="0">
                <a:solidFill>
                  <a:srgbClr val="1C2228"/>
                </a:solidFill>
                <a:latin typeface="Aptos"/>
              </a:rPr>
              <a:t>Rastreabilidade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9136" y="3209544"/>
            <a:ext cx="226771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sz="969" noProof="0" dirty="0"/>
              <a:t>Exibe operador, finalidade, KM inicial/final, abastecimento, revisão e observação.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87968" y="4160520"/>
            <a:ext cx="2542032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Rectangle 16"/>
          <p:cNvSpPr/>
          <p:nvPr/>
        </p:nvSpPr>
        <p:spPr>
          <a:xfrm>
            <a:off x="8887968" y="4160520"/>
            <a:ext cx="54864" cy="1188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9089136" y="4297680"/>
            <a:ext cx="22311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sz="1350" noProof="0" dirty="0"/>
              <a:t>Abastecimento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4617720"/>
            <a:ext cx="226771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sz="969" noProof="0" dirty="0"/>
              <a:t>Mostra se houve abastecimento e o KM em que ocorreu.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25312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sz="1120" noProof="0" dirty="0"/>
              <a:t>O histórico cria rastreabilidade do uso e permite conferir a evolução da quilometragem e dos abastecimentos.</a:t>
            </a:r>
          </a:p>
        </p:txBody>
      </p:sp>
      <p:pic>
        <p:nvPicPr>
          <p:cNvPr id="21" name="Picture 20" descr="6c5b6ba3-7615-43af-83e4-fb9c3c2716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76745"/>
            <a:ext cx="8138160" cy="160742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000" b="1" noProof="0" dirty="0">
                <a:solidFill>
                  <a:srgbClr val="1471E6"/>
                </a:solidFill>
                <a:latin typeface="Aptos"/>
              </a:rPr>
              <a:t>SVG • VERSÃO OPERADORES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2600" b="1" noProof="0" dirty="0">
                <a:solidFill>
                  <a:srgbClr val="1C2228"/>
                </a:solidFill>
                <a:latin typeface="Aptos"/>
              </a:rPr>
              <a:t>Fluxo operacional do Controle de Viaturas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10972800" cy="13716"/>
          </a:xfrm>
          <a:prstGeom prst="rect">
            <a:avLst/>
          </a:prstGeom>
          <a:solidFill>
            <a:srgbClr val="E0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800" b="0" noProof="0" dirty="0">
                <a:solidFill>
                  <a:srgbClr val="5A626A"/>
                </a:solidFill>
                <a:latin typeface="Aptos"/>
              </a:rPr>
              <a:t>Divisão de Operações Especiais – DOE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6539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noProof="0" dirty="0"/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2084831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2200" b="1" noProof="0" dirty="0">
                <a:solidFill>
                  <a:srgbClr val="1471E6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33472"/>
            <a:ext cx="18105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350" b="1" noProof="0" dirty="0">
                <a:solidFill>
                  <a:srgbClr val="1C2228"/>
                </a:solidFill>
                <a:latin typeface="Aptos"/>
              </a:rPr>
              <a:t>LISTAR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46120"/>
            <a:ext cx="1773936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130" b="0" noProof="0" dirty="0">
                <a:solidFill>
                  <a:srgbClr val="5A626A"/>
                </a:solidFill>
                <a:latin typeface="Aptos"/>
              </a:rPr>
              <a:t>Consulta a frota e identifica a viatura.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2999232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2000" b="1" noProof="0" dirty="0">
                <a:solidFill>
                  <a:srgbClr val="BE9A52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1874519"/>
            <a:ext cx="2084831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2944368" y="20299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2200" b="1" noProof="0" dirty="0">
                <a:solidFill>
                  <a:srgbClr val="1471E6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633472"/>
            <a:ext cx="18105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350" b="1" noProof="0" dirty="0">
                <a:solidFill>
                  <a:srgbClr val="1C2228"/>
                </a:solidFill>
                <a:latin typeface="Aptos"/>
              </a:rPr>
              <a:t>RETIRAR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3246120"/>
            <a:ext cx="1773936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130" b="0" noProof="0" dirty="0">
                <a:solidFill>
                  <a:srgbClr val="5A626A"/>
                </a:solidFill>
                <a:latin typeface="Aptos"/>
              </a:rPr>
              <a:t>Define responsável, finalidade e observação.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6" y="2999232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2000" b="1" noProof="0" dirty="0">
                <a:solidFill>
                  <a:srgbClr val="BE9A52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11496" y="1874519"/>
            <a:ext cx="2084831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5248656" y="20299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2200" b="1" noProof="0" dirty="0">
                <a:solidFill>
                  <a:srgbClr val="1471E6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8656" y="2633472"/>
            <a:ext cx="18105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350" b="1" noProof="0" dirty="0">
                <a:solidFill>
                  <a:srgbClr val="1C2228"/>
                </a:solidFill>
                <a:latin typeface="Aptos"/>
              </a:rPr>
              <a:t>EM USO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4" y="3246120"/>
            <a:ext cx="1773936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130" b="0" noProof="0" dirty="0">
                <a:solidFill>
                  <a:srgbClr val="5A626A"/>
                </a:solidFill>
                <a:latin typeface="Aptos"/>
              </a:rPr>
              <a:t>A situação da viatura passa a refletir a utilização.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7183" y="2999232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2000" b="1" noProof="0" dirty="0">
                <a:solidFill>
                  <a:srgbClr val="BE9A52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15783" y="1874519"/>
            <a:ext cx="2084831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7552944" y="20299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2200" b="1" noProof="0" dirty="0">
                <a:solidFill>
                  <a:srgbClr val="1471E6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2944" y="2633472"/>
            <a:ext cx="18105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350" b="1" noProof="0" dirty="0">
                <a:solidFill>
                  <a:srgbClr val="1C2228"/>
                </a:solidFill>
                <a:latin typeface="Aptos"/>
              </a:rPr>
              <a:t>DEVOLVER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1" y="3246120"/>
            <a:ext cx="1773936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130" b="0" noProof="0" dirty="0">
                <a:solidFill>
                  <a:srgbClr val="5A626A"/>
                </a:solidFill>
                <a:latin typeface="Aptos"/>
              </a:rPr>
              <a:t>Registra KM e eventual abastecimento.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1472" y="2999232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2000" b="1" noProof="0" dirty="0">
                <a:solidFill>
                  <a:srgbClr val="BE9A52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20072" y="1874519"/>
            <a:ext cx="2084831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9857232" y="20299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2200" b="1" noProof="0" dirty="0">
                <a:solidFill>
                  <a:srgbClr val="1471E6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57232" y="2633472"/>
            <a:ext cx="18105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350" b="1" noProof="0" dirty="0">
                <a:solidFill>
                  <a:srgbClr val="1C2228"/>
                </a:solidFill>
                <a:latin typeface="Aptos"/>
              </a:rPr>
              <a:t>HISTÓRICO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19" y="3246120"/>
            <a:ext cx="1773936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130" b="0" noProof="0" dirty="0">
                <a:solidFill>
                  <a:srgbClr val="5A626A"/>
                </a:solidFill>
                <a:latin typeface="Aptos"/>
              </a:rPr>
              <a:t>Movimentações ficam disponíveis para consulta.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400" b="1" noProof="0" dirty="0">
                <a:solidFill>
                  <a:srgbClr val="1C2228"/>
                </a:solidFill>
                <a:latin typeface="Aptos"/>
              </a:rPr>
              <a:t>O fluxo mantém a situação da viatura atualizada e cria rastreabilidade entre retirada e devolução.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000" b="1" noProof="0" dirty="0">
                <a:solidFill>
                  <a:srgbClr val="1471E6"/>
                </a:solidFill>
                <a:latin typeface="Aptos"/>
              </a:rPr>
              <a:t>SVG • VERSÃO OPERADORES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2600" b="1" noProof="0" dirty="0">
                <a:solidFill>
                  <a:srgbClr val="1C2228"/>
                </a:solidFill>
                <a:latin typeface="Aptos"/>
              </a:rPr>
              <a:t>Alertas de revisão: visão geral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10972800" cy="13716"/>
          </a:xfrm>
          <a:prstGeom prst="rect">
            <a:avLst/>
          </a:prstGeom>
          <a:solidFill>
            <a:srgbClr val="E0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800" b="0" noProof="0" dirty="0">
                <a:solidFill>
                  <a:srgbClr val="5A626A"/>
                </a:solidFill>
                <a:latin typeface="Aptos"/>
              </a:rPr>
              <a:t>Divisão de Operações Especiais – DOE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6539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noProof="0" dirty="0"/>
              <a:t>18</a:t>
            </a:r>
          </a:p>
        </p:txBody>
      </p:sp>
      <p:pic>
        <p:nvPicPr>
          <p:cNvPr id="7" name="Picture 6" descr="WhatsApp Image 2026-09-18 at 10.44.2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20" y="1417320"/>
            <a:ext cx="8128000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915400" y="160020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ctangle 8"/>
          <p:cNvSpPr/>
          <p:nvPr/>
        </p:nvSpPr>
        <p:spPr>
          <a:xfrm>
            <a:off x="8915400" y="1600200"/>
            <a:ext cx="54864" cy="1143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9116568" y="1691640"/>
            <a:ext cx="2203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450" b="1" noProof="0" dirty="0">
                <a:solidFill>
                  <a:srgbClr val="1C2228"/>
                </a:solidFill>
                <a:latin typeface="Aptos"/>
              </a:rPr>
              <a:t>Próxima da revisão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16568" y="2020824"/>
            <a:ext cx="2203704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20" b="0" noProof="0" dirty="0">
                <a:solidFill>
                  <a:srgbClr val="5A626A"/>
                </a:solidFill>
                <a:latin typeface="Aptos"/>
              </a:rPr>
              <a:t>Destaque preventivo para viaturas próximas da quilometragem de revisão.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292608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Rectangle 12"/>
          <p:cNvSpPr/>
          <p:nvPr/>
        </p:nvSpPr>
        <p:spPr>
          <a:xfrm>
            <a:off x="8915400" y="2926080"/>
            <a:ext cx="54864" cy="1143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9116568" y="3017520"/>
            <a:ext cx="2203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450" b="1" noProof="0" dirty="0">
                <a:solidFill>
                  <a:srgbClr val="1C2228"/>
                </a:solidFill>
                <a:latin typeface="Aptos"/>
              </a:rPr>
              <a:t>Revisão vencida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16568" y="3346704"/>
            <a:ext cx="2203704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20" b="0" noProof="0" dirty="0">
                <a:solidFill>
                  <a:srgbClr val="5A626A"/>
                </a:solidFill>
                <a:latin typeface="Aptos"/>
              </a:rPr>
              <a:t>Destaque crítico quando a quilometragem cadastrada já foi atingida ou ultrapassada.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425196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Rectangle 16"/>
          <p:cNvSpPr/>
          <p:nvPr/>
        </p:nvSpPr>
        <p:spPr>
          <a:xfrm>
            <a:off x="8915400" y="4251960"/>
            <a:ext cx="54864" cy="1143000"/>
          </a:xfrm>
          <a:prstGeom prst="rect">
            <a:avLst/>
          </a:prstGeom>
          <a:solidFill>
            <a:srgbClr val="BE9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9116568" y="4343400"/>
            <a:ext cx="2203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450" b="1" noProof="0" dirty="0">
                <a:solidFill>
                  <a:srgbClr val="1C2228"/>
                </a:solidFill>
                <a:latin typeface="Aptos"/>
              </a:rPr>
              <a:t>Resumo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4672584"/>
            <a:ext cx="2203704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20" b="0" noProof="0" dirty="0">
                <a:solidFill>
                  <a:srgbClr val="5A626A"/>
                </a:solidFill>
                <a:latin typeface="Aptos"/>
              </a:rPr>
              <a:t>O painel consolida quantas viaturas exigem atenção.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080760"/>
            <a:ext cx="10424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250" b="1" noProof="0" dirty="0">
                <a:solidFill>
                  <a:srgbClr val="1C2228"/>
                </a:solidFill>
                <a:latin typeface="Aptos"/>
              </a:rPr>
              <a:t>Os alertas aparecem depois do fluxo operacional porque dependem da quilometragem mantida pelo próprio controle de retirada e devolução.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000" b="1" noProof="0" dirty="0">
                <a:solidFill>
                  <a:srgbClr val="1471E6"/>
                </a:solidFill>
                <a:latin typeface="Aptos"/>
              </a:rPr>
              <a:t>SVG • VERSÃO OPERADORES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2600" b="1" noProof="0" dirty="0">
                <a:solidFill>
                  <a:srgbClr val="1C2228"/>
                </a:solidFill>
                <a:latin typeface="Aptos"/>
              </a:rPr>
              <a:t>Alertas durante a retirada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10972800" cy="13716"/>
          </a:xfrm>
          <a:prstGeom prst="rect">
            <a:avLst/>
          </a:prstGeom>
          <a:solidFill>
            <a:srgbClr val="E0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800" b="0" noProof="0" dirty="0">
                <a:solidFill>
                  <a:srgbClr val="5A626A"/>
                </a:solidFill>
                <a:latin typeface="Aptos"/>
              </a:rPr>
              <a:t>Divisão de Operações Especiais – DOE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6539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noProof="0" dirty="0"/>
              <a:t>19</a:t>
            </a:r>
          </a:p>
        </p:txBody>
      </p:sp>
      <p:pic>
        <p:nvPicPr>
          <p:cNvPr id="7" name="Picture 6" descr="WhatsApp Image 2026-09-18 at 10.48.5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56" y="1481328"/>
            <a:ext cx="4239806" cy="4526280"/>
          </a:xfrm>
          <a:prstGeom prst="rect">
            <a:avLst/>
          </a:prstGeom>
        </p:spPr>
      </p:pic>
      <p:pic>
        <p:nvPicPr>
          <p:cNvPr id="8" name="Picture 7" descr="WhatsApp Image 2026-09-18 at 10.48.0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521" y="1481328"/>
            <a:ext cx="4346052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016752"/>
            <a:ext cx="5074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350" b="1" noProof="0" dirty="0">
                <a:solidFill>
                  <a:srgbClr val="966900"/>
                </a:solidFill>
                <a:latin typeface="Aptos"/>
              </a:rPr>
              <a:t>PRÓXIMA DA REVISÃO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6016752"/>
            <a:ext cx="5074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350" b="1" noProof="0" dirty="0">
                <a:solidFill>
                  <a:srgbClr val="DC3545"/>
                </a:solidFill>
                <a:latin typeface="Aptos"/>
              </a:rPr>
              <a:t>REVISÃO VENCIDA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27648"/>
            <a:ext cx="10607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200" b="0" noProof="0" dirty="0">
                <a:solidFill>
                  <a:srgbClr val="5A626A"/>
                </a:solidFill>
                <a:latin typeface="Aptos"/>
              </a:rPr>
              <a:t>O operador é alertado antes de confirmar a retirada, sem perder as demais informações do fluxo.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000" b="1" noProof="0" dirty="0">
                <a:solidFill>
                  <a:srgbClr val="1471E6"/>
                </a:solidFill>
                <a:latin typeface="Aptos"/>
              </a:rPr>
              <a:t>SVG • VERSÃO OPERADORES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2600" b="1" noProof="0" dirty="0">
                <a:solidFill>
                  <a:srgbClr val="1C2228"/>
                </a:solidFill>
                <a:latin typeface="Aptos"/>
              </a:rPr>
              <a:t>Alertas durante a devolução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10972800" cy="13716"/>
          </a:xfrm>
          <a:prstGeom prst="rect">
            <a:avLst/>
          </a:prstGeom>
          <a:solidFill>
            <a:srgbClr val="E0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800" b="0" noProof="0" dirty="0">
                <a:solidFill>
                  <a:srgbClr val="5A626A"/>
                </a:solidFill>
                <a:latin typeface="Aptos"/>
              </a:rPr>
              <a:t>Divisão de Operações Especiais – DOE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6539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noProof="0" dirty="0"/>
              <a:t>20</a:t>
            </a:r>
          </a:p>
        </p:txBody>
      </p:sp>
      <p:pic>
        <p:nvPicPr>
          <p:cNvPr id="7" name="Picture 6" descr="WhatsApp Image 2026-09-18 at 10.58.48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722" y="1481328"/>
            <a:ext cx="5003074" cy="4526280"/>
          </a:xfrm>
          <a:prstGeom prst="rect">
            <a:avLst/>
          </a:prstGeom>
        </p:spPr>
      </p:pic>
      <p:pic>
        <p:nvPicPr>
          <p:cNvPr id="8" name="Picture 7" descr="WhatsApp Image 2026-09-18 at 10.58.48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605" y="1481328"/>
            <a:ext cx="4963885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016752"/>
            <a:ext cx="5074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350" b="1" noProof="0" dirty="0">
                <a:solidFill>
                  <a:srgbClr val="966900"/>
                </a:solidFill>
                <a:latin typeface="Aptos"/>
              </a:rPr>
              <a:t>ATENÇÃO À REVISÃO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6016752"/>
            <a:ext cx="5074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350" b="1" noProof="0" dirty="0">
                <a:solidFill>
                  <a:srgbClr val="DC3545"/>
                </a:solidFill>
                <a:latin typeface="Aptos"/>
              </a:rPr>
              <a:t>REVISÃO VENCIDA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27648"/>
            <a:ext cx="10607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200" b="0" noProof="0" dirty="0">
                <a:solidFill>
                  <a:srgbClr val="5A626A"/>
                </a:solidFill>
                <a:latin typeface="Aptos"/>
              </a:rPr>
              <a:t>Na devolução, o alerta reflete a quilometragem registrada e mantém a necessidade de manutenção visível.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F0C70-C650-CFC0-662C-FB0112669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04649A4-86AF-7F7C-620E-DF22ABF73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09" y="3035465"/>
            <a:ext cx="11210925" cy="3454069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91F48C22-6810-BF31-1FBF-959437098D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9771" y="889000"/>
            <a:ext cx="10515600" cy="1492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noProof="0" dirty="0"/>
              <a:t>PAINEL DE DASHBOARD</a:t>
            </a:r>
            <a:br>
              <a:rPr lang="pt-BR" sz="5400" b="1" noProof="0" dirty="0"/>
            </a:br>
            <a:r>
              <a:rPr lang="pt-BR" sz="3600" b="1" noProof="0" dirty="0"/>
              <a:t>HORAS SVG </a:t>
            </a:r>
            <a:br>
              <a:rPr lang="pt-BR" sz="3600" b="1" noProof="0" dirty="0"/>
            </a:br>
            <a:r>
              <a:rPr lang="pt-BR" sz="3600" b="1" noProof="0" dirty="0"/>
              <a:t>MENSAL - 2025</a:t>
            </a:r>
            <a:endParaRPr lang="pt-BR" sz="1800" noProof="0" dirty="0"/>
          </a:p>
        </p:txBody>
      </p:sp>
    </p:spTree>
    <p:extLst>
      <p:ext uri="{BB962C8B-B14F-4D97-AF65-F5344CB8AC3E}">
        <p14:creationId xmlns:p14="http://schemas.microsoft.com/office/powerpoint/2010/main" val="2911813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BF05E-B28E-EC0C-E64D-E22AA9BF2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CA3A809-FCA3-B622-66D8-CB2FF0882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3117359"/>
            <a:ext cx="11258550" cy="3442681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B48EDAE4-899A-B2A4-6824-52313BBA59E2}"/>
              </a:ext>
            </a:extLst>
          </p:cNvPr>
          <p:cNvSpPr txBox="1">
            <a:spLocks/>
          </p:cNvSpPr>
          <p:nvPr/>
        </p:nvSpPr>
        <p:spPr>
          <a:xfrm>
            <a:off x="838200" y="946150"/>
            <a:ext cx="10515600" cy="1492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noProof="0" dirty="0"/>
              <a:t>PAINEL DE DASHBOARD</a:t>
            </a:r>
            <a:br>
              <a:rPr lang="pt-BR" sz="5400" b="1" noProof="0" dirty="0"/>
            </a:br>
            <a:r>
              <a:rPr lang="pt-BR" sz="3600" b="1" noProof="0" dirty="0"/>
              <a:t>HORAS SVG </a:t>
            </a:r>
            <a:br>
              <a:rPr lang="pt-BR" sz="3600" b="1" noProof="0" dirty="0"/>
            </a:br>
            <a:r>
              <a:rPr lang="pt-BR" sz="3600" b="1" noProof="0" dirty="0"/>
              <a:t>DIÁRIO - 2025</a:t>
            </a:r>
            <a:endParaRPr lang="pt-BR" sz="1800" noProof="0" dirty="0"/>
          </a:p>
        </p:txBody>
      </p:sp>
    </p:spTree>
    <p:extLst>
      <p:ext uri="{BB962C8B-B14F-4D97-AF65-F5344CB8AC3E}">
        <p14:creationId xmlns:p14="http://schemas.microsoft.com/office/powerpoint/2010/main" val="37287388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6B470-F559-969E-4E53-1D7F6E4F2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8F726B1-DE2F-AEDF-17F1-FCFFE1022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99" y="3039284"/>
            <a:ext cx="11201401" cy="3446431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6F115600-352A-4DD3-9B6E-0B7B18A22DA9}"/>
              </a:ext>
            </a:extLst>
          </p:cNvPr>
          <p:cNvSpPr txBox="1">
            <a:spLocks/>
          </p:cNvSpPr>
          <p:nvPr/>
        </p:nvSpPr>
        <p:spPr>
          <a:xfrm>
            <a:off x="838200" y="746125"/>
            <a:ext cx="10515600" cy="1492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noProof="0" dirty="0"/>
              <a:t>PAINEL DE DASHBOARD</a:t>
            </a:r>
            <a:br>
              <a:rPr lang="pt-BR" sz="5400" b="1" noProof="0" dirty="0"/>
            </a:br>
            <a:r>
              <a:rPr lang="pt-BR" sz="3600" b="1" noProof="0" dirty="0"/>
              <a:t>HORAS SVG </a:t>
            </a:r>
            <a:br>
              <a:rPr lang="pt-BR" sz="3600" b="1" noProof="0" dirty="0"/>
            </a:br>
            <a:r>
              <a:rPr lang="pt-BR" sz="3600" b="1" noProof="0" dirty="0"/>
              <a:t>BIMESTRE - 2025</a:t>
            </a:r>
            <a:endParaRPr lang="pt-BR" sz="1800" noProof="0" dirty="0"/>
          </a:p>
        </p:txBody>
      </p:sp>
    </p:spTree>
    <p:extLst>
      <p:ext uri="{BB962C8B-B14F-4D97-AF65-F5344CB8AC3E}">
        <p14:creationId xmlns:p14="http://schemas.microsoft.com/office/powerpoint/2010/main" val="22401553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F57A8-8183-10D1-9365-F10D888E2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0B3DB7B2-019E-EA4E-3A7E-8FDCA95100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46125"/>
            <a:ext cx="10515600" cy="1492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noProof="0" dirty="0"/>
              <a:t>PAINEL DE DASHBOARD</a:t>
            </a:r>
            <a:br>
              <a:rPr lang="pt-BR" sz="5400" b="1" noProof="0" dirty="0"/>
            </a:br>
            <a:r>
              <a:rPr lang="pt-BR" sz="3600" b="1" noProof="0" dirty="0"/>
              <a:t>HORAS SVG </a:t>
            </a:r>
            <a:br>
              <a:rPr lang="pt-BR" sz="3600" b="1" noProof="0" dirty="0"/>
            </a:br>
            <a:r>
              <a:rPr lang="pt-BR" sz="3600" b="1" noProof="0" dirty="0"/>
              <a:t>SEMESTRE - 2025</a:t>
            </a:r>
            <a:endParaRPr lang="pt-BR" sz="1800" noProof="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ABD5E5E-136B-617A-D2CC-82604C775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" y="2851749"/>
            <a:ext cx="11249026" cy="349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0037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9260A-37A3-4C03-0C64-9F8EF3BAC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E0A99496-C1B9-2FD1-3A93-0FFEAC5A04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46125"/>
            <a:ext cx="10515600" cy="1492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noProof="0" dirty="0"/>
              <a:t>PAINEL DE DASHBOARD</a:t>
            </a:r>
            <a:br>
              <a:rPr lang="pt-BR" sz="5400" b="1" noProof="0" dirty="0"/>
            </a:br>
            <a:r>
              <a:rPr lang="pt-BR" sz="3600" b="1" noProof="0" dirty="0"/>
              <a:t>OPERAÇÕES </a:t>
            </a:r>
            <a:br>
              <a:rPr lang="pt-BR" sz="3600" b="1" noProof="0" dirty="0"/>
            </a:br>
            <a:r>
              <a:rPr lang="pt-BR" sz="3600" b="1" noProof="0" dirty="0"/>
              <a:t>MENSAL - 2025</a:t>
            </a:r>
            <a:endParaRPr lang="pt-BR" sz="1800" noProof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FA9BA1B-1FE9-4A49-0768-34A50A633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2" y="2798059"/>
            <a:ext cx="11077576" cy="364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2520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D9375-827C-B76F-1B90-1392DAB0C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2E897EBB-C008-5ECD-835E-0DC12C60A7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46125"/>
            <a:ext cx="10515600" cy="1492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noProof="0" dirty="0"/>
              <a:t>PAINEL DE DASHBOARD</a:t>
            </a:r>
            <a:br>
              <a:rPr lang="pt-BR" sz="5400" b="1" noProof="0" dirty="0"/>
            </a:br>
            <a:r>
              <a:rPr lang="pt-BR" sz="3600" b="1" noProof="0" dirty="0"/>
              <a:t>OPERADORES </a:t>
            </a:r>
            <a:br>
              <a:rPr lang="pt-BR" sz="3600" b="1" noProof="0" dirty="0"/>
            </a:br>
            <a:r>
              <a:rPr lang="pt-BR" sz="3600" b="1" noProof="0" dirty="0"/>
              <a:t>MENSAL - 2025</a:t>
            </a:r>
            <a:endParaRPr lang="pt-BR" sz="1800" noProof="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37A4E9A-F903-3BAC-0717-C851ECAFD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2" y="2895975"/>
            <a:ext cx="11229976" cy="344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2467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0FA36A5A-0C02-DD8D-A8ED-EE6DB6E25E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62" y="0"/>
            <a:ext cx="10201275" cy="6800850"/>
          </a:xfrm>
        </p:spPr>
      </p:pic>
    </p:spTree>
    <p:extLst>
      <p:ext uri="{BB962C8B-B14F-4D97-AF65-F5344CB8AC3E}">
        <p14:creationId xmlns:p14="http://schemas.microsoft.com/office/powerpoint/2010/main" val="13219277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5982</TotalTime>
  <Words>1627</Words>
  <Application>Microsoft Office PowerPoint</Application>
  <PresentationFormat>Widescreen</PresentationFormat>
  <Paragraphs>273</Paragraphs>
  <Slides>50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50</vt:i4>
      </vt:variant>
    </vt:vector>
  </HeadingPairs>
  <TitlesOfParts>
    <vt:vector size="55" baseType="lpstr">
      <vt:lpstr>Aptos</vt:lpstr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INSERINDO OPERADORES </vt:lpstr>
      <vt:lpstr>INSERINDO OPERADORES </vt:lpstr>
      <vt:lpstr>LISTA DE OPERAÇÕES </vt:lpstr>
      <vt:lpstr>LISTA DE OPERAÇÕES </vt:lpstr>
      <vt:lpstr>EDITAR OPERAÇÃO </vt:lpstr>
      <vt:lpstr>DETALHES OPERAÇÃO </vt:lpstr>
      <vt:lpstr>OPERAÇÕES COM SVG ABERTO </vt:lpstr>
      <vt:lpstr>OPERAÇÕES COM SVG ABERTO </vt:lpstr>
      <vt:lpstr>OPERAÇÕES COM SVG ABERTO </vt:lpstr>
      <vt:lpstr>OPERAÇÕES COM SVG ABERTO </vt:lpstr>
      <vt:lpstr>OPERAÇÕES COM SVG ABERTO </vt:lpstr>
      <vt:lpstr>OPERAÇÕES COM SVG ABERTO </vt:lpstr>
      <vt:lpstr>OPERAÇÕES COM SVG ABERTO </vt:lpstr>
      <vt:lpstr>LISTA DE OPERAÇÕES </vt:lpstr>
      <vt:lpstr>ENCERRAR SVG </vt:lpstr>
      <vt:lpstr>DETALHES OPERAÇÃO</vt:lpstr>
      <vt:lpstr>CONTROLE DE ACESSO Tela Inicial</vt:lpstr>
      <vt:lpstr>CONTROLE DE ACESSO Tela Inicial</vt:lpstr>
      <vt:lpstr>CONTROLE DE ACESSO Tela Inicial</vt:lpstr>
      <vt:lpstr>CONTROLE DE ACESSO Tela Inicial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PAINEL DE DASHBOARD HORAS SVG  MENSAL - 2025</vt:lpstr>
      <vt:lpstr>Apresentação do PowerPoint</vt:lpstr>
      <vt:lpstr>Apresentação do PowerPoint</vt:lpstr>
      <vt:lpstr>PAINEL DE DASHBOARD HORAS SVG  SEMESTRE - 2025</vt:lpstr>
      <vt:lpstr>PAINEL DE DASHBOARD OPERAÇÕES  MENSAL - 2025</vt:lpstr>
      <vt:lpstr>PAINEL DE DASHBOARD OPERADORES  MENSAL - 2025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Wagner Nogueira</dc:creator>
  <cp:lastModifiedBy>Wagner Nogueira</cp:lastModifiedBy>
  <cp:revision>12</cp:revision>
  <dcterms:created xsi:type="dcterms:W3CDTF">2026-08-18T22:50:42Z</dcterms:created>
  <dcterms:modified xsi:type="dcterms:W3CDTF">2026-10-06T15:37:38Z</dcterms:modified>
</cp:coreProperties>
</file>