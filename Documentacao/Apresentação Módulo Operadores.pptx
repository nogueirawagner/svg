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67" r:id="rId2"/>
    <p:sldId id="26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83" r:id="rId11"/>
    <p:sldId id="260" r:id="rId12"/>
    <p:sldId id="284" r:id="rId13"/>
    <p:sldId id="280" r:id="rId14"/>
    <p:sldId id="281" r:id="rId15"/>
    <p:sldId id="282" r:id="rId16"/>
    <p:sldId id="268" r:id="rId17"/>
    <p:sldId id="277" r:id="rId18"/>
    <p:sldId id="269" r:id="rId19"/>
    <p:sldId id="270" r:id="rId20"/>
    <p:sldId id="271" r:id="rId21"/>
    <p:sldId id="272" r:id="rId22"/>
    <p:sldId id="278" r:id="rId23"/>
    <p:sldId id="273" r:id="rId24"/>
    <p:sldId id="274" r:id="rId25"/>
    <p:sldId id="275" r:id="rId26"/>
    <p:sldId id="27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gner Nogueira" initials="WN" lastIdx="1" clrIdx="0">
    <p:extLst>
      <p:ext uri="{19B8F6BF-5375-455C-9EA6-DF929625EA0E}">
        <p15:presenceInfo xmlns:p15="http://schemas.microsoft.com/office/powerpoint/2012/main" userId="bb0cc78dcd9679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07T17:25:21.055" idx="1">
    <p:pos x="10" y="10"/>
    <p:text>Instrução, treinamento,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75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2628-2534-0ACA-7F61-C8898AF2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E5195-0B10-A373-38D4-04A001797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D9B54-0638-C19E-1D5A-8F2255E9D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4FF50-C50C-E484-5D25-C9F1DE4EE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34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87C28-D290-354B-458E-587B6CADE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C34BF-28BF-44E7-9CE7-B4C4B2B26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D1593-BA30-C98E-6464-18284A229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825C6-E5C9-EDB4-C7F0-A1C28790AC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3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7369884-B95B-8E30-4A0E-199658219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16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</a:rPr>
              <a:t>SVG</a:t>
            </a:r>
            <a:endParaRPr lang="pt-BR" sz="3200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BFA46F"/>
                </a:solidFill>
              </a:rPr>
              <a:t>Versão Operadores</a:t>
            </a:r>
            <a:endParaRPr lang="pt-B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FFFFFF"/>
                </a:solidFill>
              </a:rPr>
              <a:t>Mais autonomia para o operador.</a:t>
            </a:r>
            <a:endParaRPr lang="pt-BR" sz="2600" noProof="0" dirty="0"/>
          </a:p>
          <a:p>
            <a:pPr marL="0" indent="0">
              <a:buNone/>
            </a:pPr>
            <a:r>
              <a:rPr lang="pt-BR" sz="2600" b="1" noProof="0" dirty="0">
                <a:solidFill>
                  <a:srgbClr val="FFFFFF"/>
                </a:solidFill>
              </a:rPr>
              <a:t>Mais transparência no processo.</a:t>
            </a:r>
            <a:endParaRPr lang="pt-BR" sz="2600" noProof="0" dirty="0"/>
          </a:p>
          <a:p>
            <a:pPr marL="0" indent="0">
              <a:buNone/>
            </a:pPr>
            <a:r>
              <a:rPr lang="pt-BR" sz="2600" b="1" noProof="0" dirty="0">
                <a:solidFill>
                  <a:srgbClr val="FFFFFF"/>
                </a:solidFill>
              </a:rPr>
              <a:t>Mais organização para a DOE.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4251960"/>
            <a:ext cx="3840480" cy="0"/>
          </a:xfrm>
          <a:prstGeom prst="line">
            <a:avLst/>
          </a:prstGeom>
          <a:noFill/>
          <a:ln w="25400">
            <a:solidFill>
              <a:srgbClr val="BFA46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noProof="0" dirty="0">
                <a:solidFill>
                  <a:srgbClr val="D8DEE5"/>
                </a:solidFill>
              </a:rPr>
              <a:t>Sistema de Gerenciamento do Serviço Voluntário</a:t>
            </a:r>
            <a:endParaRPr lang="pt-BR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EB7C0"/>
                </a:solidFill>
              </a:rPr>
              <a:t>Divisão de Operações Especiais – DOE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EB7C0"/>
                </a:solidFill>
              </a:rPr>
              <a:t>Wagner Nogueira – 73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140" noProof="0" dirty="0">
                <a:solidFill>
                  <a:srgbClr val="146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• VERSÃO OPERADORES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da versão Operadores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64008" cy="347472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Autonomia</a:t>
            </a:r>
            <a:endParaRPr lang="pt-BR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30175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O operador consulta as oportunidades de SVG e gerencia sua manifestação de interesse diretamente no sistema.</a:t>
            </a:r>
            <a:endParaRPr lang="pt-BR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64008" cy="347472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Transparência</a:t>
            </a:r>
            <a:endParaRPr lang="pt-BR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4617720" y="2167128"/>
            <a:ext cx="30175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Vagas, voluntários, situação da escala e critérios de ordenação ficam visíveis e estruturados.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429000" cy="34747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64008" cy="347472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832104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Organização</a:t>
            </a:r>
            <a:endParaRPr lang="pt-BR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8321040" y="2167128"/>
            <a:ext cx="30175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O fluxo centraliza inscrição, escala e priorização, reduzindo controles paralelos e decisões manuais.</a:t>
            </a:r>
            <a:endParaRPr lang="pt-B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1005840" y="55321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17212B"/>
                </a:solidFill>
              </a:rPr>
              <a:t>Do acesso à seleção, o foco é tornar o processo simples para o operador e objetivo para a gestão.</a:t>
            </a:r>
            <a:endParaRPr lang="pt-BR" sz="1700" noProof="0" dirty="0"/>
          </a:p>
        </p:txBody>
      </p:sp>
      <p:sp>
        <p:nvSpPr>
          <p:cNvPr id="18" name="Text 16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Divisão de Operações Especiais – DOE</a:t>
            </a:r>
            <a:endParaRPr lang="pt-BR" sz="800" noProof="0" dirty="0"/>
          </a:p>
        </p:txBody>
      </p:sp>
      <p:sp>
        <p:nvSpPr>
          <p:cNvPr id="19" name="Text 17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02</a:t>
            </a:r>
            <a:endParaRPr lang="pt-BR" sz="8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140" noProof="0" dirty="0">
                <a:solidFill>
                  <a:srgbClr val="146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• VERSÃO OPERADORES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SVG Aberto: acesso às oportunidades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3"/>
          <p:cNvSpPr/>
          <p:nvPr/>
        </p:nvSpPr>
        <p:spPr>
          <a:xfrm>
            <a:off x="594360" y="2851949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667512" y="2925101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b="1" noProof="0" dirty="0">
                <a:solidFill>
                  <a:srgbClr val="FFFFFF"/>
                </a:solidFill>
              </a:rPr>
              <a:t>AGRUPAMENTO POR TIPO</a:t>
            </a:r>
            <a:endParaRPr lang="pt-BR" sz="1000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17212B"/>
                </a:solidFill>
              </a:rPr>
              <a:t>A tela inicial concentra as operações com SVG aberto. Os itens são agrupados por tipo de operação e o indicador numérico mostra quantas oportunidades existem naquele agrupamento.</a:t>
            </a:r>
            <a:endParaRPr lang="pt-BR" sz="1800" noProof="0" dirty="0"/>
          </a:p>
        </p:txBody>
      </p:sp>
      <p:sp>
        <p:nvSpPr>
          <p:cNvPr id="9" name="Text 6"/>
          <p:cNvSpPr/>
          <p:nvPr/>
        </p:nvSpPr>
        <p:spPr>
          <a:xfrm>
            <a:off x="822960" y="6044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5F6B76"/>
                </a:solidFill>
              </a:rPr>
              <a:t>O operador expande apenas o grupo que deseja consultar.</a:t>
            </a:r>
            <a:endParaRPr lang="pt-B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Divisão de Operações Especiais – DOE</a:t>
            </a:r>
            <a:endParaRPr lang="pt-BR" sz="800" noProof="0" dirty="0"/>
          </a:p>
        </p:txBody>
      </p:sp>
      <p:sp>
        <p:nvSpPr>
          <p:cNvPr id="11" name="Text 8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03</a:t>
            </a:r>
            <a:endParaRPr lang="pt-BR" sz="800" noProof="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6E40B90-3FFF-E22C-0B58-64A735041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089" y="2562501"/>
            <a:ext cx="5698453" cy="258325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EBD1CE4-810E-CA92-E197-D9E69D0AD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089" y="1403781"/>
            <a:ext cx="5698453" cy="1012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140" noProof="0" dirty="0">
                <a:solidFill>
                  <a:srgbClr val="146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• VERSÃO OPERADORES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Voluntariar e desistir: gestão pelo próprio operador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3"/>
          <p:cNvSpPr/>
          <p:nvPr/>
        </p:nvSpPr>
        <p:spPr>
          <a:xfrm>
            <a:off x="8641080" y="160020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4"/>
          <p:cNvSpPr/>
          <p:nvPr/>
        </p:nvSpPr>
        <p:spPr>
          <a:xfrm>
            <a:off x="8641080" y="1600200"/>
            <a:ext cx="64008" cy="109728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8869680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Informações essenciais</a:t>
            </a:r>
            <a:endParaRPr lang="pt-BR" sz="1500" noProof="0" dirty="0"/>
          </a:p>
        </p:txBody>
      </p:sp>
      <p:sp>
        <p:nvSpPr>
          <p:cNvPr id="9" name="Text 6"/>
          <p:cNvSpPr/>
          <p:nvPr/>
        </p:nvSpPr>
        <p:spPr>
          <a:xfrm>
            <a:off x="8869680" y="2167128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OS, objeto, início e fim da operação.</a:t>
            </a:r>
            <a:endParaRPr lang="pt-BR" sz="1150" noProof="0" dirty="0"/>
          </a:p>
        </p:txBody>
      </p:sp>
      <p:sp>
        <p:nvSpPr>
          <p:cNvPr id="10" name="Shape 7"/>
          <p:cNvSpPr/>
          <p:nvPr/>
        </p:nvSpPr>
        <p:spPr>
          <a:xfrm>
            <a:off x="8641080" y="288036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8641080" y="2880360"/>
            <a:ext cx="64008" cy="109728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8869680" y="3063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Demanda em tempo real</a:t>
            </a:r>
            <a:endParaRPr lang="pt-BR" sz="1500" noProof="0" dirty="0"/>
          </a:p>
        </p:txBody>
      </p:sp>
      <p:sp>
        <p:nvSpPr>
          <p:cNvPr id="13" name="Text 10"/>
          <p:cNvSpPr/>
          <p:nvPr/>
        </p:nvSpPr>
        <p:spPr>
          <a:xfrm>
            <a:off x="8869680" y="3447288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Quantidade de vagas e de voluntários inscritos.</a:t>
            </a:r>
            <a:endParaRPr lang="pt-BR" sz="1150" noProof="0" dirty="0"/>
          </a:p>
        </p:txBody>
      </p:sp>
      <p:sp>
        <p:nvSpPr>
          <p:cNvPr id="14" name="Shape 11"/>
          <p:cNvSpPr/>
          <p:nvPr/>
        </p:nvSpPr>
        <p:spPr>
          <a:xfrm>
            <a:off x="8641080" y="4160520"/>
            <a:ext cx="2880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2"/>
          <p:cNvSpPr/>
          <p:nvPr/>
        </p:nvSpPr>
        <p:spPr>
          <a:xfrm>
            <a:off x="8641080" y="4160520"/>
            <a:ext cx="64008" cy="1325880"/>
          </a:xfrm>
          <a:prstGeom prst="rect">
            <a:avLst/>
          </a:prstGeom>
          <a:solidFill>
            <a:srgbClr val="168A4A"/>
          </a:solidFill>
          <a:ln w="12700">
            <a:solidFill>
              <a:srgbClr val="168A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8869680" y="4343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Ação direta</a:t>
            </a:r>
            <a:endParaRPr lang="pt-BR" sz="1500" noProof="0" dirty="0"/>
          </a:p>
        </p:txBody>
      </p:sp>
      <p:sp>
        <p:nvSpPr>
          <p:cNvPr id="17" name="Text 14"/>
          <p:cNvSpPr/>
          <p:nvPr/>
        </p:nvSpPr>
        <p:spPr>
          <a:xfrm>
            <a:off x="8869680" y="4727448"/>
            <a:ext cx="24688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“Voluntariar” registra o interesse; “Desistir” permite retirar a candidatura.</a:t>
            </a:r>
            <a:endParaRPr lang="pt-BR" sz="1150" noProof="0" dirty="0"/>
          </a:p>
        </p:txBody>
      </p:sp>
      <p:sp>
        <p:nvSpPr>
          <p:cNvPr id="18" name="Text 15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Divisão de Operações Especiais – DOE</a:t>
            </a:r>
            <a:endParaRPr lang="pt-BR" sz="800" noProof="0" dirty="0"/>
          </a:p>
        </p:txBody>
      </p:sp>
      <p:sp>
        <p:nvSpPr>
          <p:cNvPr id="19" name="Text 16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04</a:t>
            </a:r>
            <a:endParaRPr lang="pt-BR" sz="800" noProof="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0FE7F42-3360-89BE-A909-ED408EB5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7708719" cy="38837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140" noProof="0" dirty="0">
                <a:solidFill>
                  <a:srgbClr val="146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• VERSÃO OPERADORES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sistema determina a prioridade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E9F2FF"/>
          </a:solidFill>
          <a:ln w="1524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58952" y="2193251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17212B"/>
                </a:solidFill>
              </a:rPr>
              <a:t>EQUIPE </a:t>
            </a:r>
            <a:r>
              <a:rPr lang="pt-BR" sz="1100" b="1" dirty="0">
                <a:solidFill>
                  <a:srgbClr val="17212B"/>
                </a:solidFill>
              </a:rPr>
              <a:t>ENTRANDO</a:t>
            </a:r>
            <a:endParaRPr lang="pt-BR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2240280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noProof="0" dirty="0">
                <a:solidFill>
                  <a:srgbClr val="8B96A1"/>
                </a:solidFill>
              </a:rPr>
              <a:t>›</a:t>
            </a:r>
            <a:endParaRPr lang="pt-BR" sz="2400" noProof="0" dirty="0"/>
          </a:p>
        </p:txBody>
      </p:sp>
      <p:sp>
        <p:nvSpPr>
          <p:cNvPr id="9" name="Shape 7"/>
          <p:cNvSpPr/>
          <p:nvPr/>
        </p:nvSpPr>
        <p:spPr>
          <a:xfrm>
            <a:off x="2542032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E9F2FF"/>
          </a:solidFill>
          <a:ln w="1524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2615184" y="2193251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17212B"/>
                </a:solidFill>
              </a:rPr>
              <a:t>FANTASMA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4096512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noProof="0" dirty="0">
                <a:solidFill>
                  <a:srgbClr val="8B96A1"/>
                </a:solidFill>
              </a:rPr>
              <a:t>›</a:t>
            </a:r>
            <a:endParaRPr lang="pt-BR" sz="2400" noProof="0" dirty="0"/>
          </a:p>
        </p:txBody>
      </p:sp>
      <p:sp>
        <p:nvSpPr>
          <p:cNvPr id="13" name="Shape 11"/>
          <p:cNvSpPr/>
          <p:nvPr/>
        </p:nvSpPr>
        <p:spPr>
          <a:xfrm>
            <a:off x="4398264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4471416" y="2193251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17212B"/>
                </a:solidFill>
              </a:rPr>
              <a:t>SOBREAVISO</a:t>
            </a:r>
            <a:endParaRPr lang="pt-B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5952744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noProof="0" dirty="0">
                <a:solidFill>
                  <a:srgbClr val="8B96A1"/>
                </a:solidFill>
              </a:rPr>
              <a:t>›</a:t>
            </a:r>
            <a:endParaRPr lang="pt-BR" sz="2400" noProof="0" dirty="0"/>
          </a:p>
        </p:txBody>
      </p:sp>
      <p:sp>
        <p:nvSpPr>
          <p:cNvPr id="17" name="Shape 15"/>
          <p:cNvSpPr/>
          <p:nvPr/>
        </p:nvSpPr>
        <p:spPr>
          <a:xfrm>
            <a:off x="6254496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6327648" y="2193251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17212B"/>
                </a:solidFill>
              </a:rPr>
              <a:t>1ª FOLGA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7808976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noProof="0" dirty="0">
                <a:solidFill>
                  <a:srgbClr val="8B96A1"/>
                </a:solidFill>
              </a:rPr>
              <a:t>›</a:t>
            </a:r>
            <a:endParaRPr lang="pt-BR" sz="2400" noProof="0" dirty="0"/>
          </a:p>
        </p:txBody>
      </p:sp>
      <p:sp>
        <p:nvSpPr>
          <p:cNvPr id="21" name="Shape 19"/>
          <p:cNvSpPr/>
          <p:nvPr/>
        </p:nvSpPr>
        <p:spPr>
          <a:xfrm>
            <a:off x="8110728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8183880" y="2193251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17212B"/>
                </a:solidFill>
              </a:rPr>
              <a:t>EXPEDIENTE</a:t>
            </a:r>
            <a:endParaRPr lang="pt-B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9665208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noProof="0" dirty="0">
                <a:solidFill>
                  <a:srgbClr val="8B96A1"/>
                </a:solidFill>
              </a:rPr>
              <a:t>›</a:t>
            </a:r>
            <a:endParaRPr lang="pt-BR" sz="2400" noProof="0" dirty="0"/>
          </a:p>
        </p:txBody>
      </p:sp>
      <p:sp>
        <p:nvSpPr>
          <p:cNvPr id="25" name="Shape 23"/>
          <p:cNvSpPr/>
          <p:nvPr/>
        </p:nvSpPr>
        <p:spPr>
          <a:xfrm>
            <a:off x="9966960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10040112" y="2193251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noProof="0" dirty="0">
                <a:solidFill>
                  <a:srgbClr val="17212B"/>
                </a:solidFill>
              </a:rPr>
              <a:t>PRÓXIMO</a:t>
            </a:r>
            <a:endParaRPr lang="pt-B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noProof="0" dirty="0">
                <a:solidFill>
                  <a:srgbClr val="17212B"/>
                </a:solidFill>
              </a:rPr>
              <a:t>Primeiro, o sistema identifica a situação da equipe do operador. </a:t>
            </a:r>
          </a:p>
          <a:p>
            <a:pPr marL="0" indent="0" algn="ctr">
              <a:buNone/>
            </a:pPr>
            <a:r>
              <a:rPr lang="pt-BR" sz="1800" noProof="0" dirty="0">
                <a:solidFill>
                  <a:srgbClr val="17212B"/>
                </a:solidFill>
              </a:rPr>
              <a:t>A ordem de cada equipe expressa a prioridade operacional daquele grupo.</a:t>
            </a:r>
            <a:endParaRPr lang="pt-BR" sz="1800" noProof="0" dirty="0"/>
          </a:p>
        </p:txBody>
      </p:sp>
      <p:sp>
        <p:nvSpPr>
          <p:cNvPr id="29" name="Shape 27"/>
          <p:cNvSpPr/>
          <p:nvPr/>
        </p:nvSpPr>
        <p:spPr>
          <a:xfrm>
            <a:off x="1828800" y="457200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8"/>
          <p:cNvSpPr/>
          <p:nvPr/>
        </p:nvSpPr>
        <p:spPr>
          <a:xfrm>
            <a:off x="2057400" y="47731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17212B"/>
                </a:solidFill>
              </a:rPr>
              <a:t>Dentro de cada grupo, a ordenação considera os critérios definidos pelo SVG, incluindo histórico de operações, horas e engajamento.</a:t>
            </a:r>
            <a:endParaRPr lang="pt-BR" sz="1400" noProof="0" dirty="0"/>
          </a:p>
        </p:txBody>
      </p:sp>
      <p:sp>
        <p:nvSpPr>
          <p:cNvPr id="31" name="Text 29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Divisão de Operações Especiais – DOE</a:t>
            </a:r>
            <a:endParaRPr lang="pt-BR" sz="800" noProof="0" dirty="0"/>
          </a:p>
        </p:txBody>
      </p:sp>
      <p:sp>
        <p:nvSpPr>
          <p:cNvPr id="32" name="Text 30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06</a:t>
            </a:r>
            <a:endParaRPr lang="pt-BR" sz="8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140" noProof="0" dirty="0">
                <a:solidFill>
                  <a:srgbClr val="146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• VERSÃO OPERADORES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prático: grupos de prioridade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/mnt/data/1192323e-31d7-45f5-8d57-fc55059550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813816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06840" y="16002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4"/>
          <p:cNvSpPr/>
          <p:nvPr/>
        </p:nvSpPr>
        <p:spPr>
          <a:xfrm>
            <a:off x="9006840" y="1600200"/>
            <a:ext cx="64008" cy="105156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9235440" y="1783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17212B"/>
                </a:solidFill>
              </a:rPr>
              <a:t>PesoEquipe</a:t>
            </a:r>
            <a:endParaRPr lang="pt-BR" sz="1500" noProof="0" dirty="0"/>
          </a:p>
        </p:txBody>
      </p:sp>
      <p:sp>
        <p:nvSpPr>
          <p:cNvPr id="9" name="Text 6"/>
          <p:cNvSpPr/>
          <p:nvPr/>
        </p:nvSpPr>
        <p:spPr>
          <a:xfrm>
            <a:off x="9235440" y="2167128"/>
            <a:ext cx="20574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Separa os grupos conforme a situação operacional.</a:t>
            </a:r>
            <a:endParaRPr lang="pt-BR" sz="1150" noProof="0" dirty="0"/>
          </a:p>
        </p:txBody>
      </p:sp>
      <p:sp>
        <p:nvSpPr>
          <p:cNvPr id="10" name="Shape 7"/>
          <p:cNvSpPr/>
          <p:nvPr/>
        </p:nvSpPr>
        <p:spPr>
          <a:xfrm>
            <a:off x="9006840" y="283464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9006840" y="2834640"/>
            <a:ext cx="64008" cy="1051560"/>
          </a:xfrm>
          <a:prstGeom prst="rect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9235440" y="30175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17212B"/>
                </a:solidFill>
              </a:rPr>
              <a:t>SituaçãoEquipe</a:t>
            </a:r>
            <a:endParaRPr lang="pt-BR" sz="1500" noProof="0" dirty="0"/>
          </a:p>
        </p:txBody>
      </p:sp>
      <p:sp>
        <p:nvSpPr>
          <p:cNvPr id="13" name="Text 10"/>
          <p:cNvSpPr/>
          <p:nvPr/>
        </p:nvSpPr>
        <p:spPr>
          <a:xfrm>
            <a:off x="9235440" y="3401568"/>
            <a:ext cx="20574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Atual, Fantasma, Sobreaviso, Primeira Folga, Expediente e Próximo.</a:t>
            </a:r>
            <a:endParaRPr lang="pt-BR" sz="1150" noProof="0" dirty="0"/>
          </a:p>
        </p:txBody>
      </p:sp>
      <p:sp>
        <p:nvSpPr>
          <p:cNvPr id="14" name="Shape 11"/>
          <p:cNvSpPr/>
          <p:nvPr/>
        </p:nvSpPr>
        <p:spPr>
          <a:xfrm>
            <a:off x="9006840" y="4069080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2"/>
          <p:cNvSpPr/>
          <p:nvPr/>
        </p:nvSpPr>
        <p:spPr>
          <a:xfrm>
            <a:off x="9006840" y="4069080"/>
            <a:ext cx="64008" cy="1280160"/>
          </a:xfrm>
          <a:prstGeom prst="rect">
            <a:avLst/>
          </a:prstGeom>
          <a:solidFill>
            <a:srgbClr val="BFA46F"/>
          </a:solidFill>
          <a:ln w="12700">
            <a:solidFill>
              <a:srgbClr val="BFA46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9235440" y="4251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17212B"/>
                </a:solidFill>
              </a:rPr>
              <a:t>OrdemNaEquipe</a:t>
            </a:r>
            <a:endParaRPr lang="pt-BR" sz="1500" noProof="0" dirty="0"/>
          </a:p>
        </p:txBody>
      </p:sp>
      <p:sp>
        <p:nvSpPr>
          <p:cNvPr id="17" name="Text 14"/>
          <p:cNvSpPr/>
          <p:nvPr/>
        </p:nvSpPr>
        <p:spPr>
          <a:xfrm>
            <a:off x="9235440" y="4636008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5F6B76"/>
                </a:solidFill>
              </a:rPr>
              <a:t>Define a posição do operador dentro do seu próprio grupo.</a:t>
            </a:r>
            <a:endParaRPr lang="pt-BR" sz="1150" noProof="0" dirty="0"/>
          </a:p>
        </p:txBody>
      </p:sp>
      <p:sp>
        <p:nvSpPr>
          <p:cNvPr id="18" name="Text 15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Divisão de Operações Especiais – DOE</a:t>
            </a:r>
            <a:endParaRPr lang="pt-BR" sz="800" noProof="0" dirty="0"/>
          </a:p>
        </p:txBody>
      </p:sp>
      <p:sp>
        <p:nvSpPr>
          <p:cNvPr id="19" name="Text 16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07</a:t>
            </a:r>
            <a:endParaRPr lang="pt-BR" sz="8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140" noProof="0" dirty="0">
                <a:solidFill>
                  <a:srgbClr val="146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• VERSÃO OPERADORES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prático: ordenação dentro da equipe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/mnt/data/227c00e9-5a96-4c64-9553-e925da4b56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108356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60120" y="516636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E9F2FF"/>
          </a:solidFill>
          <a:ln w="12700">
            <a:solidFill>
              <a:srgbClr val="B8D6F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1143000" y="53766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SOE IV • Fantasma • Peso 5</a:t>
            </a:r>
            <a:endParaRPr lang="pt-BR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0" y="516636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6583680" y="53766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SOE I • Primeira Folga • Peso 3</a:t>
            </a:r>
            <a:endParaRPr lang="pt-BR" sz="1500" noProof="0" dirty="0"/>
          </a:p>
        </p:txBody>
      </p:sp>
      <p:sp>
        <p:nvSpPr>
          <p:cNvPr id="10" name="Text 7"/>
          <p:cNvSpPr/>
          <p:nvPr/>
        </p:nvSpPr>
        <p:spPr>
          <a:xfrm>
            <a:off x="914400" y="59893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noProof="0" dirty="0">
                <a:solidFill>
                  <a:srgbClr val="5F6B76"/>
                </a:solidFill>
              </a:rPr>
              <a:t>Operadores do mesmo grupo recebem uma ordem interna; somente depois o sistema avança para o grupo de prioridade seguinte.</a:t>
            </a:r>
            <a:endParaRPr lang="pt-BR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Divisão de Operações Especiais – DOE</a:t>
            </a:r>
            <a:endParaRPr lang="pt-BR" sz="800" noProof="0" dirty="0"/>
          </a:p>
        </p:txBody>
      </p:sp>
      <p:sp>
        <p:nvSpPr>
          <p:cNvPr id="12" name="Text 9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08</a:t>
            </a:r>
            <a:endParaRPr lang="pt-BR" sz="8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140" noProof="0" dirty="0">
                <a:solidFill>
                  <a:srgbClr val="146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• VERSÃO OPERADORES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do operador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1161288" y="1828800"/>
            <a:ext cx="685800" cy="685800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161288" y="2011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</a:rPr>
              <a:t>1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7212B"/>
                </a:solidFill>
              </a:rPr>
              <a:t>SVG ABERTO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76072" y="3200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5F6B76"/>
                </a:solidFill>
              </a:rPr>
              <a:t>Consulta as operações disponíveis</a:t>
            </a:r>
            <a:endParaRPr lang="pt-BR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2496312" y="1975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noProof="0" dirty="0">
                <a:solidFill>
                  <a:srgbClr val="8B96A1"/>
                </a:solidFill>
              </a:rPr>
              <a:t>→</a:t>
            </a:r>
            <a:endParaRPr lang="pt-BR" sz="2200" noProof="0" dirty="0"/>
          </a:p>
        </p:txBody>
      </p:sp>
      <p:sp>
        <p:nvSpPr>
          <p:cNvPr id="10" name="Shape 8"/>
          <p:cNvSpPr/>
          <p:nvPr/>
        </p:nvSpPr>
        <p:spPr>
          <a:xfrm>
            <a:off x="3493008" y="1828800"/>
            <a:ext cx="685800" cy="685800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493008" y="2011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</a:rPr>
              <a:t>2</a:t>
            </a:r>
            <a:endParaRPr lang="pt-BR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28346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7212B"/>
                </a:solidFill>
              </a:rPr>
              <a:t>VOLUNTARIAR</a:t>
            </a:r>
            <a:endParaRPr lang="pt-B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2907792" y="3200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5F6B76"/>
                </a:solidFill>
              </a:rPr>
              <a:t>Registra interesse na operação</a:t>
            </a:r>
            <a:endParaRPr lang="pt-BR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4828032" y="1975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noProof="0" dirty="0">
                <a:solidFill>
                  <a:srgbClr val="8B96A1"/>
                </a:solidFill>
              </a:rPr>
              <a:t>→</a:t>
            </a:r>
            <a:endParaRPr lang="pt-BR" sz="2200" noProof="0" dirty="0"/>
          </a:p>
        </p:txBody>
      </p:sp>
      <p:sp>
        <p:nvSpPr>
          <p:cNvPr id="15" name="Shape 13"/>
          <p:cNvSpPr/>
          <p:nvPr/>
        </p:nvSpPr>
        <p:spPr>
          <a:xfrm>
            <a:off x="5824728" y="1828800"/>
            <a:ext cx="685800" cy="685800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824728" y="2011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</a:rPr>
              <a:t>3</a:t>
            </a:r>
            <a:endParaRPr lang="pt-BR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51663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7212B"/>
                </a:solidFill>
              </a:rPr>
              <a:t>ESCALA</a:t>
            </a:r>
            <a:endParaRPr lang="pt-B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5239512" y="3200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5F6B76"/>
                </a:solidFill>
              </a:rPr>
              <a:t>Sistema identifica a situação operacional</a:t>
            </a:r>
            <a:endParaRPr lang="pt-BR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7159752" y="1975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noProof="0" dirty="0">
                <a:solidFill>
                  <a:srgbClr val="8B96A1"/>
                </a:solidFill>
              </a:rPr>
              <a:t>→</a:t>
            </a:r>
            <a:endParaRPr lang="pt-BR" sz="2200" noProof="0" dirty="0"/>
          </a:p>
        </p:txBody>
      </p:sp>
      <p:sp>
        <p:nvSpPr>
          <p:cNvPr id="20" name="Shape 18"/>
          <p:cNvSpPr/>
          <p:nvPr/>
        </p:nvSpPr>
        <p:spPr>
          <a:xfrm>
            <a:off x="8156448" y="1828800"/>
            <a:ext cx="685800" cy="685800"/>
          </a:xfrm>
          <a:prstGeom prst="ellipse">
            <a:avLst/>
          </a:prstGeom>
          <a:solidFill>
            <a:srgbClr val="146EF5"/>
          </a:solidFill>
          <a:ln w="12700">
            <a:solidFill>
              <a:srgbClr val="146EF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8156448" y="2011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</a:rPr>
              <a:t>4</a:t>
            </a:r>
            <a:endParaRPr lang="pt-BR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74980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7212B"/>
                </a:solidFill>
              </a:rPr>
              <a:t>PRIORIZAÇÃO</a:t>
            </a:r>
            <a:endParaRPr lang="pt-B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7571232" y="3200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5F6B76"/>
                </a:solidFill>
              </a:rPr>
              <a:t>Aplica grupo e ordem interna</a:t>
            </a:r>
            <a:endParaRPr lang="pt-B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9491472" y="1975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200" noProof="0" dirty="0">
                <a:solidFill>
                  <a:srgbClr val="8B96A1"/>
                </a:solidFill>
              </a:rPr>
              <a:t>→</a:t>
            </a:r>
            <a:endParaRPr lang="pt-BR" sz="2200" noProof="0" dirty="0"/>
          </a:p>
        </p:txBody>
      </p:sp>
      <p:sp>
        <p:nvSpPr>
          <p:cNvPr id="25" name="Shape 23"/>
          <p:cNvSpPr/>
          <p:nvPr/>
        </p:nvSpPr>
        <p:spPr>
          <a:xfrm>
            <a:off x="10488168" y="1828800"/>
            <a:ext cx="685800" cy="685800"/>
          </a:xfrm>
          <a:prstGeom prst="ellipse">
            <a:avLst/>
          </a:prstGeom>
          <a:solidFill>
            <a:srgbClr val="BFA46F"/>
          </a:solidFill>
          <a:ln w="12700">
            <a:solidFill>
              <a:srgbClr val="BFA46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10488168" y="2011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</a:rPr>
              <a:t>5</a:t>
            </a:r>
            <a:endParaRPr lang="pt-BR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982980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7212B"/>
                </a:solidFill>
              </a:rPr>
              <a:t>SELEÇÃO</a:t>
            </a:r>
            <a:endParaRPr lang="pt-BR" sz="1300" noProof="0" dirty="0"/>
          </a:p>
        </p:txBody>
      </p:sp>
      <p:sp>
        <p:nvSpPr>
          <p:cNvPr id="28" name="Text 26"/>
          <p:cNvSpPr/>
          <p:nvPr/>
        </p:nvSpPr>
        <p:spPr>
          <a:xfrm>
            <a:off x="9902952" y="3200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5F6B76"/>
                </a:solidFill>
              </a:rPr>
              <a:t>Resultado objetivo para composição</a:t>
            </a:r>
            <a:endParaRPr lang="pt-BR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1188720" y="5166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100" b="1" noProof="0" dirty="0">
                <a:solidFill>
                  <a:srgbClr val="17212B"/>
                </a:solidFill>
              </a:rPr>
              <a:t>Um fluxo único: da manifestação de interesse ao critério de seleção.</a:t>
            </a:r>
            <a:endParaRPr lang="pt-BR" sz="2100" noProof="0" dirty="0"/>
          </a:p>
        </p:txBody>
      </p:sp>
      <p:sp>
        <p:nvSpPr>
          <p:cNvPr id="30" name="Text 28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Divisão de Operações Especiais – DOE</a:t>
            </a:r>
            <a:endParaRPr lang="pt-BR" sz="800" noProof="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09</a:t>
            </a:r>
            <a:endParaRPr lang="pt-BR" sz="8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A0224-14E4-FB12-1C66-F98CA96A3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67A563-836F-76AC-49C5-6146C7679164}"/>
              </a:ext>
            </a:extLst>
          </p:cNvPr>
          <p:cNvSpPr/>
          <p:nvPr/>
        </p:nvSpPr>
        <p:spPr>
          <a:xfrm>
            <a:off x="731520" y="685800"/>
            <a:ext cx="32367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</a:rPr>
              <a:t>Escala equipes</a:t>
            </a:r>
            <a:endParaRPr lang="pt-BR" sz="3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3A585C-0F1E-3F93-866C-2B0E86CD5CC0}"/>
              </a:ext>
            </a:extLst>
          </p:cNvPr>
          <p:cNvSpPr/>
          <p:nvPr/>
        </p:nvSpPr>
        <p:spPr>
          <a:xfrm>
            <a:off x="73152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BFA46F"/>
                </a:solidFill>
              </a:rPr>
              <a:t>Versão Operadores</a:t>
            </a:r>
            <a:endParaRPr lang="pt-BR" sz="28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D22A52-9675-8F12-4431-EFBD925FBDEE}"/>
              </a:ext>
            </a:extLst>
          </p:cNvPr>
          <p:cNvSpPr/>
          <p:nvPr/>
        </p:nvSpPr>
        <p:spPr>
          <a:xfrm>
            <a:off x="731520" y="267462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FFFFFF"/>
                </a:solidFill>
              </a:rPr>
              <a:t>Visualização das equipes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b="1" noProof="0" dirty="0">
                <a:solidFill>
                  <a:srgbClr val="FFFFFF"/>
                </a:solidFill>
              </a:rPr>
              <a:t>Plantão no dia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b="1" noProof="0" dirty="0">
                <a:solidFill>
                  <a:srgbClr val="FFFFFF"/>
                </a:solidFill>
              </a:rPr>
              <a:t>Próxima equipe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b="1" noProof="0" dirty="0">
                <a:solidFill>
                  <a:srgbClr val="FFFFFF"/>
                </a:solidFill>
              </a:rPr>
              <a:t>Fantasma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b="1" noProof="0" dirty="0">
                <a:solidFill>
                  <a:srgbClr val="FFFFFF"/>
                </a:solidFill>
              </a:rPr>
              <a:t>Sobreaviso</a:t>
            </a:r>
          </a:p>
          <a:p>
            <a:pPr marL="0" indent="0">
              <a:buNone/>
            </a:pPr>
            <a:endParaRPr lang="pt-BR" sz="26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D523C3-8510-3984-5851-AE175CBED1C9}"/>
              </a:ext>
            </a:extLst>
          </p:cNvPr>
          <p:cNvSpPr/>
          <p:nvPr/>
        </p:nvSpPr>
        <p:spPr>
          <a:xfrm>
            <a:off x="731520" y="4445715"/>
            <a:ext cx="3840480" cy="0"/>
          </a:xfrm>
          <a:prstGeom prst="line">
            <a:avLst/>
          </a:prstGeom>
          <a:noFill/>
          <a:ln w="25400">
            <a:solidFill>
              <a:srgbClr val="BFA46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032F780-A122-C920-107A-514294494939}"/>
              </a:ext>
            </a:extLst>
          </p:cNvPr>
          <p:cNvSpPr/>
          <p:nvPr/>
        </p:nvSpPr>
        <p:spPr>
          <a:xfrm>
            <a:off x="73152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EB7C0"/>
                </a:solidFill>
              </a:rPr>
              <a:t>Divisão de Operações Especiais – DOE</a:t>
            </a:r>
            <a:endParaRPr lang="pt-BR" sz="13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2EEC3E-07ED-01E8-79AD-9EC5E96258C3}"/>
              </a:ext>
            </a:extLst>
          </p:cNvPr>
          <p:cNvSpPr/>
          <p:nvPr/>
        </p:nvSpPr>
        <p:spPr>
          <a:xfrm>
            <a:off x="73152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EB7C0"/>
                </a:solidFill>
              </a:rPr>
              <a:t>Wagner Nogueira – 73</a:t>
            </a:r>
            <a:endParaRPr lang="pt-BR" sz="1200" noProof="0" dirty="0"/>
          </a:p>
        </p:txBody>
      </p:sp>
    </p:spTree>
    <p:extLst>
      <p:ext uri="{BB962C8B-B14F-4D97-AF65-F5344CB8AC3E}">
        <p14:creationId xmlns:p14="http://schemas.microsoft.com/office/powerpoint/2010/main" val="852302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140" noProof="0" dirty="0">
                <a:solidFill>
                  <a:srgbClr val="146E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• VERSÃO OPERADORES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 de Plantão: contexto operacional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/mnt/data/9a854f0b-8226-4ba6-b5d1-bdf22072b6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7212B"/>
                </a:solidFill>
              </a:rPr>
              <a:t>A escala apresenta, em uma única visão, a composição das equipes que impactam a classificação do operador.</a:t>
            </a:r>
            <a:endParaRPr lang="pt-BR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Divisão de Operações Especiais – DOE</a:t>
            </a:r>
            <a:endParaRPr lang="pt-BR" sz="800" noProof="0" dirty="0"/>
          </a:p>
        </p:txBody>
      </p:sp>
      <p:sp>
        <p:nvSpPr>
          <p:cNvPr id="8" name="Text 5"/>
          <p:cNvSpPr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noProof="0" dirty="0">
                <a:solidFill>
                  <a:srgbClr val="7A858F"/>
                </a:solidFill>
              </a:rPr>
              <a:t>05</a:t>
            </a:r>
            <a:endParaRPr lang="pt-BR" sz="8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448E9-941C-1F7C-3BE0-D06683DE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F94708-566D-9758-C977-689E5DA317DE}"/>
              </a:ext>
            </a:extLst>
          </p:cNvPr>
          <p:cNvSpPr/>
          <p:nvPr/>
        </p:nvSpPr>
        <p:spPr>
          <a:xfrm>
            <a:off x="731520" y="685800"/>
            <a:ext cx="32367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</a:rPr>
              <a:t>Novo Módulo</a:t>
            </a:r>
            <a:endParaRPr lang="pt-BR" sz="3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A94D7F-3E07-AE51-C01B-EC7809C7A8BD}"/>
              </a:ext>
            </a:extLst>
          </p:cNvPr>
          <p:cNvSpPr/>
          <p:nvPr/>
        </p:nvSpPr>
        <p:spPr>
          <a:xfrm>
            <a:off x="73152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BFA46F"/>
                </a:solidFill>
              </a:rPr>
              <a:t>Controle de Afastamentos</a:t>
            </a:r>
            <a:endParaRPr lang="pt-BR" sz="28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0536C5-B9B4-CE3B-1076-C4DCE8C6F732}"/>
              </a:ext>
            </a:extLst>
          </p:cNvPr>
          <p:cNvSpPr/>
          <p:nvPr/>
        </p:nvSpPr>
        <p:spPr>
          <a:xfrm>
            <a:off x="731520" y="4445715"/>
            <a:ext cx="3840480" cy="0"/>
          </a:xfrm>
          <a:prstGeom prst="line">
            <a:avLst/>
          </a:prstGeom>
          <a:noFill/>
          <a:ln w="25400">
            <a:solidFill>
              <a:srgbClr val="BFA46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C6C800-0249-3B46-2AF5-317D1FC7C805}"/>
              </a:ext>
            </a:extLst>
          </p:cNvPr>
          <p:cNvSpPr/>
          <p:nvPr/>
        </p:nvSpPr>
        <p:spPr>
          <a:xfrm>
            <a:off x="73152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EB7C0"/>
                </a:solidFill>
              </a:rPr>
              <a:t>Divisão de Operações Especiais – DOE</a:t>
            </a:r>
            <a:endParaRPr lang="pt-BR" sz="13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25DE06-7410-7D6C-1D7D-8ACEA1609595}"/>
              </a:ext>
            </a:extLst>
          </p:cNvPr>
          <p:cNvSpPr/>
          <p:nvPr/>
        </p:nvSpPr>
        <p:spPr>
          <a:xfrm>
            <a:off x="73152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EB7C0"/>
                </a:solidFill>
              </a:rPr>
              <a:t>Wagner Nogueira – 73</a:t>
            </a:r>
            <a:endParaRPr lang="pt-BR" sz="1200" noProof="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298CB57-4B25-3887-916C-F7BEDCD9C13D}"/>
              </a:ext>
            </a:extLst>
          </p:cNvPr>
          <p:cNvSpPr txBox="1"/>
          <p:nvPr/>
        </p:nvSpPr>
        <p:spPr>
          <a:xfrm>
            <a:off x="731520" y="1788585"/>
            <a:ext cx="9052560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300">
                <a:solidFill>
                  <a:srgbClr val="AEB7C0"/>
                </a:solidFill>
              </a:defRPr>
            </a:lvl1pPr>
          </a:lstStyle>
          <a:p>
            <a:r>
              <a:rPr lang="pt-BR" dirty="0"/>
              <a:t>Consulta dos afastamentos da própria seção e aplicação das regras que impactam a elegibilidade para o SVG.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336D3D0E-BAA8-D55B-E3F3-04001E4F6322}"/>
              </a:ext>
            </a:extLst>
          </p:cNvPr>
          <p:cNvSpPr/>
          <p:nvPr/>
        </p:nvSpPr>
        <p:spPr>
          <a:xfrm>
            <a:off x="658368" y="28803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84553404-732A-5CFF-0E03-433576F48637}"/>
              </a:ext>
            </a:extLst>
          </p:cNvPr>
          <p:cNvSpPr txBox="1"/>
          <p:nvPr/>
        </p:nvSpPr>
        <p:spPr>
          <a:xfrm>
            <a:off x="658368" y="3081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CONSULTAR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C7D1372A-EC34-9F23-5A53-FAE28CAF5DDD}"/>
              </a:ext>
            </a:extLst>
          </p:cNvPr>
          <p:cNvSpPr txBox="1"/>
          <p:nvPr/>
        </p:nvSpPr>
        <p:spPr>
          <a:xfrm>
            <a:off x="2926080" y="3044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63EB"/>
                </a:solidFill>
                <a:latin typeface="Aptos"/>
              </a:defRPr>
            </a:pPr>
            <a:r>
              <a:rPr lang="pt-BR" noProof="0" dirty="0"/>
              <a:t>→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D26D080-0EB9-8AFD-63A1-849E989CD5D9}"/>
              </a:ext>
            </a:extLst>
          </p:cNvPr>
          <p:cNvSpPr/>
          <p:nvPr/>
        </p:nvSpPr>
        <p:spPr>
          <a:xfrm>
            <a:off x="3447287" y="28803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A6D96F47-D835-B8F8-10A4-C9077822C94F}"/>
              </a:ext>
            </a:extLst>
          </p:cNvPr>
          <p:cNvSpPr txBox="1"/>
          <p:nvPr/>
        </p:nvSpPr>
        <p:spPr>
          <a:xfrm>
            <a:off x="3447287" y="3081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IDENTIFICAR O TIPO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372FAB9-8295-4152-5512-2474643BE051}"/>
              </a:ext>
            </a:extLst>
          </p:cNvPr>
          <p:cNvSpPr txBox="1"/>
          <p:nvPr/>
        </p:nvSpPr>
        <p:spPr>
          <a:xfrm>
            <a:off x="5715000" y="3044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63EB"/>
                </a:solidFill>
                <a:latin typeface="Aptos"/>
              </a:defRPr>
            </a:pPr>
            <a:r>
              <a:rPr lang="pt-BR" noProof="0" dirty="0"/>
              <a:t>→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F24D5313-2758-9056-7E12-99336561374B}"/>
              </a:ext>
            </a:extLst>
          </p:cNvPr>
          <p:cNvSpPr/>
          <p:nvPr/>
        </p:nvSpPr>
        <p:spPr>
          <a:xfrm>
            <a:off x="6236207" y="28803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A39E3358-3CD3-AA69-16A8-9C11A3267734}"/>
              </a:ext>
            </a:extLst>
          </p:cNvPr>
          <p:cNvSpPr txBox="1"/>
          <p:nvPr/>
        </p:nvSpPr>
        <p:spPr>
          <a:xfrm>
            <a:off x="6236207" y="3081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VERIFICAR A REGRA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50599C12-3503-FB80-769C-151F1E7BDAC7}"/>
              </a:ext>
            </a:extLst>
          </p:cNvPr>
          <p:cNvSpPr txBox="1"/>
          <p:nvPr/>
        </p:nvSpPr>
        <p:spPr>
          <a:xfrm>
            <a:off x="8503919" y="3044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63EB"/>
                </a:solidFill>
                <a:latin typeface="Aptos"/>
              </a:defRPr>
            </a:pPr>
            <a:r>
              <a:rPr lang="pt-BR" noProof="0" dirty="0"/>
              <a:t>→</a:t>
            </a: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9E58A555-DE09-6195-AE91-DBC44A8DD8E0}"/>
              </a:ext>
            </a:extLst>
          </p:cNvPr>
          <p:cNvSpPr/>
          <p:nvPr/>
        </p:nvSpPr>
        <p:spPr>
          <a:xfrm>
            <a:off x="9025128" y="28803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03F328BA-1B49-A18D-98CF-42BF65A44983}"/>
              </a:ext>
            </a:extLst>
          </p:cNvPr>
          <p:cNvSpPr txBox="1"/>
          <p:nvPr/>
        </p:nvSpPr>
        <p:spPr>
          <a:xfrm>
            <a:off x="9025128" y="3081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ELEGIBILIDADE SVG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E70FFDFE-BDED-AB64-6E1A-78EC36C728FB}"/>
              </a:ext>
            </a:extLst>
          </p:cNvPr>
          <p:cNvSpPr txBox="1"/>
          <p:nvPr/>
        </p:nvSpPr>
        <p:spPr>
          <a:xfrm>
            <a:off x="617220" y="3836529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1F2A"/>
                </a:solidFill>
                <a:latin typeface="Aptos"/>
              </a:defRPr>
            </a:pPr>
            <a:r>
              <a:rPr lang="pt-BR" sz="1300" dirty="0">
                <a:solidFill>
                  <a:srgbClr val="AEB7C0"/>
                </a:solidFill>
              </a:rPr>
              <a:t>Afastamento não é sinônimo de impedimento. O sistema registra o período; a regra de elegibilidade define se aquele motivo impede ou não a prestação do SVG.</a:t>
            </a:r>
          </a:p>
        </p:txBody>
      </p:sp>
    </p:spTree>
    <p:extLst>
      <p:ext uri="{BB962C8B-B14F-4D97-AF65-F5344CB8AC3E}">
        <p14:creationId xmlns:p14="http://schemas.microsoft.com/office/powerpoint/2010/main" val="2183825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663EB"/>
                </a:solidFill>
                <a:latin typeface="Aptos"/>
              </a:defRPr>
            </a:pPr>
            <a:r>
              <a:rPr lang="pt-BR" noProof="0" dirty="0"/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Afastamentos da Seção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11480" y="1033271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pt-BR" noProof="0" dirty="0"/>
              <a:t>O operador visualiza os afastamentos da própria seção, com filtro por mês e ano e indicação da situação de cada período.</a:t>
            </a:r>
          </a:p>
        </p:txBody>
      </p:sp>
      <p:pic>
        <p:nvPicPr>
          <p:cNvPr id="6" name="Picture 5" descr="image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34" y="1444752"/>
            <a:ext cx="1029573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3796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1969E"/>
                </a:solidFill>
                <a:latin typeface="Aptos"/>
              </a:defRPr>
            </a:pPr>
            <a:r>
              <a:rPr lang="pt-BR" noProof="0" dirty="0"/>
              <a:t>Divisão de Operações Especiais – DOE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663EB"/>
                </a:solidFill>
                <a:latin typeface="Aptos"/>
              </a:defRPr>
            </a:pPr>
            <a:r>
              <a:rPr lang="pt-BR" noProof="0" dirty="0"/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Tipos de afastamento registrados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pt-BR" noProof="0" dirty="0"/>
              <a:t>Os registros consolidados das planilhas de planejamento passaram a ser tratados como períodos contínuos no 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3657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64008" cy="43434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67512" y="1709928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63EB"/>
                </a:solidFill>
                <a:latin typeface="Aptos"/>
              </a:defRPr>
            </a:pPr>
            <a:r>
              <a:rPr lang="pt-BR" noProof="0" dirty="0"/>
              <a:t>Afastamentos recorrentes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334670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Férias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Abono de ponto anual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Abono de aniversário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Licença para tratamento de saúde própria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572768"/>
            <a:ext cx="3657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279392" y="1572768"/>
            <a:ext cx="64008" cy="4343400"/>
          </a:xfrm>
          <a:prstGeom prst="rect">
            <a:avLst/>
          </a:prstGeom>
          <a:solidFill>
            <a:srgbClr val="B4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443983" y="1709928"/>
            <a:ext cx="33649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7814"/>
                </a:solidFill>
                <a:latin typeface="Aptos"/>
              </a:defRPr>
            </a:pPr>
            <a:r>
              <a:rPr lang="pt-BR" noProof="0" dirty="0"/>
              <a:t>Outros tipos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2048256"/>
            <a:ext cx="334670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Licença-prêmio por assiduidade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Licença paternidade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Licença por interesse particular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Jogos Policiais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572768"/>
            <a:ext cx="3657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8055864" y="1572768"/>
            <a:ext cx="64008" cy="43434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220456" y="1709928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8754"/>
                </a:solidFill>
                <a:latin typeface="Aptos"/>
              </a:defRPr>
            </a:pPr>
            <a:r>
              <a:rPr lang="pt-BR" noProof="0" dirty="0"/>
              <a:t>Planejamento / atividade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048256"/>
            <a:ext cx="334670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Curso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Recesso de fim de ano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Períodos podem atravessar meses e continuam sendo um único afastamento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Podem existir motivos simultâneos; os registros não devem ser apagados ou fundidos quando os tipos forem diferentes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1969E"/>
                </a:solidFill>
                <a:latin typeface="Aptos"/>
              </a:defRPr>
            </a:pPr>
            <a:r>
              <a:rPr lang="pt-BR" noProof="0" dirty="0"/>
              <a:t>Divisão de Operações Especiais – DOE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663EB"/>
                </a:solidFill>
                <a:latin typeface="Aptos"/>
              </a:defRPr>
            </a:pPr>
            <a:r>
              <a:rPr lang="pt-BR" noProof="0" dirty="0"/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Regras de elegibilidade para o SVG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0972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11480" y="1042415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9737D"/>
                </a:solidFill>
                <a:latin typeface="Aptos"/>
              </a:defRPr>
            </a:pPr>
            <a:r>
              <a:rPr lang="pt-BR" noProof="0" dirty="0"/>
              <a:t>A data da operação é confrontada com os afastamentos e impedimentos vigentes do operador.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36192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64008" cy="45262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67512" y="1673351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3737"/>
                </a:solidFill>
                <a:latin typeface="Aptos"/>
              </a:defRPr>
            </a:pPr>
            <a:r>
              <a:rPr lang="pt-BR" noProof="0" dirty="0"/>
              <a:t>Afastamentos que impedem o SVG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11680"/>
            <a:ext cx="33467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Licença para capacitação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Licença-prêmio por assiduidade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Licença por interesse particular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Saúde própria ou de pessoa da família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Mandato classista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Afastamento do cônjuge/companheiro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Missão ou curso no exterior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536192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279392" y="1536192"/>
            <a:ext cx="64008" cy="45262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443983" y="1673351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8754"/>
                </a:solidFill>
                <a:latin typeface="Aptos"/>
              </a:defRPr>
            </a:pPr>
            <a:r>
              <a:rPr lang="pt-BR" noProof="0" dirty="0"/>
              <a:t>Afastamentos que não impedem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2011680"/>
            <a:ext cx="33467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Férias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Abono de ponto anual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Abono de aniversário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Estar afastado, por si só, não significa estar impedido de prestar SVG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536192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8055864" y="1536192"/>
            <a:ext cx="64008" cy="4526280"/>
          </a:xfrm>
          <a:prstGeom prst="rect">
            <a:avLst/>
          </a:prstGeom>
          <a:solidFill>
            <a:srgbClr val="B4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220456" y="1673351"/>
            <a:ext cx="3364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7814"/>
                </a:solidFill>
                <a:latin typeface="Aptos"/>
              </a:defRPr>
            </a:pPr>
            <a:r>
              <a:rPr lang="pt-BR" noProof="0" dirty="0"/>
              <a:t>Outros impedimentos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011680"/>
            <a:ext cx="33467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Punição disciplinar ou penalidade administrativa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Porte de arma suspenso ou cassado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Restrição médica operacional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Cessão ou requisição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Horário especial / redução de carga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Treinamento obrigatório pendente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Penalidade específica de SVG</a:t>
            </a:r>
          </a:p>
          <a:p>
            <a:pPr>
              <a:spcAft>
                <a:spcPts val="500"/>
              </a:spcAft>
              <a:defRPr sz="919">
                <a:solidFill>
                  <a:srgbClr val="161F2A"/>
                </a:solidFill>
                <a:latin typeface="Aptos"/>
              </a:defRPr>
            </a:pPr>
            <a:r>
              <a:rPr lang="pt-BR" noProof="0" dirty="0"/>
              <a:t>• Restrição médica: durante a restrição e por mais 15 dias após o término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1969E"/>
                </a:solidFill>
                <a:latin typeface="Aptos"/>
              </a:defRPr>
            </a:pPr>
            <a:r>
              <a:rPr lang="pt-BR" noProof="0" dirty="0"/>
              <a:t>Divisão de Operações Especiais – DOE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00" b="1" noProof="0" dirty="0">
                <a:solidFill>
                  <a:srgbClr val="BE9A52"/>
                </a:solidFill>
                <a:latin typeface="Aptos"/>
              </a:rPr>
              <a:t>NOVO MÓDULO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3400" b="1" noProof="0" dirty="0">
                <a:solidFill>
                  <a:srgbClr val="FFFFFF"/>
                </a:solidFill>
                <a:latin typeface="Aptos"/>
              </a:rPr>
              <a:t>Controle de Viaturas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9875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800" b="0" noProof="0" dirty="0">
                <a:solidFill>
                  <a:srgbClr val="CDD2D7"/>
                </a:solidFill>
                <a:latin typeface="Aptos"/>
              </a:rPr>
              <a:t>Fluxo operacional para consulta, retirada, utilização, devolução e acompanhamento das viaturas da DOE.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800" b="1" noProof="0" dirty="0">
                <a:solidFill>
                  <a:srgbClr val="BE9A52"/>
                </a:solidFill>
                <a:latin typeface="Aptos"/>
              </a:rPr>
              <a:t>LISTAR  →  RETIRAR  →  EM USO  →  DEVOLVER  →  HISTÓRICO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6364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969EA6"/>
                </a:solidFill>
                <a:latin typeface="Aptos"/>
              </a:rPr>
              <a:t>Divisão de Operações Especiais – DOE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Tela inicial: o painel central da frota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554480"/>
            <a:ext cx="2697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8732520" y="1554480"/>
            <a:ext cx="54864" cy="105156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933688" y="1554480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Identificação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1874520"/>
            <a:ext cx="22677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Prefixo, placa, modelo, tipo e seção identificam cada viatura.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761488"/>
            <a:ext cx="2697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732520" y="2761488"/>
            <a:ext cx="54864" cy="1051560"/>
          </a:xfrm>
          <a:prstGeom prst="rect">
            <a:avLst/>
          </a:prstGeom>
          <a:solidFill>
            <a:srgbClr val="BE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933688" y="2889504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Controle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3209544"/>
            <a:ext cx="22677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KM atual, último abastecimento, revisão e situação ficam reunidos na listagem.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968496"/>
            <a:ext cx="26974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732520" y="3968496"/>
            <a:ext cx="54864" cy="12984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933688" y="4224528"/>
            <a:ext cx="23865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Ponto de partida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4544568"/>
            <a:ext cx="22677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A situação libera a ação adequada: Retirar, Devolver ou Histórico.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25312"/>
            <a:ext cx="10607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120" noProof="0" dirty="0"/>
              <a:t>A tela inicial concentra a posição atual da frota e é o ponto de entrada para todas as movimentações.</a:t>
            </a:r>
          </a:p>
        </p:txBody>
      </p:sp>
      <p:pic>
        <p:nvPicPr>
          <p:cNvPr id="21" name="Picture 20" descr="792d2313-c03f-4b4d-92ca-4466812bda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3190"/>
            <a:ext cx="8001000" cy="32345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Controle de Viaturas: tela inicial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pic>
        <p:nvPicPr>
          <p:cNvPr id="7" name="Picture 6" descr="ChatGPT Image 18 de set. de 2026, 17_17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33081"/>
            <a:ext cx="8366760" cy="27861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034272" y="1572768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9034272" y="1572768"/>
            <a:ext cx="54864" cy="105156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235440" y="1664208"/>
            <a:ext cx="21122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Pesquisa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993392"/>
            <a:ext cx="2112264" cy="5577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Busca por prefixo, placa, modelo ou responsável.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2761488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9034272" y="2761488"/>
            <a:ext cx="54864" cy="123444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235440" y="2852928"/>
            <a:ext cx="21122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Filtros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182112"/>
            <a:ext cx="2112264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Seção, tipo, situação e revisão podem ser combinados para localizar rapidamente a viatura.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4160520"/>
            <a:ext cx="24231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9034272" y="4160520"/>
            <a:ext cx="54864" cy="12984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235440" y="4251959"/>
            <a:ext cx="21122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Situação e 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581144"/>
            <a:ext cx="2112264" cy="8046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 listagem mostra disponibilidade e libera Retirar, Devolver ou Histórico conforme o estado atual.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076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A tela inicial funciona como o ponto central de consulta e movimentação da frota.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Retirada de Viatura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34828"/>
            <a:ext cx="5943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13</a:t>
            </a:r>
          </a:p>
        </p:txBody>
      </p:sp>
      <p:pic>
        <p:nvPicPr>
          <p:cNvPr id="7" name="Picture 6" descr="b45bbcb0-32b4-490e-9067-17667852f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2346"/>
            <a:ext cx="5440680" cy="47705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572768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309360" y="1572768"/>
            <a:ext cx="54864" cy="932688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510528" y="1664208"/>
            <a:ext cx="4581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1. Identificação da viatura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93392"/>
            <a:ext cx="45811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Antes da retirada, o operador confere prefixo, modelo, placa, seção e quilometragem atual.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88336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6309360" y="2688336"/>
            <a:ext cx="54864" cy="932688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510528" y="2779776"/>
            <a:ext cx="4581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2. Operador responsável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108960"/>
            <a:ext cx="45811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O operador logado é selecionado automaticamente. Se necessário, é possível pesquisar outro operador.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03904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309360" y="3803904"/>
            <a:ext cx="54864" cy="932688"/>
          </a:xfrm>
          <a:prstGeom prst="rect">
            <a:avLst/>
          </a:prstGeom>
          <a:solidFill>
            <a:srgbClr val="BE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510528" y="3895344"/>
            <a:ext cx="4581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3. Finalidade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224528"/>
            <a:ext cx="45811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 finalidade da utilização é registrada no momento da retirada.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919472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6309360" y="4919472"/>
            <a:ext cx="54864" cy="93268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510528" y="5010912"/>
            <a:ext cx="4581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4. Observação e confirmação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5340096"/>
            <a:ext cx="45811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O campo de observação é opcional; Confirmar Retirada registra a movimentação.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Devolução de Viatura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45015" y="6511028"/>
            <a:ext cx="57642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14</a:t>
            </a:r>
          </a:p>
        </p:txBody>
      </p:sp>
      <p:pic>
        <p:nvPicPr>
          <p:cNvPr id="7" name="Picture 6" descr="d3498983-8c45-4922-b3ea-412fa32a97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3888"/>
            <a:ext cx="5257800" cy="3928006"/>
          </a:xfrm>
          <a:prstGeom prst="rect">
            <a:avLst/>
          </a:prstGeom>
        </p:spPr>
      </p:pic>
      <p:pic>
        <p:nvPicPr>
          <p:cNvPr id="8" name="Picture 7" descr="4d9b0694-b8af-4fb1-a922-aa371403fb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543" y="1444752"/>
            <a:ext cx="4836472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71032"/>
            <a:ext cx="4983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50" b="1" noProof="0" dirty="0">
                <a:solidFill>
                  <a:srgbClr val="1C2228"/>
                </a:solidFill>
                <a:latin typeface="Aptos"/>
              </a:rPr>
              <a:t>SEM REGISTRO DE ABASTECIMENTO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5971032"/>
            <a:ext cx="4983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50" b="1" noProof="0" dirty="0">
                <a:solidFill>
                  <a:srgbClr val="1C2228"/>
                </a:solidFill>
                <a:latin typeface="Aptos"/>
              </a:rPr>
              <a:t>COM REGISTRO DE ABASTECIMENTO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00" b="0" noProof="0" dirty="0">
                <a:solidFill>
                  <a:srgbClr val="5A626A"/>
                </a:solidFill>
                <a:latin typeface="Aptos"/>
              </a:rPr>
              <a:t>Na devolução são informados o responsável e o KM atual. Ao marcar que houve abastecimento, o sistema solicita também o KM do abastecimento.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Devolução: dados que atualizam a viatura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6120" y="6481310"/>
            <a:ext cx="655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15</a:t>
            </a:r>
          </a:p>
        </p:txBody>
      </p:sp>
      <p:pic>
        <p:nvPicPr>
          <p:cNvPr id="7" name="Picture 6" descr="4d9b0694-b8af-4fb1-a922-aa371403fb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63" y="1417320"/>
            <a:ext cx="5129592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60020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355080" y="1600200"/>
            <a:ext cx="54864" cy="91440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556248" y="1691640"/>
            <a:ext cx="4489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Responsável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20824"/>
            <a:ext cx="4489704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Registra quem está efetivamente devolvendo a viatura.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69748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6355080" y="2697480"/>
            <a:ext cx="54864" cy="91440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556248" y="2788920"/>
            <a:ext cx="4489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KM da devolução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118104"/>
            <a:ext cx="4489704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Atualiza a quilometragem corrente da viatura.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9476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355080" y="3794760"/>
            <a:ext cx="54864" cy="9144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556248" y="3886200"/>
            <a:ext cx="4489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Abastecimento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215384"/>
            <a:ext cx="4489704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O controle registra se houve abastecimento e, quando houver, em qual quilometragem.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89204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6355080" y="4892040"/>
            <a:ext cx="54864" cy="914400"/>
          </a:xfrm>
          <a:prstGeom prst="rect">
            <a:avLst/>
          </a:prstGeom>
          <a:solidFill>
            <a:srgbClr val="BE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556248" y="4983479"/>
            <a:ext cx="4489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Nova disponibilidade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312664"/>
            <a:ext cx="4489704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Após a confirmação, a movimentação é encerrada e os dados ficam disponíveis para o controle da frota.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Histórico da Viatura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040" y="6467594"/>
            <a:ext cx="5334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7968" y="1554480"/>
            <a:ext cx="254203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8887968" y="1554480"/>
            <a:ext cx="54864" cy="1051560"/>
          </a:xfrm>
          <a:prstGeom prst="rect">
            <a:avLst/>
          </a:prstGeom>
          <a:solidFill>
            <a:srgbClr val="147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089136" y="1554480"/>
            <a:ext cx="22311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Movimentações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1874520"/>
            <a:ext cx="22677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Registra cronologicamente cada retirada e devolução.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7968" y="2761488"/>
            <a:ext cx="254203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887968" y="2761488"/>
            <a:ext cx="54864" cy="12344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089136" y="2889504"/>
            <a:ext cx="22311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Rastreabilidade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3209544"/>
            <a:ext cx="226771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Exibe operador, finalidade, KM inicial/final, abastecimento, revisão e observação.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4160520"/>
            <a:ext cx="254203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887968" y="4160520"/>
            <a:ext cx="54864" cy="1188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089136" y="4297680"/>
            <a:ext cx="22311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350" noProof="0" dirty="0"/>
              <a:t>Abastecimento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4617720"/>
            <a:ext cx="22677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969" noProof="0" dirty="0"/>
              <a:t>Mostra se houve abastecimento e o KM em que ocorreu.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2531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120" noProof="0" dirty="0"/>
              <a:t>O histórico cria rastreabilidade do uso e permite conferir a evolução da quilometragem e dos abastecimentos.</a:t>
            </a:r>
          </a:p>
        </p:txBody>
      </p:sp>
      <p:pic>
        <p:nvPicPr>
          <p:cNvPr id="21" name="Picture 20" descr="6c5b6ba3-7615-43af-83e4-fb9c3c2716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76745"/>
            <a:ext cx="8138160" cy="16074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Fluxo operacional do Controle de Viaturas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LISTAR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Consulta a frota e identifica a viatura.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999232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b="1" noProof="0" dirty="0">
                <a:solidFill>
                  <a:srgbClr val="BE9A5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2944368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RETIRAR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Define responsável, finalidade e observação.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999232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b="1" noProof="0" dirty="0">
                <a:solidFill>
                  <a:srgbClr val="BE9A5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248656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EM 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A situação da viatura passa a refletir a utilização.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2999232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b="1" noProof="0" dirty="0">
                <a:solidFill>
                  <a:srgbClr val="BE9A52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3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7552944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DEVOLVER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Registra KM e eventual abastecimento.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999232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000" b="1" noProof="0" dirty="0">
                <a:solidFill>
                  <a:srgbClr val="BE9A52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0072" y="1874519"/>
            <a:ext cx="2084831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9857232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2200" b="1" noProof="0" dirty="0">
                <a:solidFill>
                  <a:srgbClr val="1471E6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633472"/>
            <a:ext cx="18105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1C2228"/>
                </a:solidFill>
                <a:latin typeface="Aptos"/>
              </a:rPr>
              <a:t>HISTÓRICO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246120"/>
            <a:ext cx="1773936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130" b="0" noProof="0" dirty="0">
                <a:solidFill>
                  <a:srgbClr val="5A626A"/>
                </a:solidFill>
                <a:latin typeface="Aptos"/>
              </a:rPr>
              <a:t>Movimentações ficam disponíveis para consulta.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400" b="1" noProof="0" dirty="0">
                <a:solidFill>
                  <a:srgbClr val="1C2228"/>
                </a:solidFill>
                <a:latin typeface="Aptos"/>
              </a:rPr>
              <a:t>O fluxo mantém a situação da viatura atualizada e cria rastreabilidade entre retirada e devolução.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Alertas de revisão: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18</a:t>
            </a:r>
          </a:p>
        </p:txBody>
      </p:sp>
      <p:pic>
        <p:nvPicPr>
          <p:cNvPr id="7" name="Picture 6" descr="WhatsApp Image 2026-09-18 at 10.44.2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" y="1417320"/>
            <a:ext cx="8128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600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8915400" y="1600200"/>
            <a:ext cx="54864" cy="1143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116568" y="169164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Próxima da revisão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6568" y="2020824"/>
            <a:ext cx="2203704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Destaque preventivo para viaturas próximas da quilometragem de revisão.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9260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8915400" y="2926080"/>
            <a:ext cx="54864" cy="1143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16568" y="301752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Revisão vencida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8" y="3346704"/>
            <a:ext cx="2203704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Destaque crítico quando a quilometragem cadastrada já foi atingida ou ultrapassada.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425196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915400" y="4251960"/>
            <a:ext cx="54864" cy="1143000"/>
          </a:xfrm>
          <a:prstGeom prst="rect">
            <a:avLst/>
          </a:prstGeom>
          <a:solidFill>
            <a:srgbClr val="BE9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9116568" y="434340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450" b="1" noProof="0" dirty="0">
                <a:solidFill>
                  <a:srgbClr val="1C2228"/>
                </a:solidFill>
                <a:latin typeface="Aptos"/>
              </a:rPr>
              <a:t>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4672584"/>
            <a:ext cx="2203704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120" b="0" noProof="0" dirty="0">
                <a:solidFill>
                  <a:srgbClr val="5A626A"/>
                </a:solidFill>
                <a:latin typeface="Aptos"/>
              </a:rPr>
              <a:t>O painel consolida quantas viaturas exigem atenção.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076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50" b="1" noProof="0" dirty="0">
                <a:solidFill>
                  <a:srgbClr val="1C2228"/>
                </a:solidFill>
                <a:latin typeface="Aptos"/>
              </a:rPr>
              <a:t>Os alertas aparecem depois do fluxo operacional porque dependem da quilometragem mantida pelo próprio controle de retirada e devolução.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Alertas durante a retirada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19</a:t>
            </a:r>
          </a:p>
        </p:txBody>
      </p:sp>
      <p:pic>
        <p:nvPicPr>
          <p:cNvPr id="7" name="Picture 6" descr="WhatsApp Image 2026-09-18 at 10.48.5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56" y="1481328"/>
            <a:ext cx="4239806" cy="4526280"/>
          </a:xfrm>
          <a:prstGeom prst="rect">
            <a:avLst/>
          </a:prstGeom>
        </p:spPr>
      </p:pic>
      <p:pic>
        <p:nvPicPr>
          <p:cNvPr id="8" name="Picture 7" descr="WhatsApp Image 2026-09-18 at 10.48.0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521" y="1481328"/>
            <a:ext cx="4346052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016752"/>
            <a:ext cx="5074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966900"/>
                </a:solidFill>
                <a:latin typeface="Aptos"/>
              </a:rPr>
              <a:t>PRÓXIMA DA REVISÃO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6016752"/>
            <a:ext cx="5074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DC3545"/>
                </a:solidFill>
                <a:latin typeface="Aptos"/>
              </a:rPr>
              <a:t>REVISÃO VENCIDA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00" b="0" noProof="0" dirty="0">
                <a:solidFill>
                  <a:srgbClr val="5A626A"/>
                </a:solidFill>
                <a:latin typeface="Aptos"/>
              </a:rPr>
              <a:t>O operador é alertado antes de confirmar a retirada, sem perder as demais informações do fluxo.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5212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1000" b="1" noProof="0" dirty="0">
                <a:solidFill>
                  <a:srgbClr val="1471E6"/>
                </a:solidFill>
                <a:latin typeface="Aptos"/>
              </a:rPr>
              <a:t>SVG • VERSÃO OPERADORES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2600" b="1" noProof="0" dirty="0">
                <a:solidFill>
                  <a:srgbClr val="1C2228"/>
                </a:solidFill>
                <a:latin typeface="Aptos"/>
              </a:rPr>
              <a:t>Alertas durante a devolução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10972800" cy="13716"/>
          </a:xfrm>
          <a:prstGeom prst="rect">
            <a:avLst/>
          </a:prstGeom>
          <a:solidFill>
            <a:srgbClr val="E0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5653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pt-BR" sz="800" b="0" noProof="0" dirty="0">
                <a:solidFill>
                  <a:srgbClr val="5A626A"/>
                </a:solidFill>
                <a:latin typeface="Aptos"/>
              </a:rPr>
              <a:t>Divisão de Operações Especiais –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6539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noProof="0" dirty="0"/>
              <a:t>20</a:t>
            </a:r>
          </a:p>
        </p:txBody>
      </p:sp>
      <p:pic>
        <p:nvPicPr>
          <p:cNvPr id="7" name="Picture 6" descr="WhatsApp Image 2026-09-18 at 10.58.48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22" y="1481328"/>
            <a:ext cx="5003074" cy="4526280"/>
          </a:xfrm>
          <a:prstGeom prst="rect">
            <a:avLst/>
          </a:prstGeom>
        </p:spPr>
      </p:pic>
      <p:pic>
        <p:nvPicPr>
          <p:cNvPr id="8" name="Picture 7" descr="WhatsApp Image 2026-09-18 at 10.58.4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605" y="1481328"/>
            <a:ext cx="4963885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016752"/>
            <a:ext cx="5074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966900"/>
                </a:solidFill>
                <a:latin typeface="Aptos"/>
              </a:rPr>
              <a:t>ATENÇÃO À REVISÃO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6016752"/>
            <a:ext cx="5074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350" b="1" noProof="0" dirty="0">
                <a:solidFill>
                  <a:srgbClr val="DC3545"/>
                </a:solidFill>
                <a:latin typeface="Aptos"/>
              </a:rPr>
              <a:t>REVISÃO VENCIDA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200" b="0" noProof="0" dirty="0">
                <a:solidFill>
                  <a:srgbClr val="5A626A"/>
                </a:solidFill>
                <a:latin typeface="Aptos"/>
              </a:rPr>
              <a:t>Na devolução, o alerta reflete a quilometragem registrada e mantém a necessidade de manutenção visível.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6570</TotalTime>
  <Words>1650</Words>
  <Application>Microsoft Office PowerPoint</Application>
  <PresentationFormat>Widescreen</PresentationFormat>
  <Paragraphs>299</Paragraphs>
  <Slides>26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Divisão de Operações Especiais - DOE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 - Versão Operadores</dc:title>
  <dc:subject>Sistema de Gerenciamento do Serviço Voluntário - Versão Operadores</dc:subject>
  <dc:creator>Wagner Nogueira</dc:creator>
  <cp:lastModifiedBy>Wagner Nogueira</cp:lastModifiedBy>
  <cp:revision>9</cp:revision>
  <dcterms:created xsi:type="dcterms:W3CDTF">2026-09-08T00:14:46Z</dcterms:created>
  <dcterms:modified xsi:type="dcterms:W3CDTF">2026-10-07T20:43:28Z</dcterms:modified>
</cp:coreProperties>
</file>