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67" r:id="rId2"/>
    <p:sldId id="256" r:id="rId3"/>
    <p:sldId id="257" r:id="rId4"/>
    <p:sldId id="266" r:id="rId5"/>
    <p:sldId id="258" r:id="rId6"/>
    <p:sldId id="259" r:id="rId7"/>
    <p:sldId id="261" r:id="rId8"/>
    <p:sldId id="262" r:id="rId9"/>
    <p:sldId id="263" r:id="rId10"/>
    <p:sldId id="264" r:id="rId11"/>
    <p:sldId id="260" r:id="rId12"/>
    <p:sldId id="265" r:id="rId13"/>
    <p:sldId id="268" r:id="rId19"/>
    <p:sldId id="277" r:id="rId28"/>
    <p:sldId id="269" r:id="rId20"/>
    <p:sldId id="270" r:id="rId21"/>
    <p:sldId id="271" r:id="rId22"/>
    <p:sldId id="272" r:id="rId23"/>
    <p:sldId id="278" r:id="rId29"/>
    <p:sldId id="273" r:id="rId24"/>
    <p:sldId id="274" r:id="rId25"/>
    <p:sldId id="275" r:id="rId26"/>
    <p:sldId id="276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20" autoAdjust="0"/>
    <p:restoredTop sz="94610"/>
  </p:normalViewPr>
  <p:slideViewPr>
    <p:cSldViewPr snapToGrid="0" snapToObjects="1">
      <p:cViewPr varScale="1">
        <p:scale>
          <a:sx n="90" d="100"/>
          <a:sy n="90" d="100"/>
        </p:scale>
        <p:origin x="491" y="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14.xml"/><Relationship Id="rId29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47542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17369884-B95B-8E30-4A0E-199658219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4167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31520"/>
            <a:ext cx="73152" cy="5212080"/>
          </a:xfrm>
          <a:prstGeom prst="rect">
            <a:avLst/>
          </a:prstGeom>
          <a:solidFill>
            <a:srgbClr val="BFA46F"/>
          </a:solidFill>
          <a:ln w="12700">
            <a:solidFill>
              <a:srgbClr val="BFA46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51560" y="10058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</a:rPr>
              <a:t>SVG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0"/>
            <a:ext cx="7132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Sistema de Gerenciamento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do Serviço Voluntário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078992" y="3246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BFA46F"/>
                </a:solidFill>
              </a:rPr>
              <a:t>VERSÃO OPERADORES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78992" y="5257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8DEE5"/>
                </a:solidFill>
              </a:rPr>
              <a:t>Divisão de Operações Especiais – DOE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5669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EB7C0"/>
                </a:solidFill>
              </a:rPr>
              <a:t>Wagner Nogueira – 73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 rot="1800000">
            <a:off x="8778240" y="1097280"/>
            <a:ext cx="2194560" cy="2194560"/>
          </a:xfrm>
          <a:prstGeom prst="arc">
            <a:avLst/>
          </a:prstGeom>
          <a:solidFill>
            <a:srgbClr val="17212B">
              <a:alpha val="0"/>
            </a:srgbClr>
          </a:solidFill>
          <a:ln w="50800">
            <a:solidFill>
              <a:srgbClr val="BFA46F">
                <a:alpha val="65000"/>
              </a:srgbClr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40" dirty="0">
                <a:solidFill>
                  <a:srgbClr val="146E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SVG • VERSÃO OPERADORES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Objetivo da versão Operadores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12700">
            <a:solidFill>
              <a:srgbClr val="D8DEE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600200"/>
            <a:ext cx="3429000" cy="347472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85800" y="1600200"/>
            <a:ext cx="64008" cy="3474720"/>
          </a:xfrm>
          <a:prstGeom prst="rect">
            <a:avLst/>
          </a:prstGeom>
          <a:solidFill>
            <a:srgbClr val="146EF5"/>
          </a:solidFill>
          <a:ln w="12700">
            <a:solidFill>
              <a:srgbClr val="146EF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178308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Autonomia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167128"/>
            <a:ext cx="3017520" cy="2761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F6B76"/>
                </a:solidFill>
              </a:rPr>
              <a:t>O operador consulta as oportunidades de SVG e gerencia sua manifestação de interesse diretamente no sistema.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3429000" cy="347472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389120" y="1600200"/>
            <a:ext cx="64008" cy="3474720"/>
          </a:xfrm>
          <a:prstGeom prst="rect">
            <a:avLst/>
          </a:prstGeom>
          <a:solidFill>
            <a:srgbClr val="146EF5"/>
          </a:solidFill>
          <a:ln w="12700">
            <a:solidFill>
              <a:srgbClr val="146EF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17720" y="178308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Transparência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17720" y="2167128"/>
            <a:ext cx="3017520" cy="2761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F6B76"/>
                </a:solidFill>
              </a:rPr>
              <a:t>Vagas, voluntários, situação da escala e critérios de ordenação ficam visíveis e estruturados.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92440" y="1600200"/>
            <a:ext cx="3429000" cy="347472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092440" y="1600200"/>
            <a:ext cx="64008" cy="3474720"/>
          </a:xfrm>
          <a:prstGeom prst="rect">
            <a:avLst/>
          </a:prstGeom>
          <a:solidFill>
            <a:srgbClr val="146EF5"/>
          </a:solidFill>
          <a:ln w="12700">
            <a:solidFill>
              <a:srgbClr val="146EF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321040" y="178308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Organização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21040" y="2167128"/>
            <a:ext cx="3017520" cy="2761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F6B76"/>
                </a:solidFill>
              </a:rPr>
              <a:t>O fluxo centraliza inscrição, escala e priorização, reduzindo controles paralelos e decisões manuais.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005840" y="553212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212B"/>
                </a:solidFill>
              </a:rPr>
              <a:t>Do acesso à seleção, o foco é tornar o processo simples para o operador e objetivo para a gestão.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94360" y="651052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858F"/>
                </a:solidFill>
              </a:rPr>
              <a:t>Divisão de Operações Especiais – DOE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A858F"/>
                </a:solidFill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85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SVG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BFA46F"/>
                </a:solidFill>
              </a:rPr>
              <a:t>Versão Operadores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2240280"/>
            <a:ext cx="7772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Mais autonomia para o operador.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Mais transparência no processo.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Mais organização para a DOE.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4251960"/>
            <a:ext cx="3840480" cy="0"/>
          </a:xfrm>
          <a:prstGeom prst="line">
            <a:avLst/>
          </a:prstGeom>
          <a:noFill/>
          <a:ln w="25400">
            <a:solidFill>
              <a:srgbClr val="BFA46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46177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8DEE5"/>
                </a:solidFill>
              </a:rPr>
              <a:t>Sistema de Gerenciamento do Serviço Voluntário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5074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EB7C0"/>
                </a:solidFill>
              </a:rPr>
              <a:t>Divisão de Operações Especiais – DOE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5623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B7C0"/>
                </a:solidFill>
              </a:rPr>
              <a:t>Wagner Nogueira – 73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40" dirty="0">
                <a:solidFill>
                  <a:srgbClr val="146E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SVG • VERSÃO OPERADORES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SVG Aberto: acesso às oportunidades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12700">
            <a:solidFill>
              <a:srgbClr val="D8DEE5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94360" y="2851949"/>
            <a:ext cx="1874520" cy="384048"/>
          </a:xfrm>
          <a:prstGeom prst="roundRect">
            <a:avLst>
              <a:gd name="adj" fmla="val 190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67512" y="2925101"/>
            <a:ext cx="1728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AGRUPAMENTO POR TIPO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22960" y="5029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7212B"/>
                </a:solidFill>
              </a:rPr>
              <a:t>A tela inicial concentra as operações com SVG aberto. Os itens são agrupados por tipo de operação e o indicador numérico mostra quantas oportunidades existem naquele agrupamento.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22960" y="604418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B76"/>
                </a:solidFill>
              </a:rPr>
              <a:t>O operador expande apenas o grupo que deseja consultar.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4360" y="651052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858F"/>
                </a:solidFill>
              </a:rPr>
              <a:t>Divisão de Operações Especiais – DOE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A858F"/>
                </a:solidFill>
              </a:rPr>
              <a:t>03</a:t>
            </a:r>
            <a:endParaRPr lang="en-US" sz="800" dirty="0"/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66E40B90-3FFF-E22C-0B58-64A7350413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8089" y="2562501"/>
            <a:ext cx="5698453" cy="2583250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5EBD1CE4-810E-CA92-E197-D9E69D0ADF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8089" y="1403781"/>
            <a:ext cx="5698453" cy="10124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40" dirty="0">
                <a:solidFill>
                  <a:srgbClr val="146E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SVG • VERSÃO OPERADORES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Voluntariar e desistir: gestão pelo próprio operador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12700">
            <a:solidFill>
              <a:srgbClr val="D8DEE5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8641080" y="160020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8641080" y="1600200"/>
            <a:ext cx="64008" cy="1097280"/>
          </a:xfrm>
          <a:prstGeom prst="rect">
            <a:avLst/>
          </a:prstGeom>
          <a:solidFill>
            <a:srgbClr val="146EF5"/>
          </a:solidFill>
          <a:ln w="12700">
            <a:solidFill>
              <a:srgbClr val="146EF5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869680" y="17830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Informações essenciais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869680" y="2167128"/>
            <a:ext cx="246888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F6B76"/>
                </a:solidFill>
              </a:rPr>
              <a:t>OS, objeto, início e fim da operação.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41080" y="288036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8641080" y="2880360"/>
            <a:ext cx="64008" cy="1097280"/>
          </a:xfrm>
          <a:prstGeom prst="rect">
            <a:avLst/>
          </a:prstGeom>
          <a:solidFill>
            <a:srgbClr val="146EF5"/>
          </a:solidFill>
          <a:ln w="12700">
            <a:solidFill>
              <a:srgbClr val="146EF5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869680" y="30632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Demanda em tempo real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869680" y="3447288"/>
            <a:ext cx="246888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F6B76"/>
                </a:solidFill>
              </a:rPr>
              <a:t>Quantidade de vagas e de voluntários inscritos.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641080" y="4160520"/>
            <a:ext cx="28803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8641080" y="4160520"/>
            <a:ext cx="64008" cy="1325880"/>
          </a:xfrm>
          <a:prstGeom prst="rect">
            <a:avLst/>
          </a:prstGeom>
          <a:solidFill>
            <a:srgbClr val="168A4A"/>
          </a:solidFill>
          <a:ln w="12700">
            <a:solidFill>
              <a:srgbClr val="168A4A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869680" y="43434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Ação direta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869680" y="4727448"/>
            <a:ext cx="2468880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F6B76"/>
                </a:solidFill>
              </a:rPr>
              <a:t>“Voluntariar” registra o interesse; “Desistir” permite retirar a candidatura.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94360" y="651052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858F"/>
                </a:solidFill>
              </a:rPr>
              <a:t>Divisão de Operações Especiais – DOE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A858F"/>
                </a:solidFill>
              </a:rPr>
              <a:t>04</a:t>
            </a:r>
            <a:endParaRPr lang="en-US" sz="800" dirty="0"/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30FE7F42-3360-89BE-A909-ED408EB55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708719" cy="388370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40" dirty="0">
                <a:solidFill>
                  <a:srgbClr val="146E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SVG • VERSÃO OPERADORES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Como o sistema determina a prioridade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12700">
            <a:solidFill>
              <a:srgbClr val="D8DEE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828800"/>
            <a:ext cx="1508760" cy="1005840"/>
          </a:xfrm>
          <a:prstGeom prst="roundRect">
            <a:avLst>
              <a:gd name="adj" fmla="val 5455"/>
            </a:avLst>
          </a:prstGeom>
          <a:solidFill>
            <a:srgbClr val="E9F2FF"/>
          </a:solidFill>
          <a:ln w="15240">
            <a:solidFill>
              <a:srgbClr val="146EF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58952" y="2193251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12B"/>
                </a:solidFill>
              </a:rPr>
              <a:t>EQUIPE ATUAL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40280" y="21031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8B96A1"/>
                </a:solidFill>
              </a:rPr>
              <a:t>›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542032" y="1828800"/>
            <a:ext cx="1508760" cy="1005840"/>
          </a:xfrm>
          <a:prstGeom prst="roundRect">
            <a:avLst>
              <a:gd name="adj" fmla="val 5455"/>
            </a:avLst>
          </a:prstGeom>
          <a:solidFill>
            <a:srgbClr val="E9F2FF"/>
          </a:solidFill>
          <a:ln w="15240">
            <a:solidFill>
              <a:srgbClr val="146EF5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615184" y="2193251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12B"/>
                </a:solidFill>
              </a:rPr>
              <a:t>FANTASMA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96512" y="21031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8B96A1"/>
                </a:solidFill>
              </a:rPr>
              <a:t>›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398264" y="1828800"/>
            <a:ext cx="15087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240">
            <a:solidFill>
              <a:srgbClr val="D8DEE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471416" y="2193251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12B"/>
                </a:solidFill>
              </a:rPr>
              <a:t>SOBREAVISO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52744" y="21031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8B96A1"/>
                </a:solidFill>
              </a:rPr>
              <a:t>›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6254496" y="1828800"/>
            <a:ext cx="15087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240">
            <a:solidFill>
              <a:srgbClr val="D8DEE5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327648" y="2193251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12B"/>
                </a:solidFill>
              </a:rPr>
              <a:t>1ª FOLGA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08976" y="21031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8B96A1"/>
                </a:solidFill>
              </a:rPr>
              <a:t>›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8110728" y="1828800"/>
            <a:ext cx="15087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240">
            <a:solidFill>
              <a:srgbClr val="D8DEE5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183880" y="2193251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12B"/>
                </a:solidFill>
              </a:rPr>
              <a:t>EXPEDIENTE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65208" y="21031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8B96A1"/>
                </a:solidFill>
              </a:rPr>
              <a:t>›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9966960" y="1828800"/>
            <a:ext cx="15087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240">
            <a:solidFill>
              <a:srgbClr val="D8DEE5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0040112" y="2193251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12B"/>
                </a:solidFill>
              </a:rPr>
              <a:t>PRÓXIMO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14400" y="34290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12B"/>
                </a:solidFill>
              </a:rPr>
              <a:t>Primeiro, o sistema identifica a situação da equipe do operador. </a:t>
            </a:r>
          </a:p>
          <a:p>
            <a:pPr marL="0" indent="0" algn="ctr">
              <a:buNone/>
            </a:pPr>
            <a:r>
              <a:rPr lang="en-US" sz="1800" dirty="0">
                <a:solidFill>
                  <a:srgbClr val="17212B"/>
                </a:solidFill>
              </a:rPr>
              <a:t>A </a:t>
            </a:r>
            <a:r>
              <a:rPr lang="en-US" sz="1800" dirty="0" err="1">
                <a:solidFill>
                  <a:srgbClr val="17212B"/>
                </a:solidFill>
              </a:rPr>
              <a:t>ordem</a:t>
            </a:r>
            <a:r>
              <a:rPr lang="en-US" sz="1800" dirty="0">
                <a:solidFill>
                  <a:srgbClr val="17212B"/>
                </a:solidFill>
              </a:rPr>
              <a:t> de </a:t>
            </a:r>
            <a:r>
              <a:rPr lang="en-US" sz="1800" dirty="0" err="1">
                <a:solidFill>
                  <a:srgbClr val="17212B"/>
                </a:solidFill>
              </a:rPr>
              <a:t>cada</a:t>
            </a:r>
            <a:r>
              <a:rPr lang="en-US" sz="1800" dirty="0">
                <a:solidFill>
                  <a:srgbClr val="17212B"/>
                </a:solidFill>
              </a:rPr>
              <a:t> equipe expressa a prioridade operacional </a:t>
            </a:r>
            <a:r>
              <a:rPr lang="en-US" sz="1800" dirty="0" err="1">
                <a:solidFill>
                  <a:srgbClr val="17212B"/>
                </a:solidFill>
              </a:rPr>
              <a:t>daquele</a:t>
            </a:r>
            <a:r>
              <a:rPr lang="en-US" sz="1800" dirty="0">
                <a:solidFill>
                  <a:srgbClr val="17212B"/>
                </a:solidFill>
              </a:rPr>
              <a:t> </a:t>
            </a:r>
            <a:r>
              <a:rPr lang="en-US" sz="1800" dirty="0" err="1">
                <a:solidFill>
                  <a:srgbClr val="17212B"/>
                </a:solidFill>
              </a:rPr>
              <a:t>grupo</a:t>
            </a:r>
            <a:r>
              <a:rPr lang="en-US" sz="1800" dirty="0">
                <a:solidFill>
                  <a:srgbClr val="17212B"/>
                </a:solidFill>
              </a:rPr>
              <a:t>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828800" y="4572000"/>
            <a:ext cx="8503920" cy="777240"/>
          </a:xfrm>
          <a:prstGeom prst="roundRect">
            <a:avLst>
              <a:gd name="adj" fmla="val 705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2057400" y="477316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7212B"/>
                </a:solidFill>
              </a:rPr>
              <a:t>Dentro de cada grupo, a ordenação considera os critérios definidos pelo SVG, incluindo histórico de operações, horas e engajamento.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94360" y="651052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858F"/>
                </a:solidFill>
              </a:rPr>
              <a:t>Divisão de Operações Especiais – DOE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A858F"/>
                </a:solidFill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40" dirty="0">
                <a:solidFill>
                  <a:srgbClr val="146E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SVG • VERSÃO OPERADORES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Exemplo prático: grupos de prioridade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12700">
            <a:solidFill>
              <a:srgbClr val="D8DEE5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1192323e-31d7-45f5-8d57-fc55059550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17320"/>
            <a:ext cx="8138160" cy="4526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006840" y="1600200"/>
            <a:ext cx="24688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9006840" y="1600200"/>
            <a:ext cx="64008" cy="1051560"/>
          </a:xfrm>
          <a:prstGeom prst="rect">
            <a:avLst/>
          </a:prstGeom>
          <a:solidFill>
            <a:srgbClr val="146EF5"/>
          </a:solidFill>
          <a:ln w="12700">
            <a:solidFill>
              <a:srgbClr val="146EF5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235440" y="17830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PesoEquipe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235440" y="2167128"/>
            <a:ext cx="2057400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F6B76"/>
                </a:solidFill>
              </a:rPr>
              <a:t>Separa os grupos conforme a situação operacional.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006840" y="2834640"/>
            <a:ext cx="24688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9006840" y="2834640"/>
            <a:ext cx="64008" cy="1051560"/>
          </a:xfrm>
          <a:prstGeom prst="rect">
            <a:avLst/>
          </a:prstGeom>
          <a:solidFill>
            <a:srgbClr val="146EF5"/>
          </a:solidFill>
          <a:ln w="12700">
            <a:solidFill>
              <a:srgbClr val="146EF5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9235440" y="301752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SituaçãoEquipe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235440" y="3401568"/>
            <a:ext cx="2057400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F6B76"/>
                </a:solidFill>
              </a:rPr>
              <a:t>Atual, Fantasma, Sobreaviso, Primeira Folga, Expediente e Próximo.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006840" y="4069080"/>
            <a:ext cx="246888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9006840" y="4069080"/>
            <a:ext cx="64008" cy="1280160"/>
          </a:xfrm>
          <a:prstGeom prst="rect">
            <a:avLst/>
          </a:prstGeom>
          <a:solidFill>
            <a:srgbClr val="BFA46F"/>
          </a:solidFill>
          <a:ln w="12700">
            <a:solidFill>
              <a:srgbClr val="BFA46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9235440" y="425196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12B"/>
                </a:solidFill>
              </a:rPr>
              <a:t>OrdemNaEquipe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235440" y="4636008"/>
            <a:ext cx="205740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F6B76"/>
                </a:solidFill>
              </a:rPr>
              <a:t>Define a posição do operador dentro do seu próprio grupo.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94360" y="651052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858F"/>
                </a:solidFill>
              </a:rPr>
              <a:t>Divisão de Operações Especiais – DOE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A858F"/>
                </a:solidFill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40" dirty="0">
                <a:solidFill>
                  <a:srgbClr val="146E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SVG • VERSÃO OPERADORES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Exemplo prático: ordenação dentro da equipe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12700">
            <a:solidFill>
              <a:srgbClr val="D8DEE5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227c00e9-5a96-4c64-9553-e925da4b56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54480"/>
            <a:ext cx="10835640" cy="3291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60120" y="5166360"/>
            <a:ext cx="4800600" cy="685800"/>
          </a:xfrm>
          <a:prstGeom prst="roundRect">
            <a:avLst>
              <a:gd name="adj" fmla="val 8000"/>
            </a:avLst>
          </a:prstGeom>
          <a:solidFill>
            <a:srgbClr val="E9F2FF"/>
          </a:solidFill>
          <a:ln w="12700">
            <a:solidFill>
              <a:srgbClr val="B8D6FF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143000" y="5376672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212B"/>
                </a:solidFill>
              </a:rPr>
              <a:t>SOE IV • Fantasma • Peso 5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0" y="5166360"/>
            <a:ext cx="48006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583680" y="5376672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212B"/>
                </a:solidFill>
              </a:rPr>
              <a:t>SOE I • Primeira Folga • Peso 3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1440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F6B76"/>
                </a:solidFill>
              </a:rPr>
              <a:t>Operadores do mesmo grupo recebem uma ordem interna; somente depois o sistema avança para o grupo de prioridade seguinte.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94360" y="651052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858F"/>
                </a:solidFill>
              </a:rPr>
              <a:t>Divisão de Operações Especiais – DOE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A858F"/>
                </a:solidFill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40" dirty="0">
                <a:solidFill>
                  <a:srgbClr val="146E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SVG • VERSÃO OPERADORES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Fluxo do operador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12700">
            <a:solidFill>
              <a:srgbClr val="D8DEE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161288" y="1828800"/>
            <a:ext cx="685800" cy="685800"/>
          </a:xfrm>
          <a:prstGeom prst="ellipse">
            <a:avLst/>
          </a:prstGeom>
          <a:solidFill>
            <a:srgbClr val="146EF5"/>
          </a:solidFill>
          <a:ln w="12700">
            <a:solidFill>
              <a:srgbClr val="146EF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61288" y="201168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12B"/>
                </a:solidFill>
              </a:rPr>
              <a:t>SVG ABERTO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6072" y="32004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B76"/>
                </a:solidFill>
              </a:rPr>
              <a:t>Consulta as operações disponíveis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96312" y="19751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8B96A1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493008" y="1828800"/>
            <a:ext cx="685800" cy="685800"/>
          </a:xfrm>
          <a:prstGeom prst="ellipse">
            <a:avLst/>
          </a:prstGeom>
          <a:solidFill>
            <a:srgbClr val="146EF5"/>
          </a:solidFill>
          <a:ln w="12700">
            <a:solidFill>
              <a:srgbClr val="146EF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493008" y="201168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83464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12B"/>
                </a:solidFill>
              </a:rPr>
              <a:t>VOLUNTARIAR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07792" y="32004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B76"/>
                </a:solidFill>
              </a:rPr>
              <a:t>Registra interesse na operação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28032" y="19751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8B96A1"/>
                </a:solidFill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824728" y="1828800"/>
            <a:ext cx="685800" cy="685800"/>
          </a:xfrm>
          <a:prstGeom prst="ellipse">
            <a:avLst/>
          </a:prstGeom>
          <a:solidFill>
            <a:srgbClr val="146EF5"/>
          </a:solidFill>
          <a:ln w="12700">
            <a:solidFill>
              <a:srgbClr val="146EF5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824728" y="201168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6636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12B"/>
                </a:solidFill>
              </a:rPr>
              <a:t>ESCALA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39512" y="32004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B76"/>
                </a:solidFill>
              </a:rPr>
              <a:t>Sistema identifica a situação operacional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59752" y="19751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8B96A1"/>
                </a:solidFill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8156448" y="1828800"/>
            <a:ext cx="685800" cy="685800"/>
          </a:xfrm>
          <a:prstGeom prst="ellipse">
            <a:avLst/>
          </a:prstGeom>
          <a:solidFill>
            <a:srgbClr val="146EF5"/>
          </a:solidFill>
          <a:ln w="12700">
            <a:solidFill>
              <a:srgbClr val="146EF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156448" y="201168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9808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12B"/>
                </a:solidFill>
              </a:rPr>
              <a:t>PRIORIZAÇÃO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571232" y="32004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B76"/>
                </a:solidFill>
              </a:rPr>
              <a:t>Aplica grupo e ordem interna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491472" y="19751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8B96A1"/>
                </a:solidFill>
              </a:rPr>
              <a:t>→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10488168" y="1828800"/>
            <a:ext cx="685800" cy="685800"/>
          </a:xfrm>
          <a:prstGeom prst="ellipse">
            <a:avLst/>
          </a:prstGeom>
          <a:solidFill>
            <a:srgbClr val="BFA46F"/>
          </a:solidFill>
          <a:ln w="12700">
            <a:solidFill>
              <a:srgbClr val="BFA46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0488168" y="201168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82980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12B"/>
                </a:solidFill>
              </a:rPr>
              <a:t>SELEÇÃO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902952" y="32004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B76"/>
                </a:solidFill>
              </a:rPr>
              <a:t>Resultado objetivo para composição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88720" y="516636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7212B"/>
                </a:solidFill>
              </a:rPr>
              <a:t>Um fluxo único: da manifestação de interesse ao critério de seleção.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594360" y="651052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858F"/>
                </a:solidFill>
              </a:rPr>
              <a:t>Divisão de Operações Especiais – DOE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A858F"/>
                </a:solidFill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40" dirty="0">
                <a:solidFill>
                  <a:srgbClr val="146E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SVG • VERSÃO OPERADORES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Escala de Plantão: contexto operacional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12700">
            <a:solidFill>
              <a:srgbClr val="D8DEE5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9a854f0b-8226-4ba6-b5d1-bdf22072b6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11064240" cy="4526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59893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212B"/>
                </a:solidFill>
              </a:rPr>
              <a:t>A escala apresenta, em uma única visão, a composição das equipes que impactam a classificação do operador.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94360" y="651052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858F"/>
                </a:solidFill>
              </a:rPr>
              <a:t>Divisão de Operações Especiais – DOE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A858F"/>
                </a:solidFill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2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94360"/>
            <a:ext cx="4572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BE9A52"/>
                </a:solidFill>
                <a:latin typeface="Aptos"/>
              </a:rPr>
              <a:t>NOVO MÓDULO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Controle de Viaturas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8840"/>
            <a:ext cx="98755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CDD2D7"/>
                </a:solidFill>
                <a:latin typeface="Aptos"/>
              </a:rPr>
              <a:t>Fluxo operacional para consulta, retirada, utilização, devolução e acompanhamento das viaturas da DOE.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BE9A52"/>
                </a:solidFill>
                <a:latin typeface="Aptos"/>
              </a:rPr>
              <a:t>LISTAR  →  RETIRAR  →  EM USO  →  DEVOLVER  →  HISTÓRICO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63640"/>
            <a:ext cx="36576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969EA6"/>
                </a:solidFill>
                <a:latin typeface="Aptos"/>
              </a:rPr>
              <a:t>Divisão de Operações Especiais – DOE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C2228"/>
                </a:solidFill>
                <a:latin typeface="Aptos"/>
              </a:rPr>
              <a:t>Tela inicial: o painel central da frota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1554480"/>
            <a:ext cx="2697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32520" y="1554480"/>
            <a:ext cx="54864" cy="1051560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33688" y="1554480"/>
            <a:ext cx="23865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>
                <a:solidFill>
                  <a:srgbClr val="1C2228"/>
                </a:solidFill>
                <a:latin typeface="Aptos"/>
              </a:rPr>
              <a:t>Identificação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33688" y="1874520"/>
            <a:ext cx="226771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69"/>
              <a:t>Prefixo, placa, modelo, tipo e seção identificam cada viatura.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2761488"/>
            <a:ext cx="2697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32520" y="2761488"/>
            <a:ext cx="54864" cy="1051560"/>
          </a:xfrm>
          <a:prstGeom prst="rect">
            <a:avLst/>
          </a:prstGeom>
          <a:solidFill>
            <a:srgbClr val="BE9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33688" y="2889504"/>
            <a:ext cx="23865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>
                <a:solidFill>
                  <a:srgbClr val="1C2228"/>
                </a:solidFill>
                <a:latin typeface="Aptos"/>
              </a:rPr>
              <a:t>Controle operacional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33688" y="3209544"/>
            <a:ext cx="226771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69"/>
              <a:t>KM atual, último abastecimento, revisão e situação ficam reunidos na listagem.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3968496"/>
            <a:ext cx="269748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32520" y="3968496"/>
            <a:ext cx="54864" cy="1298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33688" y="4224528"/>
            <a:ext cx="23865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>
                <a:solidFill>
                  <a:srgbClr val="1C2228"/>
                </a:solidFill>
                <a:latin typeface="Aptos"/>
              </a:rPr>
              <a:t>Ponto de partida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33688" y="4544568"/>
            <a:ext cx="22677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69"/>
              <a:t>A situação libera a ação adequada: Retirar, Devolver ou Histórico.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25312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20"/>
              <a:t>A tela inicial concentra a posição atual da frota e é o ponto de entrada para todas as movimentações.</a:t>
            </a:r>
          </a:p>
        </p:txBody>
      </p:sp>
      <p:pic>
        <p:nvPicPr>
          <p:cNvPr id="21" name="Picture 20" descr="792d2313-c03f-4b4d-92ca-4466812bda9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63190"/>
            <a:ext cx="8001000" cy="323453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C2228"/>
                </a:solidFill>
                <a:latin typeface="Aptos"/>
              </a:rPr>
              <a:t>Controle de Viaturas: tela inicial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t>12</a:t>
            </a:r>
          </a:p>
        </p:txBody>
      </p:sp>
      <p:pic>
        <p:nvPicPr>
          <p:cNvPr id="7" name="Picture 6" descr="ChatGPT Image 18 de set. de 2026, 17_17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33081"/>
            <a:ext cx="8366760" cy="278619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034272" y="1572768"/>
            <a:ext cx="2423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34272" y="1572768"/>
            <a:ext cx="54864" cy="1051560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0" y="1664208"/>
            <a:ext cx="211226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1C2228"/>
                </a:solidFill>
                <a:latin typeface="Aptos"/>
              </a:rPr>
              <a:t>Pesquisa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993392"/>
            <a:ext cx="2112264" cy="55778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20" b="0">
                <a:solidFill>
                  <a:srgbClr val="5A626A"/>
                </a:solidFill>
                <a:latin typeface="Aptos"/>
              </a:rPr>
              <a:t>Busca por prefixo, placa, modelo ou responsável.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34272" y="2761488"/>
            <a:ext cx="24231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34272" y="2761488"/>
            <a:ext cx="54864" cy="1234440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2852928"/>
            <a:ext cx="211226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1C2228"/>
                </a:solidFill>
                <a:latin typeface="Aptos"/>
              </a:rPr>
              <a:t>Filtros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3182112"/>
            <a:ext cx="2112264" cy="740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20" b="0">
                <a:solidFill>
                  <a:srgbClr val="5A626A"/>
                </a:solidFill>
                <a:latin typeface="Aptos"/>
              </a:rPr>
              <a:t>Seção, tipo, situação e revisão podem ser combinados para localizar rapidamente a viatura.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4272" y="4160520"/>
            <a:ext cx="242316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34272" y="4160520"/>
            <a:ext cx="54864" cy="1298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4251959"/>
            <a:ext cx="211226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1C2228"/>
                </a:solidFill>
                <a:latin typeface="Aptos"/>
              </a:rPr>
              <a:t>Situação e 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4581144"/>
            <a:ext cx="2112264" cy="8046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20" b="0">
                <a:solidFill>
                  <a:srgbClr val="5A626A"/>
                </a:solidFill>
                <a:latin typeface="Aptos"/>
              </a:rPr>
              <a:t>A listagem mostra disponibilidade e libera Retirar, Devolver ou Histórico conforme o estado atual.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080760"/>
            <a:ext cx="104241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50" b="1">
                <a:solidFill>
                  <a:srgbClr val="1C2228"/>
                </a:solidFill>
                <a:latin typeface="Aptos"/>
              </a:rPr>
              <a:t>A tela inicial funciona como o ponto central de consulta e movimentação da frota.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C2228"/>
                </a:solidFill>
                <a:latin typeface="Aptos"/>
              </a:rPr>
              <a:t>Retirada de Viatura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t>13</a:t>
            </a:r>
          </a:p>
        </p:txBody>
      </p:sp>
      <p:pic>
        <p:nvPicPr>
          <p:cNvPr id="7" name="Picture 6" descr="b45bbcb0-32b4-490e-9067-17667852f7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32346"/>
            <a:ext cx="5440680" cy="477054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1572768"/>
            <a:ext cx="489204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572768"/>
            <a:ext cx="54864" cy="932688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664208"/>
            <a:ext cx="458114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1C2228"/>
                </a:solidFill>
                <a:latin typeface="Aptos"/>
              </a:rPr>
              <a:t>1. Identificação da viatura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1993392"/>
            <a:ext cx="458114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20" b="0">
                <a:solidFill>
                  <a:srgbClr val="5A626A"/>
                </a:solidFill>
                <a:latin typeface="Aptos"/>
              </a:rPr>
              <a:t>Antes da retirada, o operador confere prefixo, modelo, placa, seção e quilometragem atual.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688336"/>
            <a:ext cx="489204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2688336"/>
            <a:ext cx="54864" cy="932688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2779776"/>
            <a:ext cx="458114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1C2228"/>
                </a:solidFill>
                <a:latin typeface="Aptos"/>
              </a:rPr>
              <a:t>2. Operador responsável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3108960"/>
            <a:ext cx="458114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20" b="0">
                <a:solidFill>
                  <a:srgbClr val="5A626A"/>
                </a:solidFill>
                <a:latin typeface="Aptos"/>
              </a:rPr>
              <a:t>O operador logado é selecionado automaticamente. Se necessário, é possível pesquisar outro operador.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803904"/>
            <a:ext cx="489204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3803904"/>
            <a:ext cx="54864" cy="932688"/>
          </a:xfrm>
          <a:prstGeom prst="rect">
            <a:avLst/>
          </a:prstGeom>
          <a:solidFill>
            <a:srgbClr val="BE9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3895344"/>
            <a:ext cx="458114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1C2228"/>
                </a:solidFill>
                <a:latin typeface="Aptos"/>
              </a:rPr>
              <a:t>3. Finalidade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4224528"/>
            <a:ext cx="458114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20" b="0">
                <a:solidFill>
                  <a:srgbClr val="5A626A"/>
                </a:solidFill>
                <a:latin typeface="Aptos"/>
              </a:rPr>
              <a:t>A finalidade da utilização é registrada no momento da retirada.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919472"/>
            <a:ext cx="489204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4919472"/>
            <a:ext cx="54864" cy="93268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8" y="5010912"/>
            <a:ext cx="458114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1C2228"/>
                </a:solidFill>
                <a:latin typeface="Aptos"/>
              </a:rPr>
              <a:t>4. Observação e confirmação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5340096"/>
            <a:ext cx="458114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20" b="0">
                <a:solidFill>
                  <a:srgbClr val="5A626A"/>
                </a:solidFill>
                <a:latin typeface="Aptos"/>
              </a:rPr>
              <a:t>O campo de observação é opcional; Confirmar Retirada registra a movimentação.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C2228"/>
                </a:solidFill>
                <a:latin typeface="Aptos"/>
              </a:rPr>
              <a:t>Devolução de Viatura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t>14</a:t>
            </a:r>
          </a:p>
        </p:txBody>
      </p:sp>
      <p:pic>
        <p:nvPicPr>
          <p:cNvPr id="7" name="Picture 6" descr="d3498983-8c45-4922-b3ea-412fa32a97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43888"/>
            <a:ext cx="5257800" cy="3928006"/>
          </a:xfrm>
          <a:prstGeom prst="rect">
            <a:avLst/>
          </a:prstGeom>
        </p:spPr>
      </p:pic>
      <p:pic>
        <p:nvPicPr>
          <p:cNvPr id="8" name="Picture 7" descr="4d9b0694-b8af-4fb1-a922-aa371403fb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543" y="1444752"/>
            <a:ext cx="4836472" cy="4526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971032"/>
            <a:ext cx="4983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1C2228"/>
                </a:solidFill>
                <a:latin typeface="Aptos"/>
              </a:rPr>
              <a:t>SEM REGISTRO DE ABASTECIMENTO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971032"/>
            <a:ext cx="4983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1C2228"/>
                </a:solidFill>
                <a:latin typeface="Aptos"/>
              </a:rPr>
              <a:t>COM REGISTRO DE ABASTECIMENTO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10424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A626A"/>
                </a:solidFill>
                <a:latin typeface="Aptos"/>
              </a:rPr>
              <a:t>Na devolução são informados o responsável e o KM atual. Ao marcar que houve abastecimento, o sistema solicita também o KM do abastecimento.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C2228"/>
                </a:solidFill>
                <a:latin typeface="Aptos"/>
              </a:rPr>
              <a:t>Devolução: dados que atualizam a viatura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t>15</a:t>
            </a:r>
          </a:p>
        </p:txBody>
      </p:sp>
      <p:pic>
        <p:nvPicPr>
          <p:cNvPr id="7" name="Picture 6" descr="4d9b0694-b8af-4fb1-a922-aa371403fb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63" y="1417320"/>
            <a:ext cx="5129592" cy="48006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55080" y="160020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5080" y="1600200"/>
            <a:ext cx="54864" cy="914400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6248" y="1691640"/>
            <a:ext cx="4489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1C2228"/>
                </a:solidFill>
                <a:latin typeface="Aptos"/>
              </a:rPr>
              <a:t>Responsável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6248" y="2020824"/>
            <a:ext cx="4489704" cy="42062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20" b="0">
                <a:solidFill>
                  <a:srgbClr val="5A626A"/>
                </a:solidFill>
                <a:latin typeface="Aptos"/>
              </a:rPr>
              <a:t>Registra quem está efetivamente devolvendo a viatura.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69748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2697480"/>
            <a:ext cx="54864" cy="914400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2788920"/>
            <a:ext cx="4489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1C2228"/>
                </a:solidFill>
                <a:latin typeface="Aptos"/>
              </a:rPr>
              <a:t>KM da devolução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3118104"/>
            <a:ext cx="4489704" cy="42062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20" b="0">
                <a:solidFill>
                  <a:srgbClr val="5A626A"/>
                </a:solidFill>
                <a:latin typeface="Aptos"/>
              </a:rPr>
              <a:t>Atualiza a quilometragem corrente da viatura.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379476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3794760"/>
            <a:ext cx="54864" cy="91440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6248" y="3886200"/>
            <a:ext cx="4489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1C2228"/>
                </a:solidFill>
                <a:latin typeface="Aptos"/>
              </a:rPr>
              <a:t>Abastecimento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248" y="4215384"/>
            <a:ext cx="4489704" cy="42062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20" b="0">
                <a:solidFill>
                  <a:srgbClr val="5A626A"/>
                </a:solidFill>
                <a:latin typeface="Aptos"/>
              </a:rPr>
              <a:t>O controle registra se houve abastecimento e, quando houver, em qual quilometragem.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89204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4892040"/>
            <a:ext cx="54864" cy="914400"/>
          </a:xfrm>
          <a:prstGeom prst="rect">
            <a:avLst/>
          </a:prstGeom>
          <a:solidFill>
            <a:srgbClr val="BE9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4983479"/>
            <a:ext cx="4489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1C2228"/>
                </a:solidFill>
                <a:latin typeface="Aptos"/>
              </a:rPr>
              <a:t>Nova disponibilidade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5312664"/>
            <a:ext cx="4489704" cy="42062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20" b="0">
                <a:solidFill>
                  <a:srgbClr val="5A626A"/>
                </a:solidFill>
                <a:latin typeface="Aptos"/>
              </a:rPr>
              <a:t>Após a confirmação, a movimentação é encerrada e os dados ficam disponíveis para o controle da frota.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C2228"/>
                </a:solidFill>
                <a:latin typeface="Aptos"/>
              </a:rPr>
              <a:t>Histórico da Viatura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87968" y="1554480"/>
            <a:ext cx="2542032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87968" y="1554480"/>
            <a:ext cx="54864" cy="1051560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89136" y="1554480"/>
            <a:ext cx="22311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>
                <a:solidFill>
                  <a:srgbClr val="1C2228"/>
                </a:solidFill>
                <a:latin typeface="Aptos"/>
              </a:rPr>
              <a:t>Movimentações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89136" y="1874520"/>
            <a:ext cx="226771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69"/>
              <a:t>Registra cronologicamente cada retirada e devolução.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87968" y="2761488"/>
            <a:ext cx="2542032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87968" y="2761488"/>
            <a:ext cx="54864" cy="123444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89136" y="2889504"/>
            <a:ext cx="22311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>
                <a:solidFill>
                  <a:srgbClr val="1C2228"/>
                </a:solidFill>
                <a:latin typeface="Aptos"/>
              </a:rPr>
              <a:t>Rastreabilidade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89136" y="3209544"/>
            <a:ext cx="2267712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69"/>
              <a:t>Exibe operador, finalidade, KM inicial/final, abastecimento, revisão e observação.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87968" y="4160520"/>
            <a:ext cx="2542032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87968" y="4160520"/>
            <a:ext cx="54864" cy="118872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9136" y="4297680"/>
            <a:ext cx="22311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/>
              <a:t>Abastecimento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9136" y="4617720"/>
            <a:ext cx="226771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69"/>
              <a:t>Mostra se houve abastecimento e o KM em que ocorreu.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25312"/>
            <a:ext cx="105156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20"/>
              <a:t>O histórico cria rastreabilidade do uso e permite conferir a evolução da quilometragem e dos abastecimentos.</a:t>
            </a:r>
          </a:p>
        </p:txBody>
      </p:sp>
      <p:pic>
        <p:nvPicPr>
          <p:cNvPr id="21" name="Picture 20" descr="6c5b6ba3-7615-43af-83e4-fb9c3c2716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876745"/>
            <a:ext cx="8138160" cy="160742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C2228"/>
                </a:solidFill>
                <a:latin typeface="Aptos"/>
              </a:rPr>
              <a:t>Fluxo operacional do Controle de Viaturas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2084831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471E6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3472"/>
            <a:ext cx="18105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50" b="1">
                <a:solidFill>
                  <a:srgbClr val="1C2228"/>
                </a:solidFill>
                <a:latin typeface="Aptos"/>
              </a:rPr>
              <a:t>LISTAR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246120"/>
            <a:ext cx="1773936" cy="10789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30" b="0">
                <a:solidFill>
                  <a:srgbClr val="5A626A"/>
                </a:solidFill>
                <a:latin typeface="Aptos"/>
              </a:rPr>
              <a:t>Consulta a frota e identifica a viatura.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8608" y="2999232"/>
            <a:ext cx="274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E9A52"/>
                </a:solidFill>
                <a:latin typeface="Apto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07208" y="1874519"/>
            <a:ext cx="2084831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44368" y="20299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471E6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4368" y="2633472"/>
            <a:ext cx="18105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50" b="1">
                <a:solidFill>
                  <a:srgbClr val="1C2228"/>
                </a:solidFill>
                <a:latin typeface="Aptos"/>
              </a:rPr>
              <a:t>RETIRAR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2656" y="3246120"/>
            <a:ext cx="1773936" cy="10789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30" b="0">
                <a:solidFill>
                  <a:srgbClr val="5A626A"/>
                </a:solidFill>
                <a:latin typeface="Aptos"/>
              </a:rPr>
              <a:t>Define responsável, finalidade e observação.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2896" y="2999232"/>
            <a:ext cx="274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E9A52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11496" y="1874519"/>
            <a:ext cx="2084831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48656" y="20299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471E6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8656" y="2633472"/>
            <a:ext cx="18105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50" b="1">
                <a:solidFill>
                  <a:srgbClr val="1C2228"/>
                </a:solidFill>
                <a:latin typeface="Aptos"/>
              </a:rPr>
              <a:t>EM USO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6944" y="3246120"/>
            <a:ext cx="1773936" cy="10789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30" b="0">
                <a:solidFill>
                  <a:srgbClr val="5A626A"/>
                </a:solidFill>
                <a:latin typeface="Aptos"/>
              </a:rPr>
              <a:t>A situação da viatura passa a refletir a utilização.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87183" y="2999232"/>
            <a:ext cx="274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E9A52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15783" y="1874519"/>
            <a:ext cx="2084831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2944" y="20299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471E6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2944" y="2633472"/>
            <a:ext cx="18105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50" b="1">
                <a:solidFill>
                  <a:srgbClr val="1C2228"/>
                </a:solidFill>
                <a:latin typeface="Aptos"/>
              </a:rPr>
              <a:t>DEVOLVER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3246120"/>
            <a:ext cx="1773936" cy="10789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30" b="0">
                <a:solidFill>
                  <a:srgbClr val="5A626A"/>
                </a:solidFill>
                <a:latin typeface="Aptos"/>
              </a:rPr>
              <a:t>Registra KM e eventual abastecimento.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91472" y="2999232"/>
            <a:ext cx="274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BE9A52"/>
                </a:solidFill>
                <a:latin typeface="Aptos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20072" y="1874519"/>
            <a:ext cx="2084831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2" y="20299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471E6"/>
                </a:solidFill>
                <a:latin typeface="Aptos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2633472"/>
            <a:ext cx="18105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50" b="1">
                <a:solidFill>
                  <a:srgbClr val="1C2228"/>
                </a:solidFill>
                <a:latin typeface="Aptos"/>
              </a:rPr>
              <a:t>HISTÓRICO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19" y="3246120"/>
            <a:ext cx="1773936" cy="10789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30" b="0">
                <a:solidFill>
                  <a:srgbClr val="5A626A"/>
                </a:solidFill>
                <a:latin typeface="Aptos"/>
              </a:rPr>
              <a:t>Movimentações ficam disponíveis para consulta.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440680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C2228"/>
                </a:solidFill>
                <a:latin typeface="Aptos"/>
              </a:rPr>
              <a:t>O fluxo mantém a situação da viatura atualizada e cria rastreabilidade entre retirada e devolução.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C2228"/>
                </a:solidFill>
                <a:latin typeface="Aptos"/>
              </a:rPr>
              <a:t>Alertas de revisão: visão geral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t>18</a:t>
            </a:r>
          </a:p>
        </p:txBody>
      </p:sp>
      <p:pic>
        <p:nvPicPr>
          <p:cNvPr id="7" name="Picture 6" descr="WhatsApp Image 2026-09-18 at 10.44.2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720" y="1417320"/>
            <a:ext cx="8128000" cy="457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915400" y="1600200"/>
            <a:ext cx="25146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15400" y="1600200"/>
            <a:ext cx="54864" cy="1143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16568" y="1691640"/>
            <a:ext cx="2203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1C2228"/>
                </a:solidFill>
                <a:latin typeface="Aptos"/>
              </a:rPr>
              <a:t>Próxima da revisão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16568" y="2020824"/>
            <a:ext cx="2203704" cy="6492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20" b="0">
                <a:solidFill>
                  <a:srgbClr val="5A626A"/>
                </a:solidFill>
                <a:latin typeface="Aptos"/>
              </a:rPr>
              <a:t>Destaque preventivo para viaturas próximas da quilometragem de revisão.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2926080"/>
            <a:ext cx="25146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15400" y="2926080"/>
            <a:ext cx="54864" cy="11430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16568" y="3017520"/>
            <a:ext cx="2203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1C2228"/>
                </a:solidFill>
                <a:latin typeface="Aptos"/>
              </a:rPr>
              <a:t>Revisão vencida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16568" y="3346704"/>
            <a:ext cx="2203704" cy="6492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20" b="0">
                <a:solidFill>
                  <a:srgbClr val="5A626A"/>
                </a:solidFill>
                <a:latin typeface="Aptos"/>
              </a:rPr>
              <a:t>Destaque crítico quando a quilometragem cadastrada já foi atingida ou ultrapassada.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4251960"/>
            <a:ext cx="25146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15400" y="4251960"/>
            <a:ext cx="54864" cy="1143000"/>
          </a:xfrm>
          <a:prstGeom prst="rect">
            <a:avLst/>
          </a:prstGeom>
          <a:solidFill>
            <a:srgbClr val="BE9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16568" y="4343400"/>
            <a:ext cx="2203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1C2228"/>
                </a:solidFill>
                <a:latin typeface="Aptos"/>
              </a:rPr>
              <a:t>Resumo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6568" y="4672584"/>
            <a:ext cx="2203704" cy="6492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20" b="0">
                <a:solidFill>
                  <a:srgbClr val="5A626A"/>
                </a:solidFill>
                <a:latin typeface="Aptos"/>
              </a:rPr>
              <a:t>O painel consolida quantas viaturas exigem atenção.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080760"/>
            <a:ext cx="104241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1C2228"/>
                </a:solidFill>
                <a:latin typeface="Aptos"/>
              </a:rPr>
              <a:t>Os alertas aparecem depois do fluxo operacional porque dependem da quilometragem mantida pelo próprio controle de retirada e devolução.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C2228"/>
                </a:solidFill>
                <a:latin typeface="Aptos"/>
              </a:rPr>
              <a:t>Alertas durante a retirada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t>19</a:t>
            </a:r>
          </a:p>
        </p:txBody>
      </p:sp>
      <p:pic>
        <p:nvPicPr>
          <p:cNvPr id="7" name="Picture 6" descr="WhatsApp Image 2026-09-18 at 10.48.5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356" y="1481328"/>
            <a:ext cx="4239806" cy="4526280"/>
          </a:xfrm>
          <a:prstGeom prst="rect">
            <a:avLst/>
          </a:prstGeom>
        </p:spPr>
      </p:pic>
      <p:pic>
        <p:nvPicPr>
          <p:cNvPr id="8" name="Picture 7" descr="WhatsApp Image 2026-09-18 at 10.48.05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3521" y="1481328"/>
            <a:ext cx="4346052" cy="4526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6016752"/>
            <a:ext cx="5074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50" b="1">
                <a:solidFill>
                  <a:srgbClr val="966900"/>
                </a:solidFill>
                <a:latin typeface="Aptos"/>
              </a:rPr>
              <a:t>PRÓXIMA DA REVISÃO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6016752"/>
            <a:ext cx="5074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50" b="1">
                <a:solidFill>
                  <a:srgbClr val="DC3545"/>
                </a:solidFill>
                <a:latin typeface="Aptos"/>
              </a:rPr>
              <a:t>REVISÃO VENCIDA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607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A626A"/>
                </a:solidFill>
                <a:latin typeface="Aptos"/>
              </a:rPr>
              <a:t>O operador é alertado antes de confirmar a retirada, sem perder as demais informações do fluxo.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C2228"/>
                </a:solidFill>
                <a:latin typeface="Aptos"/>
              </a:rPr>
              <a:t>Alertas durante a devolução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t>20</a:t>
            </a:r>
          </a:p>
        </p:txBody>
      </p:sp>
      <p:pic>
        <p:nvPicPr>
          <p:cNvPr id="7" name="Picture 6" descr="WhatsApp Image 2026-09-18 at 10.58.48 (1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722" y="1481328"/>
            <a:ext cx="5003074" cy="4526280"/>
          </a:xfrm>
          <a:prstGeom prst="rect">
            <a:avLst/>
          </a:prstGeom>
        </p:spPr>
      </p:pic>
      <p:pic>
        <p:nvPicPr>
          <p:cNvPr id="8" name="Picture 7" descr="WhatsApp Image 2026-09-18 at 10.58.48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4605" y="1481328"/>
            <a:ext cx="4963885" cy="4526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6016752"/>
            <a:ext cx="5074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50" b="1">
                <a:solidFill>
                  <a:srgbClr val="966900"/>
                </a:solidFill>
                <a:latin typeface="Aptos"/>
              </a:rPr>
              <a:t>ATENÇÃO À REVISÃO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6016752"/>
            <a:ext cx="5074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50" b="1">
                <a:solidFill>
                  <a:srgbClr val="DC3545"/>
                </a:solidFill>
                <a:latin typeface="Aptos"/>
              </a:rPr>
              <a:t>REVISÃO VENCIDA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607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A626A"/>
                </a:solidFill>
                <a:latin typeface="Aptos"/>
              </a:rPr>
              <a:t>Na devolução, o alerta reflete a quilometragem registrada e mantém a necessidade de manutenção visível.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4814</TotalTime>
  <Words>556</Words>
  <Application>Microsoft Office PowerPoint</Application>
  <PresentationFormat>Widescreen</PresentationFormat>
  <Paragraphs>116</Paragraphs>
  <Slides>12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Divisão de Operações Especiais - DOE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SVG - Versão Operadores</dc:title>
  <dc:subject>Sistema de Gerenciamento do Serviço Voluntário - Versão Operadores</dc:subject>
  <dc:creator>Wagner Nogueira</dc:creator>
  <cp:lastModifiedBy>Wagner Nogueira</cp:lastModifiedBy>
  <cp:revision>5</cp:revision>
  <dcterms:created xsi:type="dcterms:W3CDTF">2026-09-08T00:14:46Z</dcterms:created>
  <dcterms:modified xsi:type="dcterms:W3CDTF">2026-09-18T19:27:09Z</dcterms:modified>
</cp:coreProperties>
</file>