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67" r:id="rId2"/>
    <p:sldId id="266" r:id="rId3"/>
    <p:sldId id="257" r:id="rId4"/>
    <p:sldId id="258" r:id="rId5"/>
    <p:sldId id="259" r:id="rId6"/>
    <p:sldId id="261" r:id="rId7"/>
    <p:sldId id="262" r:id="rId8"/>
    <p:sldId id="263" r:id="rId9"/>
    <p:sldId id="264" r:id="rId10"/>
    <p:sldId id="283" r:id="rId11"/>
    <p:sldId id="260" r:id="rId12"/>
    <p:sldId id="284" r:id="rId13"/>
    <p:sldId id="280" r:id="rId14"/>
    <p:sldId id="281" r:id="rId15"/>
    <p:sldId id="282" r:id="rId16"/>
    <p:sldId id="268" r:id="rId17"/>
    <p:sldId id="277" r:id="rId18"/>
    <p:sldId id="269" r:id="rId19"/>
    <p:sldId id="270" r:id="rId20"/>
    <p:sldId id="271" r:id="rId21"/>
    <p:sldId id="272" r:id="rId22"/>
    <p:sldId id="278" r:id="rId23"/>
    <p:sldId id="273" r:id="rId24"/>
    <p:sldId id="274" r:id="rId25"/>
    <p:sldId id="275" r:id="rId26"/>
    <p:sldId id="276" r:id="rId27"/>
    <p:sldId id="290" r:id="rId28"/>
    <p:sldId id="295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Wagner Nogueira" initials="WN" lastIdx="1" clrIdx="0">
    <p:extLst>
      <p:ext uri="{19B8F6BF-5375-455C-9EA6-DF929625EA0E}">
        <p15:presenceInfo xmlns:p15="http://schemas.microsoft.com/office/powerpoint/2012/main" userId="bb0cc78dcd96794c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20" autoAdjust="0"/>
    <p:restoredTop sz="94610"/>
  </p:normalViewPr>
  <p:slideViewPr>
    <p:cSldViewPr snapToGrid="0" snapToObjects="1">
      <p:cViewPr varScale="1">
        <p:scale>
          <a:sx n="90" d="100"/>
          <a:sy n="90" d="100"/>
        </p:scale>
        <p:origin x="491" y="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10-07T17:25:21.055" idx="1">
    <p:pos x="10" y="10"/>
    <p:text>Instrução, treinamento,</p:text>
    <p:extLst>
      <p:ext uri="{C676402C-5697-4E1C-873F-D02D1690AC5C}">
        <p15:threadingInfo xmlns:p15="http://schemas.microsoft.com/office/powerpoint/2012/main" timeZoneBias="18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747542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072628-2534-0ACA-7F61-C8898AF22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6E5195-0B10-A373-38D4-04A0017976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FD9B54-0638-C19E-1D5A-8F2255E9DA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C4FF50-C50C-E484-5D25-C9F1DE4EEC5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84345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87C28-D290-354B-458E-587B6CADE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DC34BF-28BF-44E7-9CE7-B4C4B2B268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1D1593-BA30-C98E-6464-18284A2293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6825C6-E5C9-EDB4-C7F0-A1C28790ACC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50312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5335B1-82CA-4E15-A5D8-FED425F1DBD2}" type="datetimeFigureOut">
              <a:rPr lang="pt-BR" smtClean="0"/>
              <a:t>20/10/2026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5F9310-BB4F-4F9D-8475-C127F45CE1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10618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17369884-B95B-8E30-4A0E-199658219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2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4167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858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FFFFFF"/>
                </a:solidFill>
              </a:rPr>
              <a:t>SVG</a:t>
            </a:r>
            <a:endParaRPr lang="pt-BR" sz="3200" noProof="0" dirty="0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800" b="1" noProof="0" dirty="0">
                <a:solidFill>
                  <a:srgbClr val="BFA46F"/>
                </a:solidFill>
              </a:rPr>
              <a:t>Versão Operadores</a:t>
            </a:r>
            <a:endParaRPr lang="pt-BR" sz="2800" noProof="0" dirty="0"/>
          </a:p>
        </p:txBody>
      </p:sp>
      <p:sp>
        <p:nvSpPr>
          <p:cNvPr id="4" name="Text 2"/>
          <p:cNvSpPr/>
          <p:nvPr/>
        </p:nvSpPr>
        <p:spPr>
          <a:xfrm>
            <a:off x="731520" y="2240280"/>
            <a:ext cx="7772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FFFFFF"/>
                </a:solidFill>
              </a:rPr>
              <a:t>Mais autonomia para o operador.</a:t>
            </a:r>
            <a:endParaRPr lang="pt-BR" sz="2600" noProof="0" dirty="0"/>
          </a:p>
          <a:p>
            <a:pPr marL="0" indent="0">
              <a:buNone/>
            </a:pPr>
            <a:r>
              <a:rPr lang="pt-BR" sz="2600" b="1" noProof="0" dirty="0">
                <a:solidFill>
                  <a:srgbClr val="FFFFFF"/>
                </a:solidFill>
              </a:rPr>
              <a:t>Mais transparência no processo.</a:t>
            </a:r>
            <a:endParaRPr lang="pt-BR" sz="2600" noProof="0" dirty="0"/>
          </a:p>
          <a:p>
            <a:pPr marL="0" indent="0">
              <a:buNone/>
            </a:pPr>
            <a:r>
              <a:rPr lang="pt-BR" sz="2600" b="1" noProof="0" dirty="0">
                <a:solidFill>
                  <a:srgbClr val="FFFFFF"/>
                </a:solidFill>
              </a:rPr>
              <a:t>Mais organização para a DOE.</a:t>
            </a:r>
            <a:endParaRPr lang="pt-BR" sz="2600" noProof="0" dirty="0"/>
          </a:p>
        </p:txBody>
      </p:sp>
      <p:sp>
        <p:nvSpPr>
          <p:cNvPr id="5" name="Shape 3"/>
          <p:cNvSpPr/>
          <p:nvPr/>
        </p:nvSpPr>
        <p:spPr>
          <a:xfrm>
            <a:off x="731520" y="4251960"/>
            <a:ext cx="3840480" cy="0"/>
          </a:xfrm>
          <a:prstGeom prst="line">
            <a:avLst/>
          </a:prstGeom>
          <a:noFill/>
          <a:ln w="25400">
            <a:solidFill>
              <a:srgbClr val="BFA46F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31520" y="46177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noProof="0" dirty="0">
                <a:solidFill>
                  <a:srgbClr val="D8DEE5"/>
                </a:solidFill>
              </a:rPr>
              <a:t>Sistema de Gerenciamento do Serviço Voluntário</a:t>
            </a:r>
            <a:endParaRPr lang="pt-BR" sz="1500" noProof="0" dirty="0"/>
          </a:p>
        </p:txBody>
      </p:sp>
      <p:sp>
        <p:nvSpPr>
          <p:cNvPr id="7" name="Text 5"/>
          <p:cNvSpPr/>
          <p:nvPr/>
        </p:nvSpPr>
        <p:spPr>
          <a:xfrm>
            <a:off x="731520" y="5074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noProof="0" dirty="0">
                <a:solidFill>
                  <a:srgbClr val="AEB7C0"/>
                </a:solidFill>
              </a:rPr>
              <a:t>Divisão de Operações Especiais – DOE</a:t>
            </a:r>
            <a:endParaRPr lang="pt-BR" sz="1300" noProof="0" dirty="0"/>
          </a:p>
        </p:txBody>
      </p:sp>
      <p:sp>
        <p:nvSpPr>
          <p:cNvPr id="8" name="Text 6"/>
          <p:cNvSpPr/>
          <p:nvPr/>
        </p:nvSpPr>
        <p:spPr>
          <a:xfrm>
            <a:off x="731520" y="5623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AEB7C0"/>
                </a:solidFill>
              </a:rPr>
              <a:t>Wagner Nogueira – 73</a:t>
            </a:r>
            <a:endParaRPr lang="pt-BR" sz="1200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kern="0" spc="140" noProof="0" dirty="0">
                <a:solidFill>
                  <a:srgbClr val="146E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SVG • VERSÃO OPERADORES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594360" y="64008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Objetivo da versão Operadores</a:t>
            </a:r>
            <a:endParaRPr lang="pt-BR" sz="2600" noProof="0" dirty="0"/>
          </a:p>
        </p:txBody>
      </p:sp>
      <p:sp>
        <p:nvSpPr>
          <p:cNvPr id="4" name="Shape 2"/>
          <p:cNvSpPr/>
          <p:nvPr/>
        </p:nvSpPr>
        <p:spPr>
          <a:xfrm>
            <a:off x="594360" y="1261872"/>
            <a:ext cx="10972800" cy="0"/>
          </a:xfrm>
          <a:prstGeom prst="line">
            <a:avLst/>
          </a:prstGeom>
          <a:noFill/>
          <a:ln w="12700">
            <a:solidFill>
              <a:srgbClr val="D8DEE5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5" name="Shape 3"/>
          <p:cNvSpPr/>
          <p:nvPr/>
        </p:nvSpPr>
        <p:spPr>
          <a:xfrm>
            <a:off x="685800" y="1600200"/>
            <a:ext cx="3429000" cy="347472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D8DEE5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Shape 4"/>
          <p:cNvSpPr/>
          <p:nvPr/>
        </p:nvSpPr>
        <p:spPr>
          <a:xfrm>
            <a:off x="685800" y="1600200"/>
            <a:ext cx="64008" cy="3474720"/>
          </a:xfrm>
          <a:prstGeom prst="rect">
            <a:avLst/>
          </a:prstGeom>
          <a:solidFill>
            <a:srgbClr val="146EF5"/>
          </a:solidFill>
          <a:ln w="12700">
            <a:solidFill>
              <a:srgbClr val="146EF5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7" name="Text 5"/>
          <p:cNvSpPr/>
          <p:nvPr/>
        </p:nvSpPr>
        <p:spPr>
          <a:xfrm>
            <a:off x="914400" y="178308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 dirty="0">
                <a:solidFill>
                  <a:srgbClr val="17212B"/>
                </a:solidFill>
              </a:rPr>
              <a:t>Autonomia</a:t>
            </a:r>
            <a:endParaRPr lang="pt-BR" sz="1500" noProof="0" dirty="0"/>
          </a:p>
        </p:txBody>
      </p:sp>
      <p:sp>
        <p:nvSpPr>
          <p:cNvPr id="8" name="Text 6"/>
          <p:cNvSpPr/>
          <p:nvPr/>
        </p:nvSpPr>
        <p:spPr>
          <a:xfrm>
            <a:off x="914400" y="2167128"/>
            <a:ext cx="3017520" cy="2761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pt-BR" sz="1150" noProof="0" dirty="0">
                <a:solidFill>
                  <a:srgbClr val="5F6B76"/>
                </a:solidFill>
              </a:rPr>
              <a:t>O operador consulta as oportunidades de SVG e gerencia sua manifestação de interesse diretamente no sistema.</a:t>
            </a:r>
            <a:endParaRPr lang="pt-BR" sz="1150" noProof="0" dirty="0"/>
          </a:p>
        </p:txBody>
      </p:sp>
      <p:sp>
        <p:nvSpPr>
          <p:cNvPr id="9" name="Shape 7"/>
          <p:cNvSpPr/>
          <p:nvPr/>
        </p:nvSpPr>
        <p:spPr>
          <a:xfrm>
            <a:off x="4389120" y="1600200"/>
            <a:ext cx="3429000" cy="347472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D8DEE5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Shape 8"/>
          <p:cNvSpPr/>
          <p:nvPr/>
        </p:nvSpPr>
        <p:spPr>
          <a:xfrm>
            <a:off x="4389120" y="1600200"/>
            <a:ext cx="64008" cy="3474720"/>
          </a:xfrm>
          <a:prstGeom prst="rect">
            <a:avLst/>
          </a:prstGeom>
          <a:solidFill>
            <a:srgbClr val="146EF5"/>
          </a:solidFill>
          <a:ln w="12700">
            <a:solidFill>
              <a:srgbClr val="146EF5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Text 9"/>
          <p:cNvSpPr/>
          <p:nvPr/>
        </p:nvSpPr>
        <p:spPr>
          <a:xfrm>
            <a:off x="4617720" y="178308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 dirty="0">
                <a:solidFill>
                  <a:srgbClr val="17212B"/>
                </a:solidFill>
              </a:rPr>
              <a:t>Transparência</a:t>
            </a:r>
            <a:endParaRPr lang="pt-BR" sz="1500" noProof="0" dirty="0"/>
          </a:p>
        </p:txBody>
      </p:sp>
      <p:sp>
        <p:nvSpPr>
          <p:cNvPr id="12" name="Text 10"/>
          <p:cNvSpPr/>
          <p:nvPr/>
        </p:nvSpPr>
        <p:spPr>
          <a:xfrm>
            <a:off x="4617720" y="2167128"/>
            <a:ext cx="3017520" cy="2761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pt-BR" sz="1150" noProof="0" dirty="0">
                <a:solidFill>
                  <a:srgbClr val="5F6B76"/>
                </a:solidFill>
              </a:rPr>
              <a:t>Vagas, voluntários, situação da escala e critérios de ordenação ficam visíveis e estruturados.</a:t>
            </a:r>
            <a:endParaRPr lang="pt-BR" sz="1150" noProof="0" dirty="0"/>
          </a:p>
        </p:txBody>
      </p:sp>
      <p:sp>
        <p:nvSpPr>
          <p:cNvPr id="13" name="Shape 11"/>
          <p:cNvSpPr/>
          <p:nvPr/>
        </p:nvSpPr>
        <p:spPr>
          <a:xfrm>
            <a:off x="8092440" y="1600200"/>
            <a:ext cx="3429000" cy="347472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D8DEE5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4" name="Shape 12"/>
          <p:cNvSpPr/>
          <p:nvPr/>
        </p:nvSpPr>
        <p:spPr>
          <a:xfrm>
            <a:off x="8092440" y="1600200"/>
            <a:ext cx="64008" cy="3474720"/>
          </a:xfrm>
          <a:prstGeom prst="rect">
            <a:avLst/>
          </a:prstGeom>
          <a:solidFill>
            <a:srgbClr val="146EF5"/>
          </a:solidFill>
          <a:ln w="12700">
            <a:solidFill>
              <a:srgbClr val="146EF5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5" name="Text 13"/>
          <p:cNvSpPr/>
          <p:nvPr/>
        </p:nvSpPr>
        <p:spPr>
          <a:xfrm>
            <a:off x="8321040" y="178308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 dirty="0">
                <a:solidFill>
                  <a:srgbClr val="17212B"/>
                </a:solidFill>
              </a:rPr>
              <a:t>Organização</a:t>
            </a:r>
            <a:endParaRPr lang="pt-BR" sz="1500" noProof="0" dirty="0"/>
          </a:p>
        </p:txBody>
      </p:sp>
      <p:sp>
        <p:nvSpPr>
          <p:cNvPr id="16" name="Text 14"/>
          <p:cNvSpPr/>
          <p:nvPr/>
        </p:nvSpPr>
        <p:spPr>
          <a:xfrm>
            <a:off x="8321040" y="2167128"/>
            <a:ext cx="3017520" cy="2761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pt-BR" sz="1150" noProof="0" dirty="0">
                <a:solidFill>
                  <a:srgbClr val="5F6B76"/>
                </a:solidFill>
              </a:rPr>
              <a:t>O fluxo centraliza inscrição, escala e priorização, reduzindo controles paralelos e decisões manuais.</a:t>
            </a:r>
            <a:endParaRPr lang="pt-BR" sz="1150" noProof="0" dirty="0"/>
          </a:p>
        </p:txBody>
      </p:sp>
      <p:sp>
        <p:nvSpPr>
          <p:cNvPr id="17" name="Text 15"/>
          <p:cNvSpPr/>
          <p:nvPr/>
        </p:nvSpPr>
        <p:spPr>
          <a:xfrm>
            <a:off x="1005840" y="553212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700" b="1" noProof="0" dirty="0">
                <a:solidFill>
                  <a:srgbClr val="17212B"/>
                </a:solidFill>
              </a:rPr>
              <a:t>Do acesso à seleção, o foco é tornar o processo simples para o operador e objetivo para a gestão.</a:t>
            </a:r>
            <a:endParaRPr lang="pt-BR" sz="1700" noProof="0" dirty="0"/>
          </a:p>
        </p:txBody>
      </p:sp>
      <p:sp>
        <p:nvSpPr>
          <p:cNvPr id="18" name="Text 16"/>
          <p:cNvSpPr/>
          <p:nvPr/>
        </p:nvSpPr>
        <p:spPr>
          <a:xfrm>
            <a:off x="594360" y="6510528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800" noProof="0" dirty="0">
                <a:solidFill>
                  <a:srgbClr val="7A858F"/>
                </a:solidFill>
              </a:rPr>
              <a:t>Divisão de Operações Especiais – DOE</a:t>
            </a:r>
            <a:endParaRPr lang="pt-BR" sz="800" noProof="0" dirty="0"/>
          </a:p>
        </p:txBody>
      </p:sp>
      <p:sp>
        <p:nvSpPr>
          <p:cNvPr id="19" name="Text 17"/>
          <p:cNvSpPr/>
          <p:nvPr/>
        </p:nvSpPr>
        <p:spPr>
          <a:xfrm>
            <a:off x="11109960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800" noProof="0" dirty="0">
                <a:solidFill>
                  <a:srgbClr val="7A858F"/>
                </a:solidFill>
              </a:rPr>
              <a:t>02</a:t>
            </a:r>
            <a:endParaRPr lang="pt-BR" sz="800" noProof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kern="0" spc="140" noProof="0" dirty="0">
                <a:solidFill>
                  <a:srgbClr val="146E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SVG • VERSÃO OPERADORES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594360" y="64008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SVG Aberto: acesso às oportunidades</a:t>
            </a:r>
            <a:endParaRPr lang="pt-BR" sz="2600" noProof="0" dirty="0"/>
          </a:p>
        </p:txBody>
      </p:sp>
      <p:sp>
        <p:nvSpPr>
          <p:cNvPr id="4" name="Shape 2"/>
          <p:cNvSpPr/>
          <p:nvPr/>
        </p:nvSpPr>
        <p:spPr>
          <a:xfrm>
            <a:off x="594360" y="1261872"/>
            <a:ext cx="10972800" cy="0"/>
          </a:xfrm>
          <a:prstGeom prst="line">
            <a:avLst/>
          </a:prstGeom>
          <a:noFill/>
          <a:ln w="12700">
            <a:solidFill>
              <a:srgbClr val="D8DEE5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Shape 3"/>
          <p:cNvSpPr/>
          <p:nvPr/>
        </p:nvSpPr>
        <p:spPr>
          <a:xfrm>
            <a:off x="594360" y="2851949"/>
            <a:ext cx="1874520" cy="384048"/>
          </a:xfrm>
          <a:prstGeom prst="roundRect">
            <a:avLst>
              <a:gd name="adj" fmla="val 190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7" name="Text 4"/>
          <p:cNvSpPr/>
          <p:nvPr/>
        </p:nvSpPr>
        <p:spPr>
          <a:xfrm>
            <a:off x="667512" y="2925101"/>
            <a:ext cx="17282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noProof="0" dirty="0">
                <a:solidFill>
                  <a:srgbClr val="FFFFFF"/>
                </a:solidFill>
              </a:rPr>
              <a:t>AGRUPAMENTO POR TIPO</a:t>
            </a:r>
            <a:endParaRPr lang="pt-BR" sz="1000" noProof="0" dirty="0"/>
          </a:p>
        </p:txBody>
      </p:sp>
      <p:sp>
        <p:nvSpPr>
          <p:cNvPr id="8" name="Text 5"/>
          <p:cNvSpPr/>
          <p:nvPr/>
        </p:nvSpPr>
        <p:spPr>
          <a:xfrm>
            <a:off x="822960" y="5029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800" noProof="0" dirty="0">
                <a:solidFill>
                  <a:srgbClr val="17212B"/>
                </a:solidFill>
              </a:rPr>
              <a:t>A tela inicial concentra as operações com SVG aberto. Os itens são agrupados por tipo de operação e o indicador numérico mostra quantas oportunidades existem naquele agrupamento.</a:t>
            </a:r>
            <a:endParaRPr lang="pt-BR" sz="1800" noProof="0" dirty="0"/>
          </a:p>
        </p:txBody>
      </p:sp>
      <p:sp>
        <p:nvSpPr>
          <p:cNvPr id="9" name="Text 6"/>
          <p:cNvSpPr/>
          <p:nvPr/>
        </p:nvSpPr>
        <p:spPr>
          <a:xfrm>
            <a:off x="822960" y="6044184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noProof="0" dirty="0">
                <a:solidFill>
                  <a:srgbClr val="5F6B76"/>
                </a:solidFill>
              </a:rPr>
              <a:t>O operador expande apenas o grupo que deseja consultar.</a:t>
            </a:r>
            <a:endParaRPr lang="pt-BR" sz="1400" noProof="0" dirty="0"/>
          </a:p>
        </p:txBody>
      </p:sp>
      <p:sp>
        <p:nvSpPr>
          <p:cNvPr id="10" name="Text 7"/>
          <p:cNvSpPr/>
          <p:nvPr/>
        </p:nvSpPr>
        <p:spPr>
          <a:xfrm>
            <a:off x="594360" y="6510528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800" noProof="0" dirty="0">
                <a:solidFill>
                  <a:srgbClr val="7A858F"/>
                </a:solidFill>
              </a:rPr>
              <a:t>Divisão de Operações Especiais – DOE</a:t>
            </a:r>
            <a:endParaRPr lang="pt-BR" sz="800" noProof="0" dirty="0"/>
          </a:p>
        </p:txBody>
      </p:sp>
      <p:sp>
        <p:nvSpPr>
          <p:cNvPr id="11" name="Text 8"/>
          <p:cNvSpPr/>
          <p:nvPr/>
        </p:nvSpPr>
        <p:spPr>
          <a:xfrm>
            <a:off x="11109960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800" noProof="0" dirty="0">
                <a:solidFill>
                  <a:srgbClr val="7A858F"/>
                </a:solidFill>
              </a:rPr>
              <a:t>03</a:t>
            </a:r>
            <a:endParaRPr lang="pt-BR" sz="800" noProof="0" dirty="0"/>
          </a:p>
        </p:txBody>
      </p:sp>
      <p:pic>
        <p:nvPicPr>
          <p:cNvPr id="13" name="Imagem 12">
            <a:extLst>
              <a:ext uri="{FF2B5EF4-FFF2-40B4-BE49-F238E27FC236}">
                <a16:creationId xmlns:a16="http://schemas.microsoft.com/office/drawing/2014/main" id="{66E40B90-3FFF-E22C-0B58-64A7350413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8089" y="2562501"/>
            <a:ext cx="5698453" cy="2583250"/>
          </a:xfrm>
          <a:prstGeom prst="rect">
            <a:avLst/>
          </a:prstGeom>
        </p:spPr>
      </p:pic>
      <p:pic>
        <p:nvPicPr>
          <p:cNvPr id="15" name="Imagem 14">
            <a:extLst>
              <a:ext uri="{FF2B5EF4-FFF2-40B4-BE49-F238E27FC236}">
                <a16:creationId xmlns:a16="http://schemas.microsoft.com/office/drawing/2014/main" id="{5EBD1CE4-810E-CA92-E197-D9E69D0ADF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8089" y="1403781"/>
            <a:ext cx="5698453" cy="10124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kern="0" spc="140" noProof="0" dirty="0">
                <a:solidFill>
                  <a:srgbClr val="146E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SVG • VERSÃO OPERADORES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594360" y="64008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Voluntariar e desistir: gestão pelo próprio operador</a:t>
            </a:r>
            <a:endParaRPr lang="pt-BR" sz="2600" noProof="0" dirty="0"/>
          </a:p>
        </p:txBody>
      </p:sp>
      <p:sp>
        <p:nvSpPr>
          <p:cNvPr id="4" name="Shape 2"/>
          <p:cNvSpPr/>
          <p:nvPr/>
        </p:nvSpPr>
        <p:spPr>
          <a:xfrm>
            <a:off x="594360" y="1261872"/>
            <a:ext cx="10972800" cy="0"/>
          </a:xfrm>
          <a:prstGeom prst="line">
            <a:avLst/>
          </a:prstGeom>
          <a:noFill/>
          <a:ln w="12700">
            <a:solidFill>
              <a:srgbClr val="D8DEE5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Shape 3"/>
          <p:cNvSpPr/>
          <p:nvPr/>
        </p:nvSpPr>
        <p:spPr>
          <a:xfrm>
            <a:off x="8641080" y="1600200"/>
            <a:ext cx="2880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5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7" name="Shape 4"/>
          <p:cNvSpPr/>
          <p:nvPr/>
        </p:nvSpPr>
        <p:spPr>
          <a:xfrm>
            <a:off x="8641080" y="1600200"/>
            <a:ext cx="64008" cy="1097280"/>
          </a:xfrm>
          <a:prstGeom prst="rect">
            <a:avLst/>
          </a:prstGeom>
          <a:solidFill>
            <a:srgbClr val="146EF5"/>
          </a:solidFill>
          <a:ln w="12700">
            <a:solidFill>
              <a:srgbClr val="146EF5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5"/>
          <p:cNvSpPr/>
          <p:nvPr/>
        </p:nvSpPr>
        <p:spPr>
          <a:xfrm>
            <a:off x="8869680" y="178308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 dirty="0">
                <a:solidFill>
                  <a:srgbClr val="17212B"/>
                </a:solidFill>
              </a:rPr>
              <a:t>Informações essenciais</a:t>
            </a:r>
            <a:endParaRPr lang="pt-BR" sz="1500" noProof="0" dirty="0"/>
          </a:p>
        </p:txBody>
      </p:sp>
      <p:sp>
        <p:nvSpPr>
          <p:cNvPr id="9" name="Text 6"/>
          <p:cNvSpPr/>
          <p:nvPr/>
        </p:nvSpPr>
        <p:spPr>
          <a:xfrm>
            <a:off x="8869680" y="2167128"/>
            <a:ext cx="246888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pt-BR" sz="1150" noProof="0" dirty="0">
                <a:solidFill>
                  <a:srgbClr val="5F6B76"/>
                </a:solidFill>
              </a:rPr>
              <a:t>OS, objeto, início e fim da operação.</a:t>
            </a:r>
            <a:endParaRPr lang="pt-BR" sz="1150" noProof="0" dirty="0"/>
          </a:p>
        </p:txBody>
      </p:sp>
      <p:sp>
        <p:nvSpPr>
          <p:cNvPr id="10" name="Shape 7"/>
          <p:cNvSpPr/>
          <p:nvPr/>
        </p:nvSpPr>
        <p:spPr>
          <a:xfrm>
            <a:off x="8641080" y="2880360"/>
            <a:ext cx="2880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5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Shape 8"/>
          <p:cNvSpPr/>
          <p:nvPr/>
        </p:nvSpPr>
        <p:spPr>
          <a:xfrm>
            <a:off x="8641080" y="2880360"/>
            <a:ext cx="64008" cy="1097280"/>
          </a:xfrm>
          <a:prstGeom prst="rect">
            <a:avLst/>
          </a:prstGeom>
          <a:solidFill>
            <a:srgbClr val="146EF5"/>
          </a:solidFill>
          <a:ln w="12700">
            <a:solidFill>
              <a:srgbClr val="146EF5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2" name="Text 9"/>
          <p:cNvSpPr/>
          <p:nvPr/>
        </p:nvSpPr>
        <p:spPr>
          <a:xfrm>
            <a:off x="8869680" y="306324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 dirty="0">
                <a:solidFill>
                  <a:srgbClr val="17212B"/>
                </a:solidFill>
              </a:rPr>
              <a:t>Demanda em tempo real</a:t>
            </a:r>
            <a:endParaRPr lang="pt-BR" sz="1500" noProof="0" dirty="0"/>
          </a:p>
        </p:txBody>
      </p:sp>
      <p:sp>
        <p:nvSpPr>
          <p:cNvPr id="13" name="Text 10"/>
          <p:cNvSpPr/>
          <p:nvPr/>
        </p:nvSpPr>
        <p:spPr>
          <a:xfrm>
            <a:off x="8869680" y="3447288"/>
            <a:ext cx="246888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pt-BR" sz="1150" noProof="0" dirty="0">
                <a:solidFill>
                  <a:srgbClr val="5F6B76"/>
                </a:solidFill>
              </a:rPr>
              <a:t>Quantidade de vagas e de voluntários inscritos.</a:t>
            </a:r>
            <a:endParaRPr lang="pt-BR" sz="1150" noProof="0" dirty="0"/>
          </a:p>
        </p:txBody>
      </p:sp>
      <p:sp>
        <p:nvSpPr>
          <p:cNvPr id="14" name="Shape 11"/>
          <p:cNvSpPr/>
          <p:nvPr/>
        </p:nvSpPr>
        <p:spPr>
          <a:xfrm>
            <a:off x="8641080" y="4160520"/>
            <a:ext cx="288036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EE5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5" name="Shape 12"/>
          <p:cNvSpPr/>
          <p:nvPr/>
        </p:nvSpPr>
        <p:spPr>
          <a:xfrm>
            <a:off x="8641080" y="4160520"/>
            <a:ext cx="64008" cy="1325880"/>
          </a:xfrm>
          <a:prstGeom prst="rect">
            <a:avLst/>
          </a:prstGeom>
          <a:solidFill>
            <a:srgbClr val="168A4A"/>
          </a:solidFill>
          <a:ln w="12700">
            <a:solidFill>
              <a:srgbClr val="168A4A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3"/>
          <p:cNvSpPr/>
          <p:nvPr/>
        </p:nvSpPr>
        <p:spPr>
          <a:xfrm>
            <a:off x="8869680" y="434340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 dirty="0">
                <a:solidFill>
                  <a:srgbClr val="17212B"/>
                </a:solidFill>
              </a:rPr>
              <a:t>Ação direta</a:t>
            </a:r>
            <a:endParaRPr lang="pt-BR" sz="1500" noProof="0" dirty="0"/>
          </a:p>
        </p:txBody>
      </p:sp>
      <p:sp>
        <p:nvSpPr>
          <p:cNvPr id="17" name="Text 14"/>
          <p:cNvSpPr/>
          <p:nvPr/>
        </p:nvSpPr>
        <p:spPr>
          <a:xfrm>
            <a:off x="8869680" y="4727448"/>
            <a:ext cx="2468880" cy="6126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pt-BR" sz="1150" noProof="0" dirty="0">
                <a:solidFill>
                  <a:srgbClr val="5F6B76"/>
                </a:solidFill>
              </a:rPr>
              <a:t>“Voluntariar” registra o interesse; “Desistir” permite retirar a candidatura.</a:t>
            </a:r>
            <a:endParaRPr lang="pt-BR" sz="1150" noProof="0" dirty="0"/>
          </a:p>
        </p:txBody>
      </p:sp>
      <p:sp>
        <p:nvSpPr>
          <p:cNvPr id="18" name="Text 15"/>
          <p:cNvSpPr/>
          <p:nvPr/>
        </p:nvSpPr>
        <p:spPr>
          <a:xfrm>
            <a:off x="594360" y="6510528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800" noProof="0" dirty="0">
                <a:solidFill>
                  <a:srgbClr val="7A858F"/>
                </a:solidFill>
              </a:rPr>
              <a:t>Divisão de Operações Especiais – DOE</a:t>
            </a:r>
            <a:endParaRPr lang="pt-BR" sz="800" noProof="0" dirty="0"/>
          </a:p>
        </p:txBody>
      </p:sp>
      <p:sp>
        <p:nvSpPr>
          <p:cNvPr id="19" name="Text 16"/>
          <p:cNvSpPr/>
          <p:nvPr/>
        </p:nvSpPr>
        <p:spPr>
          <a:xfrm>
            <a:off x="11109960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800" noProof="0" dirty="0">
                <a:solidFill>
                  <a:srgbClr val="7A858F"/>
                </a:solidFill>
              </a:rPr>
              <a:t>04</a:t>
            </a:r>
            <a:endParaRPr lang="pt-BR" sz="800" noProof="0" dirty="0"/>
          </a:p>
        </p:txBody>
      </p:sp>
      <p:pic>
        <p:nvPicPr>
          <p:cNvPr id="21" name="Imagem 20">
            <a:extLst>
              <a:ext uri="{FF2B5EF4-FFF2-40B4-BE49-F238E27FC236}">
                <a16:creationId xmlns:a16="http://schemas.microsoft.com/office/drawing/2014/main" id="{30FE7F42-3360-89BE-A909-ED408EB559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708719" cy="388370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kern="0" spc="140" noProof="0" dirty="0">
                <a:solidFill>
                  <a:srgbClr val="146E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SVG • VERSÃO OPERADORES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594360" y="64008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Como o sistema determina a prioridade</a:t>
            </a:r>
            <a:endParaRPr lang="pt-BR" sz="2600" noProof="0" dirty="0"/>
          </a:p>
        </p:txBody>
      </p:sp>
      <p:sp>
        <p:nvSpPr>
          <p:cNvPr id="4" name="Shape 2"/>
          <p:cNvSpPr/>
          <p:nvPr/>
        </p:nvSpPr>
        <p:spPr>
          <a:xfrm>
            <a:off x="594360" y="1261872"/>
            <a:ext cx="10972800" cy="0"/>
          </a:xfrm>
          <a:prstGeom prst="line">
            <a:avLst/>
          </a:prstGeom>
          <a:noFill/>
          <a:ln w="12700">
            <a:solidFill>
              <a:srgbClr val="D8DEE5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5" name="Shape 3"/>
          <p:cNvSpPr/>
          <p:nvPr/>
        </p:nvSpPr>
        <p:spPr>
          <a:xfrm>
            <a:off x="685800" y="1828800"/>
            <a:ext cx="1508760" cy="1005840"/>
          </a:xfrm>
          <a:prstGeom prst="roundRect">
            <a:avLst>
              <a:gd name="adj" fmla="val 5455"/>
            </a:avLst>
          </a:prstGeom>
          <a:solidFill>
            <a:srgbClr val="E9F2FF"/>
          </a:solidFill>
          <a:ln w="15240">
            <a:solidFill>
              <a:srgbClr val="146EF5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58952" y="2193251"/>
            <a:ext cx="1362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rgbClr val="17212B"/>
                </a:solidFill>
              </a:rPr>
              <a:t>EQUIPE </a:t>
            </a:r>
            <a:r>
              <a:rPr lang="pt-BR" sz="1100" b="1" dirty="0">
                <a:solidFill>
                  <a:srgbClr val="17212B"/>
                </a:solidFill>
              </a:rPr>
              <a:t>ENTRANDO</a:t>
            </a:r>
            <a:endParaRPr lang="pt-BR" sz="1100" noProof="0" dirty="0"/>
          </a:p>
        </p:txBody>
      </p:sp>
      <p:sp>
        <p:nvSpPr>
          <p:cNvPr id="8" name="Text 6"/>
          <p:cNvSpPr/>
          <p:nvPr/>
        </p:nvSpPr>
        <p:spPr>
          <a:xfrm>
            <a:off x="2240280" y="210312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400" noProof="0" dirty="0">
                <a:solidFill>
                  <a:srgbClr val="8B96A1"/>
                </a:solidFill>
              </a:rPr>
              <a:t>›</a:t>
            </a:r>
            <a:endParaRPr lang="pt-BR" sz="2400" noProof="0" dirty="0"/>
          </a:p>
        </p:txBody>
      </p:sp>
      <p:sp>
        <p:nvSpPr>
          <p:cNvPr id="9" name="Shape 7"/>
          <p:cNvSpPr/>
          <p:nvPr/>
        </p:nvSpPr>
        <p:spPr>
          <a:xfrm>
            <a:off x="2542032" y="1828800"/>
            <a:ext cx="1508760" cy="1005840"/>
          </a:xfrm>
          <a:prstGeom prst="roundRect">
            <a:avLst>
              <a:gd name="adj" fmla="val 5455"/>
            </a:avLst>
          </a:prstGeom>
          <a:solidFill>
            <a:srgbClr val="E9F2FF"/>
          </a:solidFill>
          <a:ln w="15240">
            <a:solidFill>
              <a:srgbClr val="146EF5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8"/>
          <p:cNvSpPr/>
          <p:nvPr/>
        </p:nvSpPr>
        <p:spPr>
          <a:xfrm>
            <a:off x="2615184" y="2193251"/>
            <a:ext cx="1362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rgbClr val="17212B"/>
                </a:solidFill>
              </a:rPr>
              <a:t>FANTASMA</a:t>
            </a:r>
            <a:endParaRPr lang="pt-BR" sz="1100" noProof="0" dirty="0"/>
          </a:p>
        </p:txBody>
      </p:sp>
      <p:sp>
        <p:nvSpPr>
          <p:cNvPr id="12" name="Text 10"/>
          <p:cNvSpPr/>
          <p:nvPr/>
        </p:nvSpPr>
        <p:spPr>
          <a:xfrm>
            <a:off x="4096512" y="210312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400" noProof="0" dirty="0">
                <a:solidFill>
                  <a:srgbClr val="8B96A1"/>
                </a:solidFill>
              </a:rPr>
              <a:t>›</a:t>
            </a:r>
            <a:endParaRPr lang="pt-BR" sz="2400" noProof="0" dirty="0"/>
          </a:p>
        </p:txBody>
      </p:sp>
      <p:sp>
        <p:nvSpPr>
          <p:cNvPr id="13" name="Shape 11"/>
          <p:cNvSpPr/>
          <p:nvPr/>
        </p:nvSpPr>
        <p:spPr>
          <a:xfrm>
            <a:off x="4398264" y="1828800"/>
            <a:ext cx="150876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5240">
            <a:solidFill>
              <a:srgbClr val="D8DEE5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4" name="Text 12"/>
          <p:cNvSpPr/>
          <p:nvPr/>
        </p:nvSpPr>
        <p:spPr>
          <a:xfrm>
            <a:off x="4471416" y="2193251"/>
            <a:ext cx="1362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rgbClr val="17212B"/>
                </a:solidFill>
              </a:rPr>
              <a:t>SOBREAVISO</a:t>
            </a:r>
            <a:endParaRPr lang="pt-BR" sz="1100" noProof="0" dirty="0"/>
          </a:p>
        </p:txBody>
      </p:sp>
      <p:sp>
        <p:nvSpPr>
          <p:cNvPr id="16" name="Text 14"/>
          <p:cNvSpPr/>
          <p:nvPr/>
        </p:nvSpPr>
        <p:spPr>
          <a:xfrm>
            <a:off x="5952744" y="210312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400" noProof="0" dirty="0">
                <a:solidFill>
                  <a:srgbClr val="8B96A1"/>
                </a:solidFill>
              </a:rPr>
              <a:t>›</a:t>
            </a:r>
            <a:endParaRPr lang="pt-BR" sz="2400" noProof="0" dirty="0"/>
          </a:p>
        </p:txBody>
      </p:sp>
      <p:sp>
        <p:nvSpPr>
          <p:cNvPr id="17" name="Shape 15"/>
          <p:cNvSpPr/>
          <p:nvPr/>
        </p:nvSpPr>
        <p:spPr>
          <a:xfrm>
            <a:off x="6254496" y="1828800"/>
            <a:ext cx="150876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5240">
            <a:solidFill>
              <a:srgbClr val="D8DEE5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8" name="Text 16"/>
          <p:cNvSpPr/>
          <p:nvPr/>
        </p:nvSpPr>
        <p:spPr>
          <a:xfrm>
            <a:off x="6327648" y="2193251"/>
            <a:ext cx="1362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rgbClr val="17212B"/>
                </a:solidFill>
              </a:rPr>
              <a:t>1ª FOLGA</a:t>
            </a:r>
            <a:endParaRPr lang="pt-BR" sz="1100" noProof="0" dirty="0"/>
          </a:p>
        </p:txBody>
      </p:sp>
      <p:sp>
        <p:nvSpPr>
          <p:cNvPr id="20" name="Text 18"/>
          <p:cNvSpPr/>
          <p:nvPr/>
        </p:nvSpPr>
        <p:spPr>
          <a:xfrm>
            <a:off x="7808976" y="210312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400" noProof="0" dirty="0">
                <a:solidFill>
                  <a:srgbClr val="8B96A1"/>
                </a:solidFill>
              </a:rPr>
              <a:t>›</a:t>
            </a:r>
            <a:endParaRPr lang="pt-BR" sz="2400" noProof="0" dirty="0"/>
          </a:p>
        </p:txBody>
      </p:sp>
      <p:sp>
        <p:nvSpPr>
          <p:cNvPr id="21" name="Shape 19"/>
          <p:cNvSpPr/>
          <p:nvPr/>
        </p:nvSpPr>
        <p:spPr>
          <a:xfrm>
            <a:off x="8110728" y="1828800"/>
            <a:ext cx="150876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5240">
            <a:solidFill>
              <a:srgbClr val="D8DEE5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2" name="Text 20"/>
          <p:cNvSpPr/>
          <p:nvPr/>
        </p:nvSpPr>
        <p:spPr>
          <a:xfrm>
            <a:off x="8183880" y="2193251"/>
            <a:ext cx="1362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rgbClr val="17212B"/>
                </a:solidFill>
              </a:rPr>
              <a:t>EXPEDIENTE</a:t>
            </a:r>
            <a:endParaRPr lang="pt-BR" sz="1100" noProof="0" dirty="0"/>
          </a:p>
        </p:txBody>
      </p:sp>
      <p:sp>
        <p:nvSpPr>
          <p:cNvPr id="24" name="Text 22"/>
          <p:cNvSpPr/>
          <p:nvPr/>
        </p:nvSpPr>
        <p:spPr>
          <a:xfrm>
            <a:off x="9665208" y="210312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400" noProof="0" dirty="0">
                <a:solidFill>
                  <a:srgbClr val="8B96A1"/>
                </a:solidFill>
              </a:rPr>
              <a:t>›</a:t>
            </a:r>
            <a:endParaRPr lang="pt-BR" sz="2400" noProof="0" dirty="0"/>
          </a:p>
        </p:txBody>
      </p:sp>
      <p:sp>
        <p:nvSpPr>
          <p:cNvPr id="25" name="Shape 23"/>
          <p:cNvSpPr/>
          <p:nvPr/>
        </p:nvSpPr>
        <p:spPr>
          <a:xfrm>
            <a:off x="9966960" y="1828800"/>
            <a:ext cx="150876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5240">
            <a:solidFill>
              <a:srgbClr val="D8DEE5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6" name="Text 24"/>
          <p:cNvSpPr/>
          <p:nvPr/>
        </p:nvSpPr>
        <p:spPr>
          <a:xfrm>
            <a:off x="10040112" y="2193251"/>
            <a:ext cx="1362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rgbClr val="17212B"/>
                </a:solidFill>
              </a:rPr>
              <a:t>PRÓXIMO</a:t>
            </a:r>
            <a:endParaRPr lang="pt-BR" sz="1100" noProof="0" dirty="0"/>
          </a:p>
        </p:txBody>
      </p:sp>
      <p:sp>
        <p:nvSpPr>
          <p:cNvPr id="28" name="Text 26"/>
          <p:cNvSpPr/>
          <p:nvPr/>
        </p:nvSpPr>
        <p:spPr>
          <a:xfrm>
            <a:off x="914400" y="34290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800" noProof="0" dirty="0">
                <a:solidFill>
                  <a:srgbClr val="17212B"/>
                </a:solidFill>
              </a:rPr>
              <a:t>Primeiro, o sistema identifica a situação da equipe do operador. </a:t>
            </a:r>
          </a:p>
          <a:p>
            <a:pPr marL="0" indent="0" algn="ctr">
              <a:buNone/>
            </a:pPr>
            <a:r>
              <a:rPr lang="pt-BR" sz="1800" noProof="0" dirty="0">
                <a:solidFill>
                  <a:srgbClr val="17212B"/>
                </a:solidFill>
              </a:rPr>
              <a:t>A ordem de cada equipe expressa a prioridade operacional daquele grupo.</a:t>
            </a:r>
            <a:endParaRPr lang="pt-BR" sz="1800" noProof="0" dirty="0"/>
          </a:p>
        </p:txBody>
      </p:sp>
      <p:sp>
        <p:nvSpPr>
          <p:cNvPr id="29" name="Shape 27"/>
          <p:cNvSpPr/>
          <p:nvPr/>
        </p:nvSpPr>
        <p:spPr>
          <a:xfrm>
            <a:off x="1828800" y="4572000"/>
            <a:ext cx="8503920" cy="777240"/>
          </a:xfrm>
          <a:prstGeom prst="roundRect">
            <a:avLst>
              <a:gd name="adj" fmla="val 705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0" name="Text 28"/>
          <p:cNvSpPr/>
          <p:nvPr/>
        </p:nvSpPr>
        <p:spPr>
          <a:xfrm>
            <a:off x="2057400" y="477316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400" b="1" noProof="0" dirty="0">
                <a:solidFill>
                  <a:srgbClr val="17212B"/>
                </a:solidFill>
              </a:rPr>
              <a:t>Dentro de cada grupo, a ordenação considera os critérios definidos pelo SVG, incluindo histórico de operações, horas e engajamento.</a:t>
            </a:r>
            <a:endParaRPr lang="pt-BR" sz="1400" noProof="0" dirty="0"/>
          </a:p>
        </p:txBody>
      </p:sp>
      <p:sp>
        <p:nvSpPr>
          <p:cNvPr id="31" name="Text 29"/>
          <p:cNvSpPr/>
          <p:nvPr/>
        </p:nvSpPr>
        <p:spPr>
          <a:xfrm>
            <a:off x="594360" y="6510528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800" noProof="0" dirty="0">
                <a:solidFill>
                  <a:srgbClr val="7A858F"/>
                </a:solidFill>
              </a:rPr>
              <a:t>Divisão de Operações Especiais – DOE</a:t>
            </a:r>
            <a:endParaRPr lang="pt-BR" sz="800" noProof="0" dirty="0"/>
          </a:p>
        </p:txBody>
      </p:sp>
      <p:sp>
        <p:nvSpPr>
          <p:cNvPr id="32" name="Text 30"/>
          <p:cNvSpPr/>
          <p:nvPr/>
        </p:nvSpPr>
        <p:spPr>
          <a:xfrm>
            <a:off x="11109960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800" noProof="0" dirty="0">
                <a:solidFill>
                  <a:srgbClr val="7A858F"/>
                </a:solidFill>
              </a:rPr>
              <a:t>06</a:t>
            </a:r>
            <a:endParaRPr lang="pt-BR" sz="800" noProof="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kern="0" spc="140" noProof="0" dirty="0">
                <a:solidFill>
                  <a:srgbClr val="146E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SVG • VERSÃO OPERADORES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594360" y="64008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Exemplo prático: grupos de prioridade</a:t>
            </a:r>
            <a:endParaRPr lang="pt-BR" sz="2600" noProof="0" dirty="0"/>
          </a:p>
        </p:txBody>
      </p:sp>
      <p:sp>
        <p:nvSpPr>
          <p:cNvPr id="4" name="Shape 2"/>
          <p:cNvSpPr/>
          <p:nvPr/>
        </p:nvSpPr>
        <p:spPr>
          <a:xfrm>
            <a:off x="594360" y="1261872"/>
            <a:ext cx="10972800" cy="0"/>
          </a:xfrm>
          <a:prstGeom prst="line">
            <a:avLst/>
          </a:prstGeom>
          <a:noFill/>
          <a:ln w="12700">
            <a:solidFill>
              <a:srgbClr val="D8DEE5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pic>
        <p:nvPicPr>
          <p:cNvPr id="5" name="Image 0" descr="/mnt/data/1192323e-31d7-45f5-8d57-fc55059550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417320"/>
            <a:ext cx="8138160" cy="45262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006840" y="1600200"/>
            <a:ext cx="246888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8DEE5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7" name="Shape 4"/>
          <p:cNvSpPr/>
          <p:nvPr/>
        </p:nvSpPr>
        <p:spPr>
          <a:xfrm>
            <a:off x="9006840" y="1600200"/>
            <a:ext cx="64008" cy="1051560"/>
          </a:xfrm>
          <a:prstGeom prst="rect">
            <a:avLst/>
          </a:prstGeom>
          <a:solidFill>
            <a:srgbClr val="146EF5"/>
          </a:solidFill>
          <a:ln w="12700">
            <a:solidFill>
              <a:srgbClr val="146EF5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5"/>
          <p:cNvSpPr/>
          <p:nvPr/>
        </p:nvSpPr>
        <p:spPr>
          <a:xfrm>
            <a:off x="9235440" y="178308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 dirty="0" err="1">
                <a:solidFill>
                  <a:srgbClr val="17212B"/>
                </a:solidFill>
              </a:rPr>
              <a:t>PesoEquipe</a:t>
            </a:r>
            <a:endParaRPr lang="pt-BR" sz="1500" noProof="0" dirty="0"/>
          </a:p>
        </p:txBody>
      </p:sp>
      <p:sp>
        <p:nvSpPr>
          <p:cNvPr id="9" name="Text 6"/>
          <p:cNvSpPr/>
          <p:nvPr/>
        </p:nvSpPr>
        <p:spPr>
          <a:xfrm>
            <a:off x="9235440" y="2167128"/>
            <a:ext cx="2057400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pt-BR" sz="1150" noProof="0" dirty="0">
                <a:solidFill>
                  <a:srgbClr val="5F6B76"/>
                </a:solidFill>
              </a:rPr>
              <a:t>Separa os grupos conforme a situação operacional.</a:t>
            </a:r>
            <a:endParaRPr lang="pt-BR" sz="1150" noProof="0" dirty="0"/>
          </a:p>
        </p:txBody>
      </p:sp>
      <p:sp>
        <p:nvSpPr>
          <p:cNvPr id="10" name="Shape 7"/>
          <p:cNvSpPr/>
          <p:nvPr/>
        </p:nvSpPr>
        <p:spPr>
          <a:xfrm>
            <a:off x="9006840" y="2834640"/>
            <a:ext cx="246888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8DEE5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Shape 8"/>
          <p:cNvSpPr/>
          <p:nvPr/>
        </p:nvSpPr>
        <p:spPr>
          <a:xfrm>
            <a:off x="9006840" y="2834640"/>
            <a:ext cx="64008" cy="1051560"/>
          </a:xfrm>
          <a:prstGeom prst="rect">
            <a:avLst/>
          </a:prstGeom>
          <a:solidFill>
            <a:srgbClr val="146EF5"/>
          </a:solidFill>
          <a:ln w="12700">
            <a:solidFill>
              <a:srgbClr val="146EF5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2" name="Text 9"/>
          <p:cNvSpPr/>
          <p:nvPr/>
        </p:nvSpPr>
        <p:spPr>
          <a:xfrm>
            <a:off x="9235440" y="301752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 dirty="0" err="1">
                <a:solidFill>
                  <a:srgbClr val="17212B"/>
                </a:solidFill>
              </a:rPr>
              <a:t>SituaçãoEquipe</a:t>
            </a:r>
            <a:endParaRPr lang="pt-BR" sz="1500" noProof="0" dirty="0"/>
          </a:p>
        </p:txBody>
      </p:sp>
      <p:sp>
        <p:nvSpPr>
          <p:cNvPr id="13" name="Text 10"/>
          <p:cNvSpPr/>
          <p:nvPr/>
        </p:nvSpPr>
        <p:spPr>
          <a:xfrm>
            <a:off x="9235440" y="3401568"/>
            <a:ext cx="2057400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pt-BR" sz="1150" noProof="0" dirty="0">
                <a:solidFill>
                  <a:srgbClr val="5F6B76"/>
                </a:solidFill>
              </a:rPr>
              <a:t>Atual, Fantasma, Sobreaviso, Primeira Folga, Expediente e Próximo.</a:t>
            </a:r>
            <a:endParaRPr lang="pt-BR" sz="1150" noProof="0" dirty="0"/>
          </a:p>
        </p:txBody>
      </p:sp>
      <p:sp>
        <p:nvSpPr>
          <p:cNvPr id="14" name="Shape 11"/>
          <p:cNvSpPr/>
          <p:nvPr/>
        </p:nvSpPr>
        <p:spPr>
          <a:xfrm>
            <a:off x="9006840" y="4069080"/>
            <a:ext cx="246888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8DEE5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5" name="Shape 12"/>
          <p:cNvSpPr/>
          <p:nvPr/>
        </p:nvSpPr>
        <p:spPr>
          <a:xfrm>
            <a:off x="9006840" y="4069080"/>
            <a:ext cx="64008" cy="1280160"/>
          </a:xfrm>
          <a:prstGeom prst="rect">
            <a:avLst/>
          </a:prstGeom>
          <a:solidFill>
            <a:srgbClr val="BFA46F"/>
          </a:solidFill>
          <a:ln w="12700">
            <a:solidFill>
              <a:srgbClr val="BFA46F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3"/>
          <p:cNvSpPr/>
          <p:nvPr/>
        </p:nvSpPr>
        <p:spPr>
          <a:xfrm>
            <a:off x="9235440" y="425196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 dirty="0" err="1">
                <a:solidFill>
                  <a:srgbClr val="17212B"/>
                </a:solidFill>
              </a:rPr>
              <a:t>OrdemNaEquipe</a:t>
            </a:r>
            <a:endParaRPr lang="pt-BR" sz="1500" noProof="0" dirty="0"/>
          </a:p>
        </p:txBody>
      </p:sp>
      <p:sp>
        <p:nvSpPr>
          <p:cNvPr id="17" name="Text 14"/>
          <p:cNvSpPr/>
          <p:nvPr/>
        </p:nvSpPr>
        <p:spPr>
          <a:xfrm>
            <a:off x="9235440" y="4636008"/>
            <a:ext cx="205740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pt-BR" sz="1150" noProof="0" dirty="0">
                <a:solidFill>
                  <a:srgbClr val="5F6B76"/>
                </a:solidFill>
              </a:rPr>
              <a:t>Define a posição do operador dentro do seu próprio grupo.</a:t>
            </a:r>
            <a:endParaRPr lang="pt-BR" sz="1150" noProof="0" dirty="0"/>
          </a:p>
        </p:txBody>
      </p:sp>
      <p:sp>
        <p:nvSpPr>
          <p:cNvPr id="18" name="Text 15"/>
          <p:cNvSpPr/>
          <p:nvPr/>
        </p:nvSpPr>
        <p:spPr>
          <a:xfrm>
            <a:off x="594360" y="6510528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800" noProof="0" dirty="0">
                <a:solidFill>
                  <a:srgbClr val="7A858F"/>
                </a:solidFill>
              </a:rPr>
              <a:t>Divisão de Operações Especiais – DOE</a:t>
            </a:r>
            <a:endParaRPr lang="pt-BR" sz="800" noProof="0" dirty="0"/>
          </a:p>
        </p:txBody>
      </p:sp>
      <p:sp>
        <p:nvSpPr>
          <p:cNvPr id="19" name="Text 16"/>
          <p:cNvSpPr/>
          <p:nvPr/>
        </p:nvSpPr>
        <p:spPr>
          <a:xfrm>
            <a:off x="11109960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800" noProof="0" dirty="0">
                <a:solidFill>
                  <a:srgbClr val="7A858F"/>
                </a:solidFill>
              </a:rPr>
              <a:t>07</a:t>
            </a:r>
            <a:endParaRPr lang="pt-BR" sz="800" noProof="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kern="0" spc="140" noProof="0" dirty="0">
                <a:solidFill>
                  <a:srgbClr val="146E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SVG • VERSÃO OPERADORES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594360" y="64008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Exemplo prático: ordenação dentro da equipe</a:t>
            </a:r>
            <a:endParaRPr lang="pt-BR" sz="2600" noProof="0" dirty="0"/>
          </a:p>
        </p:txBody>
      </p:sp>
      <p:sp>
        <p:nvSpPr>
          <p:cNvPr id="4" name="Shape 2"/>
          <p:cNvSpPr/>
          <p:nvPr/>
        </p:nvSpPr>
        <p:spPr>
          <a:xfrm>
            <a:off x="594360" y="1261872"/>
            <a:ext cx="10972800" cy="0"/>
          </a:xfrm>
          <a:prstGeom prst="line">
            <a:avLst/>
          </a:prstGeom>
          <a:noFill/>
          <a:ln w="12700">
            <a:solidFill>
              <a:srgbClr val="D8DEE5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pic>
        <p:nvPicPr>
          <p:cNvPr id="5" name="Image 0" descr="/mnt/data/227c00e9-5a96-4c64-9553-e925da4b56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554480"/>
            <a:ext cx="10835640" cy="3291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60120" y="5166360"/>
            <a:ext cx="4800600" cy="685800"/>
          </a:xfrm>
          <a:prstGeom prst="roundRect">
            <a:avLst>
              <a:gd name="adj" fmla="val 8000"/>
            </a:avLst>
          </a:prstGeom>
          <a:solidFill>
            <a:srgbClr val="E9F2FF"/>
          </a:solidFill>
          <a:ln w="12700">
            <a:solidFill>
              <a:srgbClr val="B8D6FF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7" name="Text 4"/>
          <p:cNvSpPr/>
          <p:nvPr/>
        </p:nvSpPr>
        <p:spPr>
          <a:xfrm>
            <a:off x="1143000" y="5376672"/>
            <a:ext cx="4434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17212B"/>
                </a:solidFill>
              </a:rPr>
              <a:t>SOE IV • Fantasma • Peso 5</a:t>
            </a:r>
            <a:endParaRPr lang="pt-BR" sz="1500" noProof="0" dirty="0"/>
          </a:p>
        </p:txBody>
      </p:sp>
      <p:sp>
        <p:nvSpPr>
          <p:cNvPr id="8" name="Shape 5"/>
          <p:cNvSpPr/>
          <p:nvPr/>
        </p:nvSpPr>
        <p:spPr>
          <a:xfrm>
            <a:off x="6400800" y="5166360"/>
            <a:ext cx="48006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5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9" name="Text 6"/>
          <p:cNvSpPr/>
          <p:nvPr/>
        </p:nvSpPr>
        <p:spPr>
          <a:xfrm>
            <a:off x="6583680" y="5376672"/>
            <a:ext cx="4434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17212B"/>
                </a:solidFill>
              </a:rPr>
              <a:t>SOE I • Primeira Folga • Peso 3</a:t>
            </a:r>
            <a:endParaRPr lang="pt-BR" sz="1500" noProof="0" dirty="0"/>
          </a:p>
        </p:txBody>
      </p:sp>
      <p:sp>
        <p:nvSpPr>
          <p:cNvPr id="10" name="Text 7"/>
          <p:cNvSpPr/>
          <p:nvPr/>
        </p:nvSpPr>
        <p:spPr>
          <a:xfrm>
            <a:off x="914400" y="598932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300" noProof="0" dirty="0">
                <a:solidFill>
                  <a:srgbClr val="5F6B76"/>
                </a:solidFill>
              </a:rPr>
              <a:t>Operadores do mesmo grupo recebem uma ordem interna; somente depois o sistema avança para o grupo de prioridade seguinte.</a:t>
            </a:r>
            <a:endParaRPr lang="pt-BR" sz="1300" noProof="0" dirty="0"/>
          </a:p>
        </p:txBody>
      </p:sp>
      <p:sp>
        <p:nvSpPr>
          <p:cNvPr id="11" name="Text 8"/>
          <p:cNvSpPr/>
          <p:nvPr/>
        </p:nvSpPr>
        <p:spPr>
          <a:xfrm>
            <a:off x="594360" y="6510528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800" noProof="0" dirty="0">
                <a:solidFill>
                  <a:srgbClr val="7A858F"/>
                </a:solidFill>
              </a:rPr>
              <a:t>Divisão de Operações Especiais – DOE</a:t>
            </a:r>
            <a:endParaRPr lang="pt-BR" sz="800" noProof="0" dirty="0"/>
          </a:p>
        </p:txBody>
      </p:sp>
      <p:sp>
        <p:nvSpPr>
          <p:cNvPr id="12" name="Text 9"/>
          <p:cNvSpPr/>
          <p:nvPr/>
        </p:nvSpPr>
        <p:spPr>
          <a:xfrm>
            <a:off x="11109960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800" noProof="0" dirty="0">
                <a:solidFill>
                  <a:srgbClr val="7A858F"/>
                </a:solidFill>
              </a:rPr>
              <a:t>08</a:t>
            </a:r>
            <a:endParaRPr lang="pt-BR" sz="800" noProof="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kern="0" spc="140" noProof="0" dirty="0">
                <a:solidFill>
                  <a:srgbClr val="146E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SVG • VERSÃO OPERADORES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594360" y="64008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Fluxo do operador</a:t>
            </a:r>
            <a:endParaRPr lang="pt-BR" sz="2600" noProof="0" dirty="0"/>
          </a:p>
        </p:txBody>
      </p:sp>
      <p:sp>
        <p:nvSpPr>
          <p:cNvPr id="4" name="Shape 2"/>
          <p:cNvSpPr/>
          <p:nvPr/>
        </p:nvSpPr>
        <p:spPr>
          <a:xfrm>
            <a:off x="594360" y="1261872"/>
            <a:ext cx="10972800" cy="0"/>
          </a:xfrm>
          <a:prstGeom prst="line">
            <a:avLst/>
          </a:prstGeom>
          <a:noFill/>
          <a:ln w="12700">
            <a:solidFill>
              <a:srgbClr val="D8DEE5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5" name="Shape 3"/>
          <p:cNvSpPr/>
          <p:nvPr/>
        </p:nvSpPr>
        <p:spPr>
          <a:xfrm>
            <a:off x="1161288" y="1828800"/>
            <a:ext cx="685800" cy="685800"/>
          </a:xfrm>
          <a:prstGeom prst="ellipse">
            <a:avLst/>
          </a:prstGeom>
          <a:solidFill>
            <a:srgbClr val="146EF5"/>
          </a:solidFill>
          <a:ln w="12700">
            <a:solidFill>
              <a:srgbClr val="146EF5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1161288" y="201168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600" b="1" noProof="0" dirty="0">
                <a:solidFill>
                  <a:srgbClr val="FFFFFF"/>
                </a:solidFill>
              </a:rPr>
              <a:t>1</a:t>
            </a:r>
            <a:endParaRPr lang="pt-BR" sz="1600" noProof="0" dirty="0"/>
          </a:p>
        </p:txBody>
      </p:sp>
      <p:sp>
        <p:nvSpPr>
          <p:cNvPr id="7" name="Text 5"/>
          <p:cNvSpPr/>
          <p:nvPr/>
        </p:nvSpPr>
        <p:spPr>
          <a:xfrm>
            <a:off x="502920" y="27889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300" b="1" noProof="0" dirty="0">
                <a:solidFill>
                  <a:srgbClr val="17212B"/>
                </a:solidFill>
              </a:rPr>
              <a:t>SVG ABERTO</a:t>
            </a:r>
            <a:endParaRPr lang="pt-BR" sz="1300" noProof="0" dirty="0"/>
          </a:p>
        </p:txBody>
      </p:sp>
      <p:sp>
        <p:nvSpPr>
          <p:cNvPr id="8" name="Text 6"/>
          <p:cNvSpPr/>
          <p:nvPr/>
        </p:nvSpPr>
        <p:spPr>
          <a:xfrm>
            <a:off x="576072" y="320040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noProof="0" dirty="0">
                <a:solidFill>
                  <a:srgbClr val="5F6B76"/>
                </a:solidFill>
              </a:rPr>
              <a:t>Consulta as operações disponíveis</a:t>
            </a:r>
            <a:endParaRPr lang="pt-BR" sz="1100" noProof="0" dirty="0"/>
          </a:p>
        </p:txBody>
      </p:sp>
      <p:sp>
        <p:nvSpPr>
          <p:cNvPr id="9" name="Text 7"/>
          <p:cNvSpPr/>
          <p:nvPr/>
        </p:nvSpPr>
        <p:spPr>
          <a:xfrm>
            <a:off x="2496312" y="197510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200" noProof="0" dirty="0">
                <a:solidFill>
                  <a:srgbClr val="8B96A1"/>
                </a:solidFill>
              </a:rPr>
              <a:t>→</a:t>
            </a:r>
            <a:endParaRPr lang="pt-BR" sz="2200" noProof="0" dirty="0"/>
          </a:p>
        </p:txBody>
      </p:sp>
      <p:sp>
        <p:nvSpPr>
          <p:cNvPr id="10" name="Shape 8"/>
          <p:cNvSpPr/>
          <p:nvPr/>
        </p:nvSpPr>
        <p:spPr>
          <a:xfrm>
            <a:off x="3493008" y="1828800"/>
            <a:ext cx="685800" cy="685800"/>
          </a:xfrm>
          <a:prstGeom prst="ellipse">
            <a:avLst/>
          </a:prstGeom>
          <a:solidFill>
            <a:srgbClr val="146EF5"/>
          </a:solidFill>
          <a:ln w="12700">
            <a:solidFill>
              <a:srgbClr val="146EF5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Text 9"/>
          <p:cNvSpPr/>
          <p:nvPr/>
        </p:nvSpPr>
        <p:spPr>
          <a:xfrm>
            <a:off x="3493008" y="201168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600" b="1" noProof="0" dirty="0">
                <a:solidFill>
                  <a:srgbClr val="FFFFFF"/>
                </a:solidFill>
              </a:rPr>
              <a:t>2</a:t>
            </a:r>
            <a:endParaRPr lang="pt-BR" sz="1600" noProof="0" dirty="0"/>
          </a:p>
        </p:txBody>
      </p:sp>
      <p:sp>
        <p:nvSpPr>
          <p:cNvPr id="12" name="Text 10"/>
          <p:cNvSpPr/>
          <p:nvPr/>
        </p:nvSpPr>
        <p:spPr>
          <a:xfrm>
            <a:off x="2834640" y="27889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300" b="1" noProof="0" dirty="0">
                <a:solidFill>
                  <a:srgbClr val="17212B"/>
                </a:solidFill>
              </a:rPr>
              <a:t>VOLUNTARIAR</a:t>
            </a:r>
            <a:endParaRPr lang="pt-BR" sz="1300" noProof="0" dirty="0"/>
          </a:p>
        </p:txBody>
      </p:sp>
      <p:sp>
        <p:nvSpPr>
          <p:cNvPr id="13" name="Text 11"/>
          <p:cNvSpPr/>
          <p:nvPr/>
        </p:nvSpPr>
        <p:spPr>
          <a:xfrm>
            <a:off x="2907792" y="320040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noProof="0" dirty="0">
                <a:solidFill>
                  <a:srgbClr val="5F6B76"/>
                </a:solidFill>
              </a:rPr>
              <a:t>Registra interesse na operação</a:t>
            </a:r>
            <a:endParaRPr lang="pt-BR" sz="1100" noProof="0" dirty="0"/>
          </a:p>
        </p:txBody>
      </p:sp>
      <p:sp>
        <p:nvSpPr>
          <p:cNvPr id="14" name="Text 12"/>
          <p:cNvSpPr/>
          <p:nvPr/>
        </p:nvSpPr>
        <p:spPr>
          <a:xfrm>
            <a:off x="4828032" y="197510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200" noProof="0" dirty="0">
                <a:solidFill>
                  <a:srgbClr val="8B96A1"/>
                </a:solidFill>
              </a:rPr>
              <a:t>→</a:t>
            </a:r>
            <a:endParaRPr lang="pt-BR" sz="2200" noProof="0" dirty="0"/>
          </a:p>
        </p:txBody>
      </p:sp>
      <p:sp>
        <p:nvSpPr>
          <p:cNvPr id="15" name="Shape 13"/>
          <p:cNvSpPr/>
          <p:nvPr/>
        </p:nvSpPr>
        <p:spPr>
          <a:xfrm>
            <a:off x="5824728" y="1828800"/>
            <a:ext cx="685800" cy="685800"/>
          </a:xfrm>
          <a:prstGeom prst="ellipse">
            <a:avLst/>
          </a:prstGeom>
          <a:solidFill>
            <a:srgbClr val="146EF5"/>
          </a:solidFill>
          <a:ln w="12700">
            <a:solidFill>
              <a:srgbClr val="146EF5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4"/>
          <p:cNvSpPr/>
          <p:nvPr/>
        </p:nvSpPr>
        <p:spPr>
          <a:xfrm>
            <a:off x="5824728" y="201168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600" b="1" noProof="0" dirty="0">
                <a:solidFill>
                  <a:srgbClr val="FFFFFF"/>
                </a:solidFill>
              </a:rPr>
              <a:t>3</a:t>
            </a:r>
            <a:endParaRPr lang="pt-BR" sz="1600" noProof="0" dirty="0"/>
          </a:p>
        </p:txBody>
      </p:sp>
      <p:sp>
        <p:nvSpPr>
          <p:cNvPr id="17" name="Text 15"/>
          <p:cNvSpPr/>
          <p:nvPr/>
        </p:nvSpPr>
        <p:spPr>
          <a:xfrm>
            <a:off x="5166360" y="27889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300" b="1" noProof="0" dirty="0">
                <a:solidFill>
                  <a:srgbClr val="17212B"/>
                </a:solidFill>
              </a:rPr>
              <a:t>ESCALA</a:t>
            </a:r>
            <a:endParaRPr lang="pt-BR" sz="1300" noProof="0" dirty="0"/>
          </a:p>
        </p:txBody>
      </p:sp>
      <p:sp>
        <p:nvSpPr>
          <p:cNvPr id="18" name="Text 16"/>
          <p:cNvSpPr/>
          <p:nvPr/>
        </p:nvSpPr>
        <p:spPr>
          <a:xfrm>
            <a:off x="5239512" y="320040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noProof="0" dirty="0">
                <a:solidFill>
                  <a:srgbClr val="5F6B76"/>
                </a:solidFill>
              </a:rPr>
              <a:t>Sistema identifica a situação operacional</a:t>
            </a:r>
            <a:endParaRPr lang="pt-BR" sz="1100" noProof="0" dirty="0"/>
          </a:p>
        </p:txBody>
      </p:sp>
      <p:sp>
        <p:nvSpPr>
          <p:cNvPr id="19" name="Text 17"/>
          <p:cNvSpPr/>
          <p:nvPr/>
        </p:nvSpPr>
        <p:spPr>
          <a:xfrm>
            <a:off x="7159752" y="197510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200" noProof="0" dirty="0">
                <a:solidFill>
                  <a:srgbClr val="8B96A1"/>
                </a:solidFill>
              </a:rPr>
              <a:t>→</a:t>
            </a:r>
            <a:endParaRPr lang="pt-BR" sz="2200" noProof="0" dirty="0"/>
          </a:p>
        </p:txBody>
      </p:sp>
      <p:sp>
        <p:nvSpPr>
          <p:cNvPr id="20" name="Shape 18"/>
          <p:cNvSpPr/>
          <p:nvPr/>
        </p:nvSpPr>
        <p:spPr>
          <a:xfrm>
            <a:off x="8156448" y="1828800"/>
            <a:ext cx="685800" cy="685800"/>
          </a:xfrm>
          <a:prstGeom prst="ellipse">
            <a:avLst/>
          </a:prstGeom>
          <a:solidFill>
            <a:srgbClr val="146EF5"/>
          </a:solidFill>
          <a:ln w="12700">
            <a:solidFill>
              <a:srgbClr val="146EF5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1" name="Text 19"/>
          <p:cNvSpPr/>
          <p:nvPr/>
        </p:nvSpPr>
        <p:spPr>
          <a:xfrm>
            <a:off x="8156448" y="201168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600" b="1" noProof="0" dirty="0">
                <a:solidFill>
                  <a:srgbClr val="FFFFFF"/>
                </a:solidFill>
              </a:rPr>
              <a:t>4</a:t>
            </a:r>
            <a:endParaRPr lang="pt-BR" sz="1600" noProof="0" dirty="0"/>
          </a:p>
        </p:txBody>
      </p:sp>
      <p:sp>
        <p:nvSpPr>
          <p:cNvPr id="22" name="Text 20"/>
          <p:cNvSpPr/>
          <p:nvPr/>
        </p:nvSpPr>
        <p:spPr>
          <a:xfrm>
            <a:off x="7498080" y="27889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300" b="1" noProof="0" dirty="0">
                <a:solidFill>
                  <a:srgbClr val="17212B"/>
                </a:solidFill>
              </a:rPr>
              <a:t>PRIORIZAÇÃO</a:t>
            </a:r>
            <a:endParaRPr lang="pt-BR" sz="1300" noProof="0" dirty="0"/>
          </a:p>
        </p:txBody>
      </p:sp>
      <p:sp>
        <p:nvSpPr>
          <p:cNvPr id="23" name="Text 21"/>
          <p:cNvSpPr/>
          <p:nvPr/>
        </p:nvSpPr>
        <p:spPr>
          <a:xfrm>
            <a:off x="7571232" y="320040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noProof="0" dirty="0">
                <a:solidFill>
                  <a:srgbClr val="5F6B76"/>
                </a:solidFill>
              </a:rPr>
              <a:t>Aplica grupo e ordem interna</a:t>
            </a:r>
            <a:endParaRPr lang="pt-BR" sz="1100" noProof="0" dirty="0"/>
          </a:p>
        </p:txBody>
      </p:sp>
      <p:sp>
        <p:nvSpPr>
          <p:cNvPr id="24" name="Text 22"/>
          <p:cNvSpPr/>
          <p:nvPr/>
        </p:nvSpPr>
        <p:spPr>
          <a:xfrm>
            <a:off x="9491472" y="197510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200" noProof="0" dirty="0">
                <a:solidFill>
                  <a:srgbClr val="8B96A1"/>
                </a:solidFill>
              </a:rPr>
              <a:t>→</a:t>
            </a:r>
            <a:endParaRPr lang="pt-BR" sz="2200" noProof="0" dirty="0"/>
          </a:p>
        </p:txBody>
      </p:sp>
      <p:sp>
        <p:nvSpPr>
          <p:cNvPr id="25" name="Shape 23"/>
          <p:cNvSpPr/>
          <p:nvPr/>
        </p:nvSpPr>
        <p:spPr>
          <a:xfrm>
            <a:off x="10488168" y="1828800"/>
            <a:ext cx="685800" cy="685800"/>
          </a:xfrm>
          <a:prstGeom prst="ellipse">
            <a:avLst/>
          </a:prstGeom>
          <a:solidFill>
            <a:srgbClr val="BFA46F"/>
          </a:solidFill>
          <a:ln w="12700">
            <a:solidFill>
              <a:srgbClr val="BFA46F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6" name="Text 24"/>
          <p:cNvSpPr/>
          <p:nvPr/>
        </p:nvSpPr>
        <p:spPr>
          <a:xfrm>
            <a:off x="10488168" y="201168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600" b="1" noProof="0" dirty="0">
                <a:solidFill>
                  <a:srgbClr val="FFFFFF"/>
                </a:solidFill>
              </a:rPr>
              <a:t>5</a:t>
            </a:r>
            <a:endParaRPr lang="pt-BR" sz="1600" noProof="0" dirty="0"/>
          </a:p>
        </p:txBody>
      </p:sp>
      <p:sp>
        <p:nvSpPr>
          <p:cNvPr id="27" name="Text 25"/>
          <p:cNvSpPr/>
          <p:nvPr/>
        </p:nvSpPr>
        <p:spPr>
          <a:xfrm>
            <a:off x="9829800" y="27889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300" b="1" noProof="0" dirty="0">
                <a:solidFill>
                  <a:srgbClr val="17212B"/>
                </a:solidFill>
              </a:rPr>
              <a:t>SELEÇÃO</a:t>
            </a:r>
            <a:endParaRPr lang="pt-BR" sz="1300" noProof="0" dirty="0"/>
          </a:p>
        </p:txBody>
      </p:sp>
      <p:sp>
        <p:nvSpPr>
          <p:cNvPr id="28" name="Text 26"/>
          <p:cNvSpPr/>
          <p:nvPr/>
        </p:nvSpPr>
        <p:spPr>
          <a:xfrm>
            <a:off x="9902952" y="320040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noProof="0" dirty="0">
                <a:solidFill>
                  <a:srgbClr val="5F6B76"/>
                </a:solidFill>
              </a:rPr>
              <a:t>Resultado objetivo para composição</a:t>
            </a:r>
            <a:endParaRPr lang="pt-BR" sz="1100" noProof="0" dirty="0"/>
          </a:p>
        </p:txBody>
      </p:sp>
      <p:sp>
        <p:nvSpPr>
          <p:cNvPr id="29" name="Text 27"/>
          <p:cNvSpPr/>
          <p:nvPr/>
        </p:nvSpPr>
        <p:spPr>
          <a:xfrm>
            <a:off x="1188720" y="5166360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100" b="1" noProof="0" dirty="0">
                <a:solidFill>
                  <a:srgbClr val="17212B"/>
                </a:solidFill>
              </a:rPr>
              <a:t>Um fluxo único: da manifestação de interesse ao critério de seleção.</a:t>
            </a:r>
            <a:endParaRPr lang="pt-BR" sz="2100" noProof="0" dirty="0"/>
          </a:p>
        </p:txBody>
      </p:sp>
      <p:sp>
        <p:nvSpPr>
          <p:cNvPr id="30" name="Text 28"/>
          <p:cNvSpPr/>
          <p:nvPr/>
        </p:nvSpPr>
        <p:spPr>
          <a:xfrm>
            <a:off x="594360" y="6510528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800" noProof="0" dirty="0">
                <a:solidFill>
                  <a:srgbClr val="7A858F"/>
                </a:solidFill>
              </a:rPr>
              <a:t>Divisão de Operações Especiais – DOE</a:t>
            </a:r>
            <a:endParaRPr lang="pt-BR" sz="800" noProof="0" dirty="0"/>
          </a:p>
        </p:txBody>
      </p:sp>
      <p:sp>
        <p:nvSpPr>
          <p:cNvPr id="31" name="Text 29"/>
          <p:cNvSpPr/>
          <p:nvPr/>
        </p:nvSpPr>
        <p:spPr>
          <a:xfrm>
            <a:off x="11109960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800" noProof="0" dirty="0">
                <a:solidFill>
                  <a:srgbClr val="7A858F"/>
                </a:solidFill>
              </a:rPr>
              <a:t>09</a:t>
            </a:r>
            <a:endParaRPr lang="pt-BR" sz="800" noProof="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212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AA0224-14E4-FB12-1C66-F98CA96A3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8367A563-836F-76AC-49C5-6146C7679164}"/>
              </a:ext>
            </a:extLst>
          </p:cNvPr>
          <p:cNvSpPr/>
          <p:nvPr/>
        </p:nvSpPr>
        <p:spPr>
          <a:xfrm>
            <a:off x="731520" y="685800"/>
            <a:ext cx="32367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FFFFFF"/>
                </a:solidFill>
              </a:rPr>
              <a:t>Escala equipes</a:t>
            </a:r>
            <a:endParaRPr lang="pt-BR" sz="3200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F3A585C-0F1E-3F93-866C-2B0E86CD5CC0}"/>
              </a:ext>
            </a:extLst>
          </p:cNvPr>
          <p:cNvSpPr/>
          <p:nvPr/>
        </p:nvSpPr>
        <p:spPr>
          <a:xfrm>
            <a:off x="731520" y="12801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800" b="1" noProof="0" dirty="0">
                <a:solidFill>
                  <a:srgbClr val="BFA46F"/>
                </a:solidFill>
              </a:rPr>
              <a:t>Versão Operadores</a:t>
            </a:r>
            <a:endParaRPr lang="pt-BR" sz="2800" noProof="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8D22A52-9675-8F12-4431-EFBD925FBDEE}"/>
              </a:ext>
            </a:extLst>
          </p:cNvPr>
          <p:cNvSpPr/>
          <p:nvPr/>
        </p:nvSpPr>
        <p:spPr>
          <a:xfrm>
            <a:off x="731520" y="2674620"/>
            <a:ext cx="7772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FFFFFF"/>
                </a:solidFill>
              </a:rPr>
              <a:t>Visualização das equipes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600" b="1" noProof="0" dirty="0">
                <a:solidFill>
                  <a:srgbClr val="FFFFFF"/>
                </a:solidFill>
              </a:rPr>
              <a:t>Plantão no dia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600" b="1" noProof="0" dirty="0">
                <a:solidFill>
                  <a:srgbClr val="FFFFFF"/>
                </a:solidFill>
              </a:rPr>
              <a:t>Próxima equipe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600" b="1" noProof="0" dirty="0">
                <a:solidFill>
                  <a:srgbClr val="FFFFFF"/>
                </a:solidFill>
              </a:rPr>
              <a:t>Fantasma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600" b="1" noProof="0" dirty="0">
                <a:solidFill>
                  <a:srgbClr val="FFFFFF"/>
                </a:solidFill>
              </a:rPr>
              <a:t>Sobreaviso</a:t>
            </a:r>
          </a:p>
          <a:p>
            <a:pPr marL="0" indent="0">
              <a:buNone/>
            </a:pPr>
            <a:endParaRPr lang="pt-BR" sz="2600" noProof="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4D523C3-8510-3984-5851-AE175CBED1C9}"/>
              </a:ext>
            </a:extLst>
          </p:cNvPr>
          <p:cNvSpPr/>
          <p:nvPr/>
        </p:nvSpPr>
        <p:spPr>
          <a:xfrm>
            <a:off x="731520" y="4445715"/>
            <a:ext cx="3840480" cy="0"/>
          </a:xfrm>
          <a:prstGeom prst="line">
            <a:avLst/>
          </a:prstGeom>
          <a:noFill/>
          <a:ln w="25400">
            <a:solidFill>
              <a:srgbClr val="BFA46F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032F780-A122-C920-107A-514294494939}"/>
              </a:ext>
            </a:extLst>
          </p:cNvPr>
          <p:cNvSpPr/>
          <p:nvPr/>
        </p:nvSpPr>
        <p:spPr>
          <a:xfrm>
            <a:off x="731520" y="5074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noProof="0" dirty="0">
                <a:solidFill>
                  <a:srgbClr val="AEB7C0"/>
                </a:solidFill>
              </a:rPr>
              <a:t>Divisão de Operações Especiais – DOE</a:t>
            </a:r>
            <a:endParaRPr lang="pt-BR" sz="1300" noProof="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F2EEC3E-07ED-01E8-79AD-9EC5E96258C3}"/>
              </a:ext>
            </a:extLst>
          </p:cNvPr>
          <p:cNvSpPr/>
          <p:nvPr/>
        </p:nvSpPr>
        <p:spPr>
          <a:xfrm>
            <a:off x="731520" y="5623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AEB7C0"/>
                </a:solidFill>
              </a:rPr>
              <a:t>Wagner Nogueira – 73</a:t>
            </a:r>
            <a:endParaRPr lang="pt-BR" sz="1200" noProof="0" dirty="0"/>
          </a:p>
        </p:txBody>
      </p:sp>
    </p:spTree>
    <p:extLst>
      <p:ext uri="{BB962C8B-B14F-4D97-AF65-F5344CB8AC3E}">
        <p14:creationId xmlns:p14="http://schemas.microsoft.com/office/powerpoint/2010/main" val="8523020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kern="0" spc="140" noProof="0" dirty="0">
                <a:solidFill>
                  <a:srgbClr val="146E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SVG • VERSÃO OPERADORES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594360" y="64008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Escala de Plantão: contexto operacional</a:t>
            </a:r>
            <a:endParaRPr lang="pt-BR" sz="2600" noProof="0" dirty="0"/>
          </a:p>
        </p:txBody>
      </p:sp>
      <p:sp>
        <p:nvSpPr>
          <p:cNvPr id="4" name="Shape 2"/>
          <p:cNvSpPr/>
          <p:nvPr/>
        </p:nvSpPr>
        <p:spPr>
          <a:xfrm>
            <a:off x="594360" y="1261872"/>
            <a:ext cx="10972800" cy="0"/>
          </a:xfrm>
          <a:prstGeom prst="line">
            <a:avLst/>
          </a:prstGeom>
          <a:noFill/>
          <a:ln w="12700">
            <a:solidFill>
              <a:srgbClr val="D8DEE5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pic>
        <p:nvPicPr>
          <p:cNvPr id="5" name="Image 0" descr="/mnt/data/9a854f0b-8226-4ba6-b5d1-bdf22072b6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11064240" cy="45262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" y="59893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17212B"/>
                </a:solidFill>
              </a:rPr>
              <a:t>A escala apresenta, em uma única visão, a composição das equipes que impactam a classificação do operador.</a:t>
            </a:r>
            <a:endParaRPr lang="pt-BR" sz="1500" noProof="0" dirty="0"/>
          </a:p>
        </p:txBody>
      </p:sp>
      <p:sp>
        <p:nvSpPr>
          <p:cNvPr id="7" name="Text 4"/>
          <p:cNvSpPr/>
          <p:nvPr/>
        </p:nvSpPr>
        <p:spPr>
          <a:xfrm>
            <a:off x="594360" y="6510528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800" noProof="0" dirty="0">
                <a:solidFill>
                  <a:srgbClr val="7A858F"/>
                </a:solidFill>
              </a:rPr>
              <a:t>Divisão de Operações Especiais – DOE</a:t>
            </a:r>
            <a:endParaRPr lang="pt-BR" sz="800" noProof="0" dirty="0"/>
          </a:p>
        </p:txBody>
      </p:sp>
      <p:sp>
        <p:nvSpPr>
          <p:cNvPr id="8" name="Text 5"/>
          <p:cNvSpPr/>
          <p:nvPr/>
        </p:nvSpPr>
        <p:spPr>
          <a:xfrm>
            <a:off x="11109960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800" noProof="0" dirty="0">
                <a:solidFill>
                  <a:srgbClr val="7A858F"/>
                </a:solidFill>
              </a:rPr>
              <a:t>05</a:t>
            </a:r>
            <a:endParaRPr lang="pt-BR" sz="800" noProof="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212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5448E9-941C-1F7C-3BE0-D06683DEB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4F94708-566D-9758-C977-689E5DA317DE}"/>
              </a:ext>
            </a:extLst>
          </p:cNvPr>
          <p:cNvSpPr/>
          <p:nvPr/>
        </p:nvSpPr>
        <p:spPr>
          <a:xfrm>
            <a:off x="731520" y="685800"/>
            <a:ext cx="32367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FFFFFF"/>
                </a:solidFill>
              </a:rPr>
              <a:t>Novo Módulo</a:t>
            </a:r>
            <a:endParaRPr lang="pt-BR" sz="3200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7A94D7F-3E07-AE51-C01B-EC7809C7A8BD}"/>
              </a:ext>
            </a:extLst>
          </p:cNvPr>
          <p:cNvSpPr/>
          <p:nvPr/>
        </p:nvSpPr>
        <p:spPr>
          <a:xfrm>
            <a:off x="731520" y="12801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800" b="1" noProof="0" dirty="0">
                <a:solidFill>
                  <a:srgbClr val="BFA46F"/>
                </a:solidFill>
              </a:rPr>
              <a:t>Controle de Afastamentos</a:t>
            </a:r>
            <a:endParaRPr lang="pt-BR" sz="2800" noProof="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70536C5-B9B4-CE3B-1076-C4DCE8C6F732}"/>
              </a:ext>
            </a:extLst>
          </p:cNvPr>
          <p:cNvSpPr/>
          <p:nvPr/>
        </p:nvSpPr>
        <p:spPr>
          <a:xfrm>
            <a:off x="731520" y="4445715"/>
            <a:ext cx="3840480" cy="0"/>
          </a:xfrm>
          <a:prstGeom prst="line">
            <a:avLst/>
          </a:prstGeom>
          <a:noFill/>
          <a:ln w="25400">
            <a:solidFill>
              <a:srgbClr val="BFA46F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DC6C800-0249-3B46-2AF5-317D1FC7C805}"/>
              </a:ext>
            </a:extLst>
          </p:cNvPr>
          <p:cNvSpPr/>
          <p:nvPr/>
        </p:nvSpPr>
        <p:spPr>
          <a:xfrm>
            <a:off x="731520" y="5074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noProof="0" dirty="0">
                <a:solidFill>
                  <a:srgbClr val="AEB7C0"/>
                </a:solidFill>
              </a:rPr>
              <a:t>Divisão de Operações Especiais – DOE</a:t>
            </a:r>
            <a:endParaRPr lang="pt-BR" sz="1300" noProof="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BB25DE06-7410-7D6C-1D7D-8ACEA1609595}"/>
              </a:ext>
            </a:extLst>
          </p:cNvPr>
          <p:cNvSpPr/>
          <p:nvPr/>
        </p:nvSpPr>
        <p:spPr>
          <a:xfrm>
            <a:off x="731520" y="5349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AEB7C0"/>
                </a:solidFill>
              </a:rPr>
              <a:t>Wagner Nogueira – 73</a:t>
            </a:r>
            <a:endParaRPr lang="pt-BR" sz="1200" noProof="0" dirty="0"/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C298CB57-4B25-3887-916C-F7BEDCD9C13D}"/>
              </a:ext>
            </a:extLst>
          </p:cNvPr>
          <p:cNvSpPr txBox="1"/>
          <p:nvPr/>
        </p:nvSpPr>
        <p:spPr>
          <a:xfrm>
            <a:off x="731520" y="1788585"/>
            <a:ext cx="9052560" cy="2923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indent="0">
              <a:buNone/>
              <a:defRPr sz="1300">
                <a:solidFill>
                  <a:srgbClr val="AEB7C0"/>
                </a:solidFill>
              </a:defRPr>
            </a:lvl1pPr>
          </a:lstStyle>
          <a:p>
            <a:r>
              <a:rPr lang="pt-BR" dirty="0"/>
              <a:t>Consulta dos afastamentos da própria seção e aplicação das regras que impactam a elegibilidade para o SVG.</a:t>
            </a:r>
          </a:p>
        </p:txBody>
      </p:sp>
      <p:sp>
        <p:nvSpPr>
          <p:cNvPr id="9" name="Rounded Rectangle 4">
            <a:extLst>
              <a:ext uri="{FF2B5EF4-FFF2-40B4-BE49-F238E27FC236}">
                <a16:creationId xmlns:a16="http://schemas.microsoft.com/office/drawing/2014/main" id="{336D3D0E-BAA8-D55B-E3F3-04001E4F6322}"/>
              </a:ext>
            </a:extLst>
          </p:cNvPr>
          <p:cNvSpPr/>
          <p:nvPr/>
        </p:nvSpPr>
        <p:spPr>
          <a:xfrm>
            <a:off x="658368" y="2880360"/>
            <a:ext cx="224028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0" name="TextBox 5">
            <a:extLst>
              <a:ext uri="{FF2B5EF4-FFF2-40B4-BE49-F238E27FC236}">
                <a16:creationId xmlns:a16="http://schemas.microsoft.com/office/drawing/2014/main" id="{84553404-732A-5CFF-0E03-433576F48637}"/>
              </a:ext>
            </a:extLst>
          </p:cNvPr>
          <p:cNvSpPr txBox="1"/>
          <p:nvPr/>
        </p:nvSpPr>
        <p:spPr>
          <a:xfrm>
            <a:off x="658368" y="3081528"/>
            <a:ext cx="2240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CONSULTAR</a:t>
            </a:r>
          </a:p>
        </p:txBody>
      </p:sp>
      <p:sp>
        <p:nvSpPr>
          <p:cNvPr id="11" name="TextBox 6">
            <a:extLst>
              <a:ext uri="{FF2B5EF4-FFF2-40B4-BE49-F238E27FC236}">
                <a16:creationId xmlns:a16="http://schemas.microsoft.com/office/drawing/2014/main" id="{C7D1372A-EC34-9F23-5A53-FAE28CAF5DDD}"/>
              </a:ext>
            </a:extLst>
          </p:cNvPr>
          <p:cNvSpPr txBox="1"/>
          <p:nvPr/>
        </p:nvSpPr>
        <p:spPr>
          <a:xfrm>
            <a:off x="2926080" y="3044952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663EB"/>
                </a:solidFill>
                <a:latin typeface="Aptos"/>
              </a:defRPr>
            </a:pPr>
            <a:r>
              <a:rPr lang="pt-BR" noProof="0" dirty="0"/>
              <a:t>→</a:t>
            </a:r>
          </a:p>
        </p:txBody>
      </p:sp>
      <p:sp>
        <p:nvSpPr>
          <p:cNvPr id="12" name="Rounded Rectangle 7">
            <a:extLst>
              <a:ext uri="{FF2B5EF4-FFF2-40B4-BE49-F238E27FC236}">
                <a16:creationId xmlns:a16="http://schemas.microsoft.com/office/drawing/2014/main" id="{2D26D080-0EB9-8AFD-63A1-849E989CD5D9}"/>
              </a:ext>
            </a:extLst>
          </p:cNvPr>
          <p:cNvSpPr/>
          <p:nvPr/>
        </p:nvSpPr>
        <p:spPr>
          <a:xfrm>
            <a:off x="3447287" y="2880360"/>
            <a:ext cx="224028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A6D96F47-D835-B8F8-10A4-C9077822C94F}"/>
              </a:ext>
            </a:extLst>
          </p:cNvPr>
          <p:cNvSpPr txBox="1"/>
          <p:nvPr/>
        </p:nvSpPr>
        <p:spPr>
          <a:xfrm>
            <a:off x="3447287" y="3081528"/>
            <a:ext cx="2240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IDENTIFICAR O TIPO</a:t>
            </a:r>
          </a:p>
        </p:txBody>
      </p:sp>
      <p:sp>
        <p:nvSpPr>
          <p:cNvPr id="14" name="TextBox 9">
            <a:extLst>
              <a:ext uri="{FF2B5EF4-FFF2-40B4-BE49-F238E27FC236}">
                <a16:creationId xmlns:a16="http://schemas.microsoft.com/office/drawing/2014/main" id="{9372FAB9-8295-4152-5512-2474643BE051}"/>
              </a:ext>
            </a:extLst>
          </p:cNvPr>
          <p:cNvSpPr txBox="1"/>
          <p:nvPr/>
        </p:nvSpPr>
        <p:spPr>
          <a:xfrm>
            <a:off x="5715000" y="3044952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663EB"/>
                </a:solidFill>
                <a:latin typeface="Aptos"/>
              </a:defRPr>
            </a:pPr>
            <a:r>
              <a:rPr lang="pt-BR" noProof="0" dirty="0"/>
              <a:t>→</a:t>
            </a:r>
          </a:p>
        </p:txBody>
      </p:sp>
      <p:sp>
        <p:nvSpPr>
          <p:cNvPr id="15" name="Rounded Rectangle 10">
            <a:extLst>
              <a:ext uri="{FF2B5EF4-FFF2-40B4-BE49-F238E27FC236}">
                <a16:creationId xmlns:a16="http://schemas.microsoft.com/office/drawing/2014/main" id="{F24D5313-2758-9056-7E12-99336561374B}"/>
              </a:ext>
            </a:extLst>
          </p:cNvPr>
          <p:cNvSpPr/>
          <p:nvPr/>
        </p:nvSpPr>
        <p:spPr>
          <a:xfrm>
            <a:off x="6236207" y="2880360"/>
            <a:ext cx="224028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6" name="TextBox 11">
            <a:extLst>
              <a:ext uri="{FF2B5EF4-FFF2-40B4-BE49-F238E27FC236}">
                <a16:creationId xmlns:a16="http://schemas.microsoft.com/office/drawing/2014/main" id="{A39E3358-3CD3-AA69-16A8-9C11A3267734}"/>
              </a:ext>
            </a:extLst>
          </p:cNvPr>
          <p:cNvSpPr txBox="1"/>
          <p:nvPr/>
        </p:nvSpPr>
        <p:spPr>
          <a:xfrm>
            <a:off x="6236207" y="3081528"/>
            <a:ext cx="2240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VERIFICAR A REGRA</a:t>
            </a:r>
          </a:p>
        </p:txBody>
      </p:sp>
      <p:sp>
        <p:nvSpPr>
          <p:cNvPr id="17" name="TextBox 12">
            <a:extLst>
              <a:ext uri="{FF2B5EF4-FFF2-40B4-BE49-F238E27FC236}">
                <a16:creationId xmlns:a16="http://schemas.microsoft.com/office/drawing/2014/main" id="{50599C12-3503-FB80-769C-151F1E7BDAC7}"/>
              </a:ext>
            </a:extLst>
          </p:cNvPr>
          <p:cNvSpPr txBox="1"/>
          <p:nvPr/>
        </p:nvSpPr>
        <p:spPr>
          <a:xfrm>
            <a:off x="8503919" y="3044952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663EB"/>
                </a:solidFill>
                <a:latin typeface="Aptos"/>
              </a:defRPr>
            </a:pPr>
            <a:r>
              <a:rPr lang="pt-BR" noProof="0" dirty="0"/>
              <a:t>→</a:t>
            </a:r>
          </a:p>
        </p:txBody>
      </p:sp>
      <p:sp>
        <p:nvSpPr>
          <p:cNvPr id="18" name="Rounded Rectangle 13">
            <a:extLst>
              <a:ext uri="{FF2B5EF4-FFF2-40B4-BE49-F238E27FC236}">
                <a16:creationId xmlns:a16="http://schemas.microsoft.com/office/drawing/2014/main" id="{9E58A555-DE09-6195-AE91-DBC44A8DD8E0}"/>
              </a:ext>
            </a:extLst>
          </p:cNvPr>
          <p:cNvSpPr/>
          <p:nvPr/>
        </p:nvSpPr>
        <p:spPr>
          <a:xfrm>
            <a:off x="9025128" y="2880360"/>
            <a:ext cx="224028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9" name="TextBox 14">
            <a:extLst>
              <a:ext uri="{FF2B5EF4-FFF2-40B4-BE49-F238E27FC236}">
                <a16:creationId xmlns:a16="http://schemas.microsoft.com/office/drawing/2014/main" id="{03F328BA-1B49-A18D-98CF-42BF65A44983}"/>
              </a:ext>
            </a:extLst>
          </p:cNvPr>
          <p:cNvSpPr txBox="1"/>
          <p:nvPr/>
        </p:nvSpPr>
        <p:spPr>
          <a:xfrm>
            <a:off x="9025128" y="3081528"/>
            <a:ext cx="2240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ELEGIBILIDADE SVG</a:t>
            </a:r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E70FFDFE-BDED-AB64-6E1A-78EC36C728FB}"/>
              </a:ext>
            </a:extLst>
          </p:cNvPr>
          <p:cNvSpPr txBox="1"/>
          <p:nvPr/>
        </p:nvSpPr>
        <p:spPr>
          <a:xfrm>
            <a:off x="617220" y="3836529"/>
            <a:ext cx="1060704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61F2A"/>
                </a:solidFill>
                <a:latin typeface="Aptos"/>
              </a:defRPr>
            </a:pPr>
            <a:r>
              <a:rPr lang="pt-BR" sz="1300" dirty="0">
                <a:solidFill>
                  <a:srgbClr val="AEB7C0"/>
                </a:solidFill>
              </a:rPr>
              <a:t>Afastamento não é sinônimo de impedimento. O sistema registra o período; a regra de elegibilidade define se aquele motivo impede ou não a prestação do SVG.</a:t>
            </a:r>
          </a:p>
        </p:txBody>
      </p:sp>
    </p:spTree>
    <p:extLst>
      <p:ext uri="{BB962C8B-B14F-4D97-AF65-F5344CB8AC3E}">
        <p14:creationId xmlns:p14="http://schemas.microsoft.com/office/powerpoint/2010/main" val="21838251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828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2663EB"/>
                </a:solidFill>
                <a:latin typeface="Aptos"/>
              </a:defRPr>
            </a:pPr>
            <a:r>
              <a:rPr lang="pt-BR" noProof="0" dirty="0"/>
              <a:t>SVG • VERSÃO OPERADORES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38912"/>
            <a:ext cx="10698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Afastamentos da Seção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932688"/>
            <a:ext cx="11384280" cy="10972"/>
          </a:xfrm>
          <a:prstGeom prst="rect">
            <a:avLst/>
          </a:prstGeom>
          <a:solidFill>
            <a:srgbClr val="DCE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411480" y="1033271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69737D"/>
                </a:solidFill>
                <a:latin typeface="Aptos"/>
              </a:defRPr>
            </a:pPr>
            <a:r>
              <a:rPr lang="pt-BR" noProof="0" dirty="0"/>
              <a:t>O operador visualiza os afastamentos da própria seção, com filtro por mês e ano e indicação da situação de cada período.</a:t>
            </a:r>
          </a:p>
        </p:txBody>
      </p:sp>
      <p:pic>
        <p:nvPicPr>
          <p:cNvPr id="6" name="Picture 5" descr="image(3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134" y="1444752"/>
            <a:ext cx="10295731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6537960"/>
            <a:ext cx="5029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1969E"/>
                </a:solidFill>
                <a:latin typeface="Aptos"/>
              </a:defRPr>
            </a:pPr>
            <a:r>
              <a:rPr lang="pt-BR" noProof="0" dirty="0"/>
              <a:t>Divisão de Operações Especiais – DOE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828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2663EB"/>
                </a:solidFill>
                <a:latin typeface="Aptos"/>
              </a:defRPr>
            </a:pPr>
            <a:r>
              <a:rPr lang="pt-BR" noProof="0" dirty="0"/>
              <a:t>SVG • VERSÃO OPERADORES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38912"/>
            <a:ext cx="10698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Tipos de afastamento registrados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932688"/>
            <a:ext cx="11384280" cy="10972"/>
          </a:xfrm>
          <a:prstGeom prst="rect">
            <a:avLst/>
          </a:prstGeom>
          <a:solidFill>
            <a:srgbClr val="DCE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411480" y="10515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69737D"/>
                </a:solidFill>
                <a:latin typeface="Aptos"/>
              </a:defRPr>
            </a:pPr>
            <a:r>
              <a:rPr lang="pt-BR" noProof="0" dirty="0"/>
              <a:t>Os registros consolidados das planilhas de planejamento passaram a ser tratados como períodos contínuos no sistema.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72768"/>
            <a:ext cx="365760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7" name="Rectangle 6"/>
          <p:cNvSpPr/>
          <p:nvPr/>
        </p:nvSpPr>
        <p:spPr>
          <a:xfrm>
            <a:off x="502920" y="1572768"/>
            <a:ext cx="64008" cy="4343400"/>
          </a:xfrm>
          <a:prstGeom prst="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667512" y="1709928"/>
            <a:ext cx="3364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663EB"/>
                </a:solidFill>
                <a:latin typeface="Aptos"/>
              </a:defRPr>
            </a:pPr>
            <a:r>
              <a:rPr lang="pt-BR" noProof="0" dirty="0"/>
              <a:t>Afastamentos recorrentes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048256"/>
            <a:ext cx="3346704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919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• Férias</a:t>
            </a:r>
          </a:p>
          <a:p>
            <a:pPr>
              <a:spcAft>
                <a:spcPts val="500"/>
              </a:spcAft>
              <a:defRPr sz="919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• Abono de ponto anual</a:t>
            </a:r>
          </a:p>
          <a:p>
            <a:pPr>
              <a:spcAft>
                <a:spcPts val="500"/>
              </a:spcAft>
              <a:defRPr sz="919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• Abono de aniversário</a:t>
            </a:r>
          </a:p>
          <a:p>
            <a:pPr>
              <a:spcAft>
                <a:spcPts val="500"/>
              </a:spcAft>
              <a:defRPr sz="919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• Licença para tratamento de saúde própria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9392" y="1572768"/>
            <a:ext cx="365760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1" name="Rectangle 10"/>
          <p:cNvSpPr/>
          <p:nvPr/>
        </p:nvSpPr>
        <p:spPr>
          <a:xfrm>
            <a:off x="4279392" y="1572768"/>
            <a:ext cx="64008" cy="4343400"/>
          </a:xfrm>
          <a:prstGeom prst="rect">
            <a:avLst/>
          </a:prstGeom>
          <a:solidFill>
            <a:srgbClr val="B47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4443983" y="1709928"/>
            <a:ext cx="33649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B47814"/>
                </a:solidFill>
                <a:latin typeface="Aptos"/>
              </a:defRPr>
            </a:pPr>
            <a:r>
              <a:rPr lang="pt-BR" noProof="0" dirty="0"/>
              <a:t>Outros tipos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43983" y="2048256"/>
            <a:ext cx="3346704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919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• Licença-prêmio por assiduidade</a:t>
            </a:r>
          </a:p>
          <a:p>
            <a:pPr>
              <a:spcAft>
                <a:spcPts val="500"/>
              </a:spcAft>
              <a:defRPr sz="919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• Licença paternidade</a:t>
            </a:r>
          </a:p>
          <a:p>
            <a:pPr>
              <a:spcAft>
                <a:spcPts val="500"/>
              </a:spcAft>
              <a:defRPr sz="919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• Licença por interesse particular</a:t>
            </a:r>
          </a:p>
          <a:p>
            <a:pPr>
              <a:spcAft>
                <a:spcPts val="500"/>
              </a:spcAft>
              <a:defRPr sz="919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• Jogos Policiais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5864" y="1572768"/>
            <a:ext cx="365760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5" name="Rectangle 14"/>
          <p:cNvSpPr/>
          <p:nvPr/>
        </p:nvSpPr>
        <p:spPr>
          <a:xfrm>
            <a:off x="8055864" y="1572768"/>
            <a:ext cx="64008" cy="434340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6" name="TextBox 15"/>
          <p:cNvSpPr txBox="1"/>
          <p:nvPr/>
        </p:nvSpPr>
        <p:spPr>
          <a:xfrm>
            <a:off x="8220456" y="1709928"/>
            <a:ext cx="3364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98754"/>
                </a:solidFill>
                <a:latin typeface="Aptos"/>
              </a:defRPr>
            </a:pPr>
            <a:r>
              <a:rPr lang="pt-BR" noProof="0" dirty="0"/>
              <a:t>Planejamento / atividade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0456" y="2048256"/>
            <a:ext cx="3346704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919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• Curso</a:t>
            </a:r>
          </a:p>
          <a:p>
            <a:pPr>
              <a:spcAft>
                <a:spcPts val="500"/>
              </a:spcAft>
              <a:defRPr sz="919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• Recesso de fim de ano</a:t>
            </a:r>
          </a:p>
          <a:p>
            <a:pPr>
              <a:spcAft>
                <a:spcPts val="500"/>
              </a:spcAft>
              <a:defRPr sz="919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• Períodos podem atravessar meses e continuam sendo um único afastamento</a:t>
            </a:r>
          </a:p>
          <a:p>
            <a:pPr>
              <a:spcAft>
                <a:spcPts val="500"/>
              </a:spcAft>
              <a:defRPr sz="919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• Podem existir motivos simultâneos; os registros não devem ser apagados ou fundidos quando os tipos forem diferentes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537960"/>
            <a:ext cx="5029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1969E"/>
                </a:solidFill>
                <a:latin typeface="Aptos"/>
              </a:defRPr>
            </a:pPr>
            <a:r>
              <a:rPr lang="pt-BR" noProof="0" dirty="0"/>
              <a:t>Divisão de Operações Especiais – DOE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828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2663EB"/>
                </a:solidFill>
                <a:latin typeface="Aptos"/>
              </a:defRPr>
            </a:pPr>
            <a:r>
              <a:rPr lang="pt-BR" noProof="0" dirty="0"/>
              <a:t>SVG • VERSÃO OPERADORES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38912"/>
            <a:ext cx="10698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Regras de elegibilidade para o SVG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932688"/>
            <a:ext cx="11384280" cy="10972"/>
          </a:xfrm>
          <a:prstGeom prst="rect">
            <a:avLst/>
          </a:prstGeom>
          <a:solidFill>
            <a:srgbClr val="DCE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411480" y="1042415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69737D"/>
                </a:solidFill>
                <a:latin typeface="Aptos"/>
              </a:defRPr>
            </a:pPr>
            <a:r>
              <a:rPr lang="pt-BR" noProof="0" dirty="0"/>
              <a:t>A data da operação é confrontada com os afastamentos e impedimentos vigentes do operador.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36192"/>
            <a:ext cx="36576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7" name="Rectangle 6"/>
          <p:cNvSpPr/>
          <p:nvPr/>
        </p:nvSpPr>
        <p:spPr>
          <a:xfrm>
            <a:off x="502920" y="1536192"/>
            <a:ext cx="64008" cy="4526280"/>
          </a:xfrm>
          <a:prstGeom prst="rect">
            <a:avLst/>
          </a:prstGeom>
          <a:solidFill>
            <a:srgbClr val="BE3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667512" y="1673351"/>
            <a:ext cx="3364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BE3737"/>
                </a:solidFill>
                <a:latin typeface="Aptos"/>
              </a:defRPr>
            </a:pPr>
            <a:r>
              <a:rPr lang="pt-BR" noProof="0" dirty="0"/>
              <a:t>Afastamentos que impedem o SVG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011680"/>
            <a:ext cx="3346704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919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• Licença para capacitação</a:t>
            </a:r>
          </a:p>
          <a:p>
            <a:pPr>
              <a:spcAft>
                <a:spcPts val="500"/>
              </a:spcAft>
              <a:defRPr sz="919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• Licença-prêmio por assiduidade</a:t>
            </a:r>
          </a:p>
          <a:p>
            <a:pPr>
              <a:spcAft>
                <a:spcPts val="500"/>
              </a:spcAft>
              <a:defRPr sz="919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• Licença por interesse particular</a:t>
            </a:r>
          </a:p>
          <a:p>
            <a:pPr>
              <a:spcAft>
                <a:spcPts val="500"/>
              </a:spcAft>
              <a:defRPr sz="919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• Saúde própria ou de pessoa da família</a:t>
            </a:r>
          </a:p>
          <a:p>
            <a:pPr>
              <a:spcAft>
                <a:spcPts val="500"/>
              </a:spcAft>
              <a:defRPr sz="919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• Mandato classista</a:t>
            </a:r>
          </a:p>
          <a:p>
            <a:pPr>
              <a:spcAft>
                <a:spcPts val="500"/>
              </a:spcAft>
              <a:defRPr sz="919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• Afastamento do cônjuge/companheiro</a:t>
            </a:r>
          </a:p>
          <a:p>
            <a:pPr>
              <a:spcAft>
                <a:spcPts val="500"/>
              </a:spcAft>
              <a:defRPr sz="919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• Missão ou curso no exterior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9392" y="1536192"/>
            <a:ext cx="36576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1" name="Rectangle 10"/>
          <p:cNvSpPr/>
          <p:nvPr/>
        </p:nvSpPr>
        <p:spPr>
          <a:xfrm>
            <a:off x="4279392" y="1536192"/>
            <a:ext cx="64008" cy="452628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4443983" y="1673351"/>
            <a:ext cx="3364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98754"/>
                </a:solidFill>
                <a:latin typeface="Aptos"/>
              </a:defRPr>
            </a:pPr>
            <a:r>
              <a:rPr lang="pt-BR" noProof="0" dirty="0"/>
              <a:t>Afastamentos que não impedem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43983" y="2011680"/>
            <a:ext cx="3346704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919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• Férias</a:t>
            </a:r>
          </a:p>
          <a:p>
            <a:pPr>
              <a:spcAft>
                <a:spcPts val="500"/>
              </a:spcAft>
              <a:defRPr sz="919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• Abono de ponto anual</a:t>
            </a:r>
          </a:p>
          <a:p>
            <a:pPr>
              <a:spcAft>
                <a:spcPts val="500"/>
              </a:spcAft>
              <a:defRPr sz="919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• Abono de aniversário</a:t>
            </a:r>
          </a:p>
          <a:p>
            <a:pPr>
              <a:spcAft>
                <a:spcPts val="500"/>
              </a:spcAft>
              <a:defRPr sz="919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• Estar afastado, por si só, não significa estar impedido de prestar SVG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5864" y="1536192"/>
            <a:ext cx="36576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5" name="Rectangle 14"/>
          <p:cNvSpPr/>
          <p:nvPr/>
        </p:nvSpPr>
        <p:spPr>
          <a:xfrm>
            <a:off x="8055864" y="1536192"/>
            <a:ext cx="64008" cy="4526280"/>
          </a:xfrm>
          <a:prstGeom prst="rect">
            <a:avLst/>
          </a:prstGeom>
          <a:solidFill>
            <a:srgbClr val="B47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6" name="TextBox 15"/>
          <p:cNvSpPr txBox="1"/>
          <p:nvPr/>
        </p:nvSpPr>
        <p:spPr>
          <a:xfrm>
            <a:off x="8220456" y="1673351"/>
            <a:ext cx="3364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B47814"/>
                </a:solidFill>
                <a:latin typeface="Aptos"/>
              </a:defRPr>
            </a:pPr>
            <a:r>
              <a:rPr lang="pt-BR" noProof="0" dirty="0"/>
              <a:t>Outros impedimentos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0456" y="2011680"/>
            <a:ext cx="3346704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919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• Punição disciplinar ou penalidade administrativa</a:t>
            </a:r>
          </a:p>
          <a:p>
            <a:pPr>
              <a:spcAft>
                <a:spcPts val="500"/>
              </a:spcAft>
              <a:defRPr sz="919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• Porte de arma suspenso ou cassado</a:t>
            </a:r>
          </a:p>
          <a:p>
            <a:pPr>
              <a:spcAft>
                <a:spcPts val="500"/>
              </a:spcAft>
              <a:defRPr sz="919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• Restrição médica operacional</a:t>
            </a:r>
          </a:p>
          <a:p>
            <a:pPr>
              <a:spcAft>
                <a:spcPts val="500"/>
              </a:spcAft>
              <a:defRPr sz="919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• Cessão ou requisição</a:t>
            </a:r>
          </a:p>
          <a:p>
            <a:pPr>
              <a:spcAft>
                <a:spcPts val="500"/>
              </a:spcAft>
              <a:defRPr sz="919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• Horário especial / redução de carga</a:t>
            </a:r>
          </a:p>
          <a:p>
            <a:pPr>
              <a:spcAft>
                <a:spcPts val="500"/>
              </a:spcAft>
              <a:defRPr sz="919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• Treinamento obrigatório pendente</a:t>
            </a:r>
          </a:p>
          <a:p>
            <a:pPr>
              <a:spcAft>
                <a:spcPts val="500"/>
              </a:spcAft>
              <a:defRPr sz="919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• Penalidade específica de SVG</a:t>
            </a:r>
          </a:p>
          <a:p>
            <a:pPr>
              <a:spcAft>
                <a:spcPts val="500"/>
              </a:spcAft>
              <a:defRPr sz="919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• Restrição médica: durante a restrição e por mais 15 dias após o término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537960"/>
            <a:ext cx="5029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1969E"/>
                </a:solidFill>
                <a:latin typeface="Aptos"/>
              </a:defRPr>
            </a:pPr>
            <a:r>
              <a:rPr lang="pt-BR" noProof="0" dirty="0"/>
              <a:t>Divisão de Operações Especiais – DOE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2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94360"/>
            <a:ext cx="4572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100" b="1" noProof="0" dirty="0">
                <a:solidFill>
                  <a:srgbClr val="BE9A52"/>
                </a:solidFill>
                <a:latin typeface="Aptos"/>
              </a:rPr>
              <a:t>NOVO MÓDULO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25880"/>
            <a:ext cx="105156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3400" b="1" noProof="0" dirty="0">
                <a:solidFill>
                  <a:srgbClr val="FFFFFF"/>
                </a:solidFill>
                <a:latin typeface="Aptos"/>
              </a:rPr>
              <a:t>Controle de Viaturas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48840"/>
            <a:ext cx="98755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800" b="0" noProof="0" dirty="0">
                <a:solidFill>
                  <a:srgbClr val="CDD2D7"/>
                </a:solidFill>
                <a:latin typeface="Aptos"/>
              </a:rPr>
              <a:t>Fluxo operacional para consulta, retirada, utilização, devolução e acompanhamento das viaturas da DOE.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31920"/>
            <a:ext cx="106984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1800" b="1" noProof="0" dirty="0">
                <a:solidFill>
                  <a:srgbClr val="BE9A52"/>
                </a:solidFill>
                <a:latin typeface="Aptos"/>
              </a:rPr>
              <a:t>LISTAR  →  RETIRAR  →  EM USO  →  DEVOLVER  →  HISTÓRICO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263640"/>
            <a:ext cx="36576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800" b="0" noProof="0" dirty="0">
                <a:solidFill>
                  <a:srgbClr val="969EA6"/>
                </a:solidFill>
                <a:latin typeface="Aptos"/>
              </a:rPr>
              <a:t>Divisão de Operações Especiais – DOE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256032"/>
            <a:ext cx="52120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000" b="1" noProof="0" dirty="0">
                <a:solidFill>
                  <a:srgbClr val="1471E6"/>
                </a:solidFill>
                <a:latin typeface="Aptos"/>
              </a:rPr>
              <a:t>SVG • VERSÃO OPERADORES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2600" b="1" noProof="0" dirty="0">
                <a:solidFill>
                  <a:srgbClr val="1C2228"/>
                </a:solidFill>
                <a:latin typeface="Aptos"/>
              </a:rPr>
              <a:t>Tela inicial: o painel central da frota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10972800" cy="13716"/>
          </a:xfrm>
          <a:prstGeom prst="rect">
            <a:avLst/>
          </a:prstGeom>
          <a:solidFill>
            <a:srgbClr val="E0E5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594360" y="6565392"/>
            <a:ext cx="3657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800" b="0" noProof="0" dirty="0">
                <a:solidFill>
                  <a:srgbClr val="5A626A"/>
                </a:solidFill>
                <a:latin typeface="Aptos"/>
              </a:rPr>
              <a:t>Divisão de Operações Especiais – DOE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65392"/>
            <a:ext cx="4114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pt-BR" noProof="0" dirty="0"/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1554480"/>
            <a:ext cx="269748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9" name="Rectangle 8"/>
          <p:cNvSpPr/>
          <p:nvPr/>
        </p:nvSpPr>
        <p:spPr>
          <a:xfrm>
            <a:off x="8732520" y="1554480"/>
            <a:ext cx="54864" cy="1051560"/>
          </a:xfrm>
          <a:prstGeom prst="rect">
            <a:avLst/>
          </a:prstGeom>
          <a:solidFill>
            <a:srgbClr val="147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8933688" y="1554480"/>
            <a:ext cx="23865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350" b="1" noProof="0" dirty="0">
                <a:solidFill>
                  <a:srgbClr val="1C2228"/>
                </a:solidFill>
                <a:latin typeface="Aptos"/>
              </a:rPr>
              <a:t>Identificação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33688" y="1874520"/>
            <a:ext cx="226771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pt-BR" sz="969" noProof="0" dirty="0"/>
              <a:t>Prefixo, placa, modelo, tipo e seção identificam cada viatura.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32520" y="2761488"/>
            <a:ext cx="269748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3" name="Rectangle 12"/>
          <p:cNvSpPr/>
          <p:nvPr/>
        </p:nvSpPr>
        <p:spPr>
          <a:xfrm>
            <a:off x="8732520" y="2761488"/>
            <a:ext cx="54864" cy="1051560"/>
          </a:xfrm>
          <a:prstGeom prst="rect">
            <a:avLst/>
          </a:prstGeom>
          <a:solidFill>
            <a:srgbClr val="BE9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8933688" y="2889504"/>
            <a:ext cx="23865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350" b="1" noProof="0" dirty="0">
                <a:solidFill>
                  <a:srgbClr val="1C2228"/>
                </a:solidFill>
                <a:latin typeface="Aptos"/>
              </a:rPr>
              <a:t>Controle operacional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33688" y="3209544"/>
            <a:ext cx="226771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pt-BR" sz="969" noProof="0" dirty="0"/>
              <a:t>KM atual, último abastecimento, revisão e situação ficam reunidos na listagem.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32520" y="3968496"/>
            <a:ext cx="2697480" cy="1298448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7" name="Rectangle 16"/>
          <p:cNvSpPr/>
          <p:nvPr/>
        </p:nvSpPr>
        <p:spPr>
          <a:xfrm>
            <a:off x="8732520" y="3968496"/>
            <a:ext cx="54864" cy="129844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8" name="TextBox 17"/>
          <p:cNvSpPr txBox="1"/>
          <p:nvPr/>
        </p:nvSpPr>
        <p:spPr>
          <a:xfrm>
            <a:off x="8933688" y="4224528"/>
            <a:ext cx="23865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350" b="1" noProof="0" dirty="0">
                <a:solidFill>
                  <a:srgbClr val="1C2228"/>
                </a:solidFill>
                <a:latin typeface="Aptos"/>
              </a:rPr>
              <a:t>Ponto de partida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33688" y="4544568"/>
            <a:ext cx="22677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pt-BR" sz="969" noProof="0" dirty="0"/>
              <a:t>A situação libera a ação adequada: Retirar, Devolver ou Histórico.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25312"/>
            <a:ext cx="106070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pt-BR" sz="1120" noProof="0" dirty="0"/>
              <a:t>A tela inicial concentra a posição atual da frota e é o ponto de entrada para todas as movimentações.</a:t>
            </a:r>
          </a:p>
        </p:txBody>
      </p:sp>
      <p:pic>
        <p:nvPicPr>
          <p:cNvPr id="21" name="Picture 20" descr="792d2313-c03f-4b4d-92ca-4466812bda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63190"/>
            <a:ext cx="8001000" cy="323453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256032"/>
            <a:ext cx="52120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000" b="1" noProof="0" dirty="0">
                <a:solidFill>
                  <a:srgbClr val="1471E6"/>
                </a:solidFill>
                <a:latin typeface="Aptos"/>
              </a:rPr>
              <a:t>SVG • VERSÃO OPERADORES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2600" b="1" noProof="0" dirty="0">
                <a:solidFill>
                  <a:srgbClr val="1C2228"/>
                </a:solidFill>
                <a:latin typeface="Aptos"/>
              </a:rPr>
              <a:t>Controle de Viaturas: tela inicial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10972800" cy="13716"/>
          </a:xfrm>
          <a:prstGeom prst="rect">
            <a:avLst/>
          </a:prstGeom>
          <a:solidFill>
            <a:srgbClr val="E0E5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594360" y="6565392"/>
            <a:ext cx="3657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800" b="0" noProof="0" dirty="0">
                <a:solidFill>
                  <a:srgbClr val="5A626A"/>
                </a:solidFill>
                <a:latin typeface="Aptos"/>
              </a:rPr>
              <a:t>Divisão de Operações Especiais – DOE</a:t>
            </a:r>
          </a:p>
        </p:txBody>
      </p:sp>
      <p:pic>
        <p:nvPicPr>
          <p:cNvPr id="7" name="Picture 6" descr="ChatGPT Image 18 de set. de 2026, 17_17_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33081"/>
            <a:ext cx="8366760" cy="278619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9034272" y="1572768"/>
            <a:ext cx="242316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9" name="Rectangle 8"/>
          <p:cNvSpPr/>
          <p:nvPr/>
        </p:nvSpPr>
        <p:spPr>
          <a:xfrm>
            <a:off x="9034272" y="1572768"/>
            <a:ext cx="54864" cy="1051560"/>
          </a:xfrm>
          <a:prstGeom prst="rect">
            <a:avLst/>
          </a:prstGeom>
          <a:solidFill>
            <a:srgbClr val="147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9235440" y="1664208"/>
            <a:ext cx="211226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450" b="1" noProof="0" dirty="0">
                <a:solidFill>
                  <a:srgbClr val="1C2228"/>
                </a:solidFill>
                <a:latin typeface="Aptos"/>
              </a:rPr>
              <a:t>Pesquisa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1993392"/>
            <a:ext cx="2112264" cy="55778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120" b="0" noProof="0" dirty="0">
                <a:solidFill>
                  <a:srgbClr val="5A626A"/>
                </a:solidFill>
                <a:latin typeface="Aptos"/>
              </a:rPr>
              <a:t>Busca por prefixo, placa, modelo ou responsável.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34272" y="2761488"/>
            <a:ext cx="24231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3" name="Rectangle 12"/>
          <p:cNvSpPr/>
          <p:nvPr/>
        </p:nvSpPr>
        <p:spPr>
          <a:xfrm>
            <a:off x="9034272" y="2761488"/>
            <a:ext cx="54864" cy="1234440"/>
          </a:xfrm>
          <a:prstGeom prst="rect">
            <a:avLst/>
          </a:prstGeom>
          <a:solidFill>
            <a:srgbClr val="147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9235440" y="2852928"/>
            <a:ext cx="211226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450" b="1" noProof="0" dirty="0">
                <a:solidFill>
                  <a:srgbClr val="1C2228"/>
                </a:solidFill>
                <a:latin typeface="Aptos"/>
              </a:rPr>
              <a:t>Filtros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0" y="3182112"/>
            <a:ext cx="2112264" cy="740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120" b="0" noProof="0" dirty="0">
                <a:solidFill>
                  <a:srgbClr val="5A626A"/>
                </a:solidFill>
                <a:latin typeface="Aptos"/>
              </a:rPr>
              <a:t>Seção, tipo, situação e revisão podem ser combinados para localizar rapidamente a viatura.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34272" y="4160520"/>
            <a:ext cx="2423160" cy="1298448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7" name="Rectangle 16"/>
          <p:cNvSpPr/>
          <p:nvPr/>
        </p:nvSpPr>
        <p:spPr>
          <a:xfrm>
            <a:off x="9034272" y="4160520"/>
            <a:ext cx="54864" cy="129844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8" name="TextBox 17"/>
          <p:cNvSpPr txBox="1"/>
          <p:nvPr/>
        </p:nvSpPr>
        <p:spPr>
          <a:xfrm>
            <a:off x="9235440" y="4251959"/>
            <a:ext cx="211226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450" b="1" noProof="0" dirty="0">
                <a:solidFill>
                  <a:srgbClr val="1C2228"/>
                </a:solidFill>
                <a:latin typeface="Aptos"/>
              </a:rPr>
              <a:t>Situação e ações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4581144"/>
            <a:ext cx="2112264" cy="8046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120" b="0" noProof="0" dirty="0">
                <a:solidFill>
                  <a:srgbClr val="5A626A"/>
                </a:solidFill>
                <a:latin typeface="Aptos"/>
              </a:rPr>
              <a:t>A listagem mostra disponibilidade e libera Retirar, Devolver ou Histórico conforme o estado atual.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080760"/>
            <a:ext cx="104241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1350" b="1" noProof="0" dirty="0">
                <a:solidFill>
                  <a:srgbClr val="1C2228"/>
                </a:solidFill>
                <a:latin typeface="Aptos"/>
              </a:rPr>
              <a:t>A tela inicial funciona como o ponto central de consulta e movimentação da frota.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256032"/>
            <a:ext cx="52120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000" b="1" noProof="0" dirty="0">
                <a:solidFill>
                  <a:srgbClr val="1471E6"/>
                </a:solidFill>
                <a:latin typeface="Aptos"/>
              </a:rPr>
              <a:t>SVG • VERSÃO OPERADORES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2600" b="1" noProof="0" dirty="0">
                <a:solidFill>
                  <a:srgbClr val="1C2228"/>
                </a:solidFill>
                <a:latin typeface="Aptos"/>
              </a:rPr>
              <a:t>Retirada de Viatura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10972800" cy="13716"/>
          </a:xfrm>
          <a:prstGeom prst="rect">
            <a:avLst/>
          </a:prstGeom>
          <a:solidFill>
            <a:srgbClr val="E0E5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594360" y="6565392"/>
            <a:ext cx="3657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800" b="0" noProof="0" dirty="0">
                <a:solidFill>
                  <a:srgbClr val="5A626A"/>
                </a:solidFill>
                <a:latin typeface="Aptos"/>
              </a:rPr>
              <a:t>Divisão de Operações Especiais – DOE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27080" y="6434828"/>
            <a:ext cx="594360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pt-BR" noProof="0" dirty="0"/>
              <a:t>13</a:t>
            </a:r>
          </a:p>
        </p:txBody>
      </p:sp>
      <p:pic>
        <p:nvPicPr>
          <p:cNvPr id="7" name="Picture 6" descr="b45bbcb0-32b4-490e-9067-17667852f7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432346"/>
            <a:ext cx="5440680" cy="477054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309360" y="1572768"/>
            <a:ext cx="4892040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9" name="Rectangle 8"/>
          <p:cNvSpPr/>
          <p:nvPr/>
        </p:nvSpPr>
        <p:spPr>
          <a:xfrm>
            <a:off x="6309360" y="1572768"/>
            <a:ext cx="54864" cy="932688"/>
          </a:xfrm>
          <a:prstGeom prst="rect">
            <a:avLst/>
          </a:prstGeom>
          <a:solidFill>
            <a:srgbClr val="147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6510528" y="1664208"/>
            <a:ext cx="458114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450" b="1" noProof="0" dirty="0">
                <a:solidFill>
                  <a:srgbClr val="1C2228"/>
                </a:solidFill>
                <a:latin typeface="Aptos"/>
              </a:rPr>
              <a:t>1. Identificação da viatura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0528" y="1993392"/>
            <a:ext cx="4581144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120" b="0" noProof="0" dirty="0">
                <a:solidFill>
                  <a:srgbClr val="5A626A"/>
                </a:solidFill>
                <a:latin typeface="Aptos"/>
              </a:rPr>
              <a:t>Antes da retirada, o operador confere prefixo, modelo, placa, seção e quilometragem atual.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2688336"/>
            <a:ext cx="4892040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3" name="Rectangle 12"/>
          <p:cNvSpPr/>
          <p:nvPr/>
        </p:nvSpPr>
        <p:spPr>
          <a:xfrm>
            <a:off x="6309360" y="2688336"/>
            <a:ext cx="54864" cy="932688"/>
          </a:xfrm>
          <a:prstGeom prst="rect">
            <a:avLst/>
          </a:prstGeom>
          <a:solidFill>
            <a:srgbClr val="147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6510528" y="2779776"/>
            <a:ext cx="458114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450" b="1" noProof="0" dirty="0">
                <a:solidFill>
                  <a:srgbClr val="1C2228"/>
                </a:solidFill>
                <a:latin typeface="Aptos"/>
              </a:rPr>
              <a:t>2. Operador responsável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3108960"/>
            <a:ext cx="4581144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120" b="0" noProof="0" dirty="0">
                <a:solidFill>
                  <a:srgbClr val="5A626A"/>
                </a:solidFill>
                <a:latin typeface="Aptos"/>
              </a:rPr>
              <a:t>O operador logado é selecionado automaticamente. Se necessário, é possível pesquisar outro operador.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803904"/>
            <a:ext cx="4892040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7" name="Rectangle 16"/>
          <p:cNvSpPr/>
          <p:nvPr/>
        </p:nvSpPr>
        <p:spPr>
          <a:xfrm>
            <a:off x="6309360" y="3803904"/>
            <a:ext cx="54864" cy="932688"/>
          </a:xfrm>
          <a:prstGeom prst="rect">
            <a:avLst/>
          </a:prstGeom>
          <a:solidFill>
            <a:srgbClr val="BE9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8" name="TextBox 17"/>
          <p:cNvSpPr txBox="1"/>
          <p:nvPr/>
        </p:nvSpPr>
        <p:spPr>
          <a:xfrm>
            <a:off x="6510528" y="3895344"/>
            <a:ext cx="458114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450" b="1" noProof="0" dirty="0">
                <a:solidFill>
                  <a:srgbClr val="1C2228"/>
                </a:solidFill>
                <a:latin typeface="Aptos"/>
              </a:rPr>
              <a:t>3. Finalidade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4224528"/>
            <a:ext cx="4581144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120" b="0" noProof="0" dirty="0">
                <a:solidFill>
                  <a:srgbClr val="5A626A"/>
                </a:solidFill>
                <a:latin typeface="Aptos"/>
              </a:rPr>
              <a:t>A finalidade da utilização é registrada no momento da retirada.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4919472"/>
            <a:ext cx="4892040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1" name="Rectangle 20"/>
          <p:cNvSpPr/>
          <p:nvPr/>
        </p:nvSpPr>
        <p:spPr>
          <a:xfrm>
            <a:off x="6309360" y="4919472"/>
            <a:ext cx="54864" cy="93268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2" name="TextBox 21"/>
          <p:cNvSpPr txBox="1"/>
          <p:nvPr/>
        </p:nvSpPr>
        <p:spPr>
          <a:xfrm>
            <a:off x="6510528" y="5010912"/>
            <a:ext cx="458114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450" b="1" noProof="0" dirty="0">
                <a:solidFill>
                  <a:srgbClr val="1C2228"/>
                </a:solidFill>
                <a:latin typeface="Aptos"/>
              </a:rPr>
              <a:t>4. Observação e confirmação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0528" y="5340096"/>
            <a:ext cx="4581144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120" b="0" noProof="0" dirty="0">
                <a:solidFill>
                  <a:srgbClr val="5A626A"/>
                </a:solidFill>
                <a:latin typeface="Aptos"/>
              </a:rPr>
              <a:t>O campo de observação é opcional; Confirmar Retirada registra a movimentação.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256032"/>
            <a:ext cx="52120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000" b="1" noProof="0" dirty="0">
                <a:solidFill>
                  <a:srgbClr val="1471E6"/>
                </a:solidFill>
                <a:latin typeface="Aptos"/>
              </a:rPr>
              <a:t>SVG • VERSÃO OPERADORES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2600" b="1" noProof="0" dirty="0">
                <a:solidFill>
                  <a:srgbClr val="1C2228"/>
                </a:solidFill>
                <a:latin typeface="Aptos"/>
              </a:rPr>
              <a:t>Devolução de Viatura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10972800" cy="13716"/>
          </a:xfrm>
          <a:prstGeom prst="rect">
            <a:avLst/>
          </a:prstGeom>
          <a:solidFill>
            <a:srgbClr val="E0E5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594360" y="6565392"/>
            <a:ext cx="3657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800" b="0" noProof="0" dirty="0">
                <a:solidFill>
                  <a:srgbClr val="5A626A"/>
                </a:solidFill>
                <a:latin typeface="Aptos"/>
              </a:rPr>
              <a:t>Divisão de Operações Especiais – DOE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45015" y="6511028"/>
            <a:ext cx="576425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pt-BR" noProof="0" dirty="0"/>
              <a:t>14</a:t>
            </a:r>
          </a:p>
        </p:txBody>
      </p:sp>
      <p:pic>
        <p:nvPicPr>
          <p:cNvPr id="7" name="Picture 6" descr="d3498983-8c45-4922-b3ea-412fa32a97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43888"/>
            <a:ext cx="5257800" cy="3928006"/>
          </a:xfrm>
          <a:prstGeom prst="rect">
            <a:avLst/>
          </a:prstGeom>
        </p:spPr>
      </p:pic>
      <p:pic>
        <p:nvPicPr>
          <p:cNvPr id="8" name="Picture 7" descr="4d9b0694-b8af-4fb1-a922-aa371403fbf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543" y="1444752"/>
            <a:ext cx="4836472" cy="45262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971032"/>
            <a:ext cx="49834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1250" b="1" noProof="0" dirty="0">
                <a:solidFill>
                  <a:srgbClr val="1C2228"/>
                </a:solidFill>
                <a:latin typeface="Aptos"/>
              </a:rPr>
              <a:t>SEM REGISTRO DE ABASTECIMENTO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5971032"/>
            <a:ext cx="49834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1250" b="1" noProof="0" dirty="0">
                <a:solidFill>
                  <a:srgbClr val="1C2228"/>
                </a:solidFill>
                <a:latin typeface="Aptos"/>
              </a:rPr>
              <a:t>COM REGISTRO DE ABASTECIMENTO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291072"/>
            <a:ext cx="104241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1200" b="0" noProof="0" dirty="0">
                <a:solidFill>
                  <a:srgbClr val="5A626A"/>
                </a:solidFill>
                <a:latin typeface="Aptos"/>
              </a:rPr>
              <a:t>Na devolução são informados o responsável e o KM atual. Ao marcar que houve abastecimento, o sistema solicita também o KM do abastecimento.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256032"/>
            <a:ext cx="52120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000" b="1" noProof="0" dirty="0">
                <a:solidFill>
                  <a:srgbClr val="1471E6"/>
                </a:solidFill>
                <a:latin typeface="Aptos"/>
              </a:rPr>
              <a:t>SVG • VERSÃO OPERADORES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2600" b="1" noProof="0" dirty="0">
                <a:solidFill>
                  <a:srgbClr val="1C2228"/>
                </a:solidFill>
                <a:latin typeface="Aptos"/>
              </a:rPr>
              <a:t>Devolução: dados que atualizam a viatura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10972800" cy="13716"/>
          </a:xfrm>
          <a:prstGeom prst="rect">
            <a:avLst/>
          </a:prstGeom>
          <a:solidFill>
            <a:srgbClr val="E0E5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594360" y="6565392"/>
            <a:ext cx="3657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800" b="0" noProof="0" dirty="0">
                <a:solidFill>
                  <a:srgbClr val="5A626A"/>
                </a:solidFill>
                <a:latin typeface="Aptos"/>
              </a:rPr>
              <a:t>Divisão de Operações Especiais – DOE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66120" y="6481310"/>
            <a:ext cx="655320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pt-BR" noProof="0" dirty="0"/>
              <a:t>15</a:t>
            </a:r>
          </a:p>
        </p:txBody>
      </p:sp>
      <p:pic>
        <p:nvPicPr>
          <p:cNvPr id="7" name="Picture 6" descr="4d9b0694-b8af-4fb1-a922-aa371403fb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763" y="1417320"/>
            <a:ext cx="5129592" cy="48006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355080" y="1600200"/>
            <a:ext cx="48006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9" name="Rectangle 8"/>
          <p:cNvSpPr/>
          <p:nvPr/>
        </p:nvSpPr>
        <p:spPr>
          <a:xfrm>
            <a:off x="6355080" y="1600200"/>
            <a:ext cx="54864" cy="914400"/>
          </a:xfrm>
          <a:prstGeom prst="rect">
            <a:avLst/>
          </a:prstGeom>
          <a:solidFill>
            <a:srgbClr val="147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6556248" y="1691640"/>
            <a:ext cx="448970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450" b="1" noProof="0" dirty="0">
                <a:solidFill>
                  <a:srgbClr val="1C2228"/>
                </a:solidFill>
                <a:latin typeface="Aptos"/>
              </a:rPr>
              <a:t>Responsável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6248" y="2020824"/>
            <a:ext cx="4489704" cy="42062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120" b="0" noProof="0" dirty="0">
                <a:solidFill>
                  <a:srgbClr val="5A626A"/>
                </a:solidFill>
                <a:latin typeface="Aptos"/>
              </a:rPr>
              <a:t>Registra quem está efetivamente devolvendo a viatura.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2697480"/>
            <a:ext cx="48006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3" name="Rectangle 12"/>
          <p:cNvSpPr/>
          <p:nvPr/>
        </p:nvSpPr>
        <p:spPr>
          <a:xfrm>
            <a:off x="6355080" y="2697480"/>
            <a:ext cx="54864" cy="914400"/>
          </a:xfrm>
          <a:prstGeom prst="rect">
            <a:avLst/>
          </a:prstGeom>
          <a:solidFill>
            <a:srgbClr val="147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6556248" y="2788920"/>
            <a:ext cx="448970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450" b="1" noProof="0" dirty="0">
                <a:solidFill>
                  <a:srgbClr val="1C2228"/>
                </a:solidFill>
                <a:latin typeface="Aptos"/>
              </a:rPr>
              <a:t>KM da devolução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3118104"/>
            <a:ext cx="4489704" cy="42062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120" b="0" noProof="0" dirty="0">
                <a:solidFill>
                  <a:srgbClr val="5A626A"/>
                </a:solidFill>
                <a:latin typeface="Aptos"/>
              </a:rPr>
              <a:t>Atualiza a quilometragem corrente da viatura.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3794760"/>
            <a:ext cx="48006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7" name="Rectangle 16"/>
          <p:cNvSpPr/>
          <p:nvPr/>
        </p:nvSpPr>
        <p:spPr>
          <a:xfrm>
            <a:off x="6355080" y="3794760"/>
            <a:ext cx="54864" cy="91440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8" name="TextBox 17"/>
          <p:cNvSpPr txBox="1"/>
          <p:nvPr/>
        </p:nvSpPr>
        <p:spPr>
          <a:xfrm>
            <a:off x="6556248" y="3886200"/>
            <a:ext cx="448970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450" b="1" noProof="0" dirty="0">
                <a:solidFill>
                  <a:srgbClr val="1C2228"/>
                </a:solidFill>
                <a:latin typeface="Aptos"/>
              </a:rPr>
              <a:t>Abastecimento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6248" y="4215384"/>
            <a:ext cx="4489704" cy="42062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120" b="0" noProof="0" dirty="0">
                <a:solidFill>
                  <a:srgbClr val="5A626A"/>
                </a:solidFill>
                <a:latin typeface="Aptos"/>
              </a:rPr>
              <a:t>O controle registra se houve abastecimento e, quando houver, em qual quilometragem.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4892040"/>
            <a:ext cx="48006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1" name="Rectangle 20"/>
          <p:cNvSpPr/>
          <p:nvPr/>
        </p:nvSpPr>
        <p:spPr>
          <a:xfrm>
            <a:off x="6355080" y="4892040"/>
            <a:ext cx="54864" cy="914400"/>
          </a:xfrm>
          <a:prstGeom prst="rect">
            <a:avLst/>
          </a:prstGeom>
          <a:solidFill>
            <a:srgbClr val="BE9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2" name="TextBox 21"/>
          <p:cNvSpPr txBox="1"/>
          <p:nvPr/>
        </p:nvSpPr>
        <p:spPr>
          <a:xfrm>
            <a:off x="6556248" y="4983479"/>
            <a:ext cx="448970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450" b="1" noProof="0" dirty="0">
                <a:solidFill>
                  <a:srgbClr val="1C2228"/>
                </a:solidFill>
                <a:latin typeface="Aptos"/>
              </a:rPr>
              <a:t>Nova disponibilidade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56248" y="5312664"/>
            <a:ext cx="4489704" cy="42062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120" b="0" noProof="0" dirty="0">
                <a:solidFill>
                  <a:srgbClr val="5A626A"/>
                </a:solidFill>
                <a:latin typeface="Aptos"/>
              </a:rPr>
              <a:t>Após a confirmação, a movimentação é encerrada e os dados ficam disponíveis para o controle da frota.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256032"/>
            <a:ext cx="52120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000" b="1" noProof="0" dirty="0">
                <a:solidFill>
                  <a:srgbClr val="1471E6"/>
                </a:solidFill>
                <a:latin typeface="Aptos"/>
              </a:rPr>
              <a:t>SVG • VERSÃO OPERADORES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2600" b="1" noProof="0" dirty="0">
                <a:solidFill>
                  <a:srgbClr val="1C2228"/>
                </a:solidFill>
                <a:latin typeface="Aptos"/>
              </a:rPr>
              <a:t>Histórico da Viatura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10972800" cy="13716"/>
          </a:xfrm>
          <a:prstGeom prst="rect">
            <a:avLst/>
          </a:prstGeom>
          <a:solidFill>
            <a:srgbClr val="E0E5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594360" y="6565392"/>
            <a:ext cx="3657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800" b="0" noProof="0" dirty="0">
                <a:solidFill>
                  <a:srgbClr val="5A626A"/>
                </a:solidFill>
                <a:latin typeface="Aptos"/>
              </a:rPr>
              <a:t>Divisão de Operações Especiais – DOE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8040" y="6467594"/>
            <a:ext cx="533400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pt-BR" noProof="0" dirty="0"/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87968" y="1554480"/>
            <a:ext cx="2542032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9" name="Rectangle 8"/>
          <p:cNvSpPr/>
          <p:nvPr/>
        </p:nvSpPr>
        <p:spPr>
          <a:xfrm>
            <a:off x="8887968" y="1554480"/>
            <a:ext cx="54864" cy="1051560"/>
          </a:xfrm>
          <a:prstGeom prst="rect">
            <a:avLst/>
          </a:prstGeom>
          <a:solidFill>
            <a:srgbClr val="147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9089136" y="1554480"/>
            <a:ext cx="223113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350" b="1" noProof="0" dirty="0">
                <a:solidFill>
                  <a:srgbClr val="1C2228"/>
                </a:solidFill>
                <a:latin typeface="Aptos"/>
              </a:rPr>
              <a:t>Movimentações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89136" y="1874520"/>
            <a:ext cx="226771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pt-BR" sz="969" noProof="0" dirty="0"/>
              <a:t>Registra cronologicamente cada retirada e devolução.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87968" y="2761488"/>
            <a:ext cx="2542032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3" name="Rectangle 12"/>
          <p:cNvSpPr/>
          <p:nvPr/>
        </p:nvSpPr>
        <p:spPr>
          <a:xfrm>
            <a:off x="8887968" y="2761488"/>
            <a:ext cx="54864" cy="123444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9089136" y="2889504"/>
            <a:ext cx="223113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350" b="1" noProof="0" dirty="0">
                <a:solidFill>
                  <a:srgbClr val="1C2228"/>
                </a:solidFill>
                <a:latin typeface="Aptos"/>
              </a:rPr>
              <a:t>Rastreabilidade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89136" y="3209544"/>
            <a:ext cx="2267712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pt-BR" sz="969" noProof="0" dirty="0"/>
              <a:t>Exibe operador, finalidade, KM inicial/final, abastecimento, revisão e observação.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87968" y="4160520"/>
            <a:ext cx="2542032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7" name="Rectangle 16"/>
          <p:cNvSpPr/>
          <p:nvPr/>
        </p:nvSpPr>
        <p:spPr>
          <a:xfrm>
            <a:off x="8887968" y="4160520"/>
            <a:ext cx="54864" cy="118872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8" name="TextBox 17"/>
          <p:cNvSpPr txBox="1"/>
          <p:nvPr/>
        </p:nvSpPr>
        <p:spPr>
          <a:xfrm>
            <a:off x="9089136" y="4297680"/>
            <a:ext cx="223113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pt-BR" sz="1350" noProof="0" dirty="0"/>
              <a:t>Abastecimento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9136" y="4617720"/>
            <a:ext cx="226771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pt-BR" sz="969" noProof="0" dirty="0"/>
              <a:t>Mostra se houve abastecimento e o KM em que ocorreu.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925312"/>
            <a:ext cx="105156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pt-BR" sz="1120" noProof="0" dirty="0"/>
              <a:t>O histórico cria rastreabilidade do uso e permite conferir a evolução da quilometragem e dos abastecimentos.</a:t>
            </a:r>
          </a:p>
        </p:txBody>
      </p:sp>
      <p:pic>
        <p:nvPicPr>
          <p:cNvPr id="21" name="Picture 20" descr="6c5b6ba3-7615-43af-83e4-fb9c3c2716a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76745"/>
            <a:ext cx="8138160" cy="1607429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256032"/>
            <a:ext cx="52120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000" b="1" noProof="0" dirty="0">
                <a:solidFill>
                  <a:srgbClr val="1471E6"/>
                </a:solidFill>
                <a:latin typeface="Aptos"/>
              </a:rPr>
              <a:t>SVG • VERSÃO OPERADORES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2600" b="1" noProof="0" dirty="0">
                <a:solidFill>
                  <a:srgbClr val="1C2228"/>
                </a:solidFill>
                <a:latin typeface="Aptos"/>
              </a:rPr>
              <a:t>Fluxo operacional do Controle de Viaturas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10972800" cy="13716"/>
          </a:xfrm>
          <a:prstGeom prst="rect">
            <a:avLst/>
          </a:prstGeom>
          <a:solidFill>
            <a:srgbClr val="E0E5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594360" y="6565392"/>
            <a:ext cx="3657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800" b="0" noProof="0" dirty="0">
                <a:solidFill>
                  <a:srgbClr val="5A626A"/>
                </a:solidFill>
                <a:latin typeface="Aptos"/>
              </a:rPr>
              <a:t>Divisão de Operações Especiais – DOE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65392"/>
            <a:ext cx="4114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pt-BR" noProof="0" dirty="0"/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2084831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2200" b="1" noProof="0" dirty="0">
                <a:solidFill>
                  <a:srgbClr val="1471E6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33472"/>
            <a:ext cx="181051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1350" b="1" noProof="0" dirty="0">
                <a:solidFill>
                  <a:srgbClr val="1C2228"/>
                </a:solidFill>
                <a:latin typeface="Aptos"/>
              </a:rPr>
              <a:t>LISTAR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246120"/>
            <a:ext cx="1773936" cy="10789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1130" b="0" noProof="0" dirty="0">
                <a:solidFill>
                  <a:srgbClr val="5A626A"/>
                </a:solidFill>
                <a:latin typeface="Aptos"/>
              </a:rPr>
              <a:t>Consulta a frota e identifica a viatura.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78608" y="2999232"/>
            <a:ext cx="274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2000" b="1" noProof="0" dirty="0">
                <a:solidFill>
                  <a:srgbClr val="BE9A52"/>
                </a:solidFill>
                <a:latin typeface="Aptos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07208" y="1874519"/>
            <a:ext cx="2084831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2944368" y="2029968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2200" b="1" noProof="0" dirty="0">
                <a:solidFill>
                  <a:srgbClr val="1471E6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4368" y="2633472"/>
            <a:ext cx="181051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1350" b="1" noProof="0" dirty="0">
                <a:solidFill>
                  <a:srgbClr val="1C2228"/>
                </a:solidFill>
                <a:latin typeface="Aptos"/>
              </a:rPr>
              <a:t>RETIRAR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62656" y="3246120"/>
            <a:ext cx="1773936" cy="10789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1130" b="0" noProof="0" dirty="0">
                <a:solidFill>
                  <a:srgbClr val="5A626A"/>
                </a:solidFill>
                <a:latin typeface="Aptos"/>
              </a:rPr>
              <a:t>Define responsável, finalidade e observação.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82896" y="2999232"/>
            <a:ext cx="274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2000" b="1" noProof="0" dirty="0">
                <a:solidFill>
                  <a:srgbClr val="BE9A52"/>
                </a:solidFill>
                <a:latin typeface="Aptos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11496" y="1874519"/>
            <a:ext cx="2084831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8" name="TextBox 17"/>
          <p:cNvSpPr txBox="1"/>
          <p:nvPr/>
        </p:nvSpPr>
        <p:spPr>
          <a:xfrm>
            <a:off x="5248656" y="2029968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2200" b="1" noProof="0" dirty="0">
                <a:solidFill>
                  <a:srgbClr val="1471E6"/>
                </a:solidFill>
                <a:latin typeface="Apto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48656" y="2633472"/>
            <a:ext cx="181051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1350" b="1" noProof="0" dirty="0">
                <a:solidFill>
                  <a:srgbClr val="1C2228"/>
                </a:solidFill>
                <a:latin typeface="Aptos"/>
              </a:rPr>
              <a:t>EM USO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66944" y="3246120"/>
            <a:ext cx="1773936" cy="10789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1130" b="0" noProof="0" dirty="0">
                <a:solidFill>
                  <a:srgbClr val="5A626A"/>
                </a:solidFill>
                <a:latin typeface="Aptos"/>
              </a:rPr>
              <a:t>A situação da viatura passa a refletir a utilização.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87183" y="2999232"/>
            <a:ext cx="274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2000" b="1" noProof="0" dirty="0">
                <a:solidFill>
                  <a:srgbClr val="BE9A52"/>
                </a:solidFill>
                <a:latin typeface="Aptos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15783" y="1874519"/>
            <a:ext cx="2084831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3" name="TextBox 22"/>
          <p:cNvSpPr txBox="1"/>
          <p:nvPr/>
        </p:nvSpPr>
        <p:spPr>
          <a:xfrm>
            <a:off x="7552944" y="2029968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2200" b="1" noProof="0" dirty="0">
                <a:solidFill>
                  <a:srgbClr val="1471E6"/>
                </a:solidFill>
                <a:latin typeface="Apto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52944" y="2633472"/>
            <a:ext cx="181051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1350" b="1" noProof="0" dirty="0">
                <a:solidFill>
                  <a:srgbClr val="1C2228"/>
                </a:solidFill>
                <a:latin typeface="Aptos"/>
              </a:rPr>
              <a:t>DEVOLVER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1" y="3246120"/>
            <a:ext cx="1773936" cy="10789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1130" b="0" noProof="0" dirty="0">
                <a:solidFill>
                  <a:srgbClr val="5A626A"/>
                </a:solidFill>
                <a:latin typeface="Aptos"/>
              </a:rPr>
              <a:t>Registra KM e eventual abastecimento.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91472" y="2999232"/>
            <a:ext cx="274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2000" b="1" noProof="0" dirty="0">
                <a:solidFill>
                  <a:srgbClr val="BE9A52"/>
                </a:solidFill>
                <a:latin typeface="Aptos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20072" y="1874519"/>
            <a:ext cx="2084831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8" name="TextBox 27"/>
          <p:cNvSpPr txBox="1"/>
          <p:nvPr/>
        </p:nvSpPr>
        <p:spPr>
          <a:xfrm>
            <a:off x="9857232" y="2029968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2200" b="1" noProof="0" dirty="0">
                <a:solidFill>
                  <a:srgbClr val="1471E6"/>
                </a:solidFill>
                <a:latin typeface="Aptos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57232" y="2633472"/>
            <a:ext cx="181051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1350" b="1" noProof="0" dirty="0">
                <a:solidFill>
                  <a:srgbClr val="1C2228"/>
                </a:solidFill>
                <a:latin typeface="Aptos"/>
              </a:rPr>
              <a:t>HISTÓRICO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19" y="3246120"/>
            <a:ext cx="1773936" cy="10789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1130" b="0" noProof="0" dirty="0">
                <a:solidFill>
                  <a:srgbClr val="5A626A"/>
                </a:solidFill>
                <a:latin typeface="Aptos"/>
              </a:rPr>
              <a:t>Movimentações ficam disponíveis para consulta.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440680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1400" b="1" noProof="0" dirty="0">
                <a:solidFill>
                  <a:srgbClr val="1C2228"/>
                </a:solidFill>
                <a:latin typeface="Aptos"/>
              </a:rPr>
              <a:t>O fluxo mantém a situação da viatura atualizada e cria rastreabilidade entre retirada e devolução.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256032"/>
            <a:ext cx="52120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000" b="1" noProof="0" dirty="0">
                <a:solidFill>
                  <a:srgbClr val="1471E6"/>
                </a:solidFill>
                <a:latin typeface="Aptos"/>
              </a:rPr>
              <a:t>SVG • VERSÃO OPERADORES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2600" b="1" noProof="0" dirty="0">
                <a:solidFill>
                  <a:srgbClr val="1C2228"/>
                </a:solidFill>
                <a:latin typeface="Aptos"/>
              </a:rPr>
              <a:t>Alertas de revisão: visão geral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10972800" cy="13716"/>
          </a:xfrm>
          <a:prstGeom prst="rect">
            <a:avLst/>
          </a:prstGeom>
          <a:solidFill>
            <a:srgbClr val="E0E5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594360" y="6565392"/>
            <a:ext cx="3657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800" b="0" noProof="0" dirty="0">
                <a:solidFill>
                  <a:srgbClr val="5A626A"/>
                </a:solidFill>
                <a:latin typeface="Aptos"/>
              </a:rPr>
              <a:t>Divisão de Operações Especiais – DOE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65392"/>
            <a:ext cx="4114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pt-BR" noProof="0" dirty="0"/>
              <a:t>18</a:t>
            </a:r>
          </a:p>
        </p:txBody>
      </p:sp>
      <p:pic>
        <p:nvPicPr>
          <p:cNvPr id="7" name="Picture 6" descr="WhatsApp Image 2026-09-18 at 10.44.20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720" y="1417320"/>
            <a:ext cx="8128000" cy="4572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915400" y="1600200"/>
            <a:ext cx="251460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9" name="Rectangle 8"/>
          <p:cNvSpPr/>
          <p:nvPr/>
        </p:nvSpPr>
        <p:spPr>
          <a:xfrm>
            <a:off x="8915400" y="1600200"/>
            <a:ext cx="54864" cy="11430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9116568" y="1691640"/>
            <a:ext cx="220370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450" b="1" noProof="0" dirty="0">
                <a:solidFill>
                  <a:srgbClr val="1C2228"/>
                </a:solidFill>
                <a:latin typeface="Aptos"/>
              </a:rPr>
              <a:t>Próxima da revisão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16568" y="2020824"/>
            <a:ext cx="2203704" cy="6492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120" b="0" noProof="0" dirty="0">
                <a:solidFill>
                  <a:srgbClr val="5A626A"/>
                </a:solidFill>
                <a:latin typeface="Aptos"/>
              </a:rPr>
              <a:t>Destaque preventivo para viaturas próximas da quilometragem de revisão.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15400" y="2926080"/>
            <a:ext cx="251460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3" name="Rectangle 12"/>
          <p:cNvSpPr/>
          <p:nvPr/>
        </p:nvSpPr>
        <p:spPr>
          <a:xfrm>
            <a:off x="8915400" y="2926080"/>
            <a:ext cx="54864" cy="114300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9116568" y="3017520"/>
            <a:ext cx="220370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450" b="1" noProof="0" dirty="0">
                <a:solidFill>
                  <a:srgbClr val="1C2228"/>
                </a:solidFill>
                <a:latin typeface="Aptos"/>
              </a:rPr>
              <a:t>Revisão vencida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16568" y="3346704"/>
            <a:ext cx="2203704" cy="6492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120" b="0" noProof="0" dirty="0">
                <a:solidFill>
                  <a:srgbClr val="5A626A"/>
                </a:solidFill>
                <a:latin typeface="Aptos"/>
              </a:rPr>
              <a:t>Destaque crítico quando a quilometragem cadastrada já foi atingida ou ultrapassada.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15400" y="4251960"/>
            <a:ext cx="251460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7" name="Rectangle 16"/>
          <p:cNvSpPr/>
          <p:nvPr/>
        </p:nvSpPr>
        <p:spPr>
          <a:xfrm>
            <a:off x="8915400" y="4251960"/>
            <a:ext cx="54864" cy="1143000"/>
          </a:xfrm>
          <a:prstGeom prst="rect">
            <a:avLst/>
          </a:prstGeom>
          <a:solidFill>
            <a:srgbClr val="BE9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8" name="TextBox 17"/>
          <p:cNvSpPr txBox="1"/>
          <p:nvPr/>
        </p:nvSpPr>
        <p:spPr>
          <a:xfrm>
            <a:off x="9116568" y="4343400"/>
            <a:ext cx="220370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450" b="1" noProof="0" dirty="0">
                <a:solidFill>
                  <a:srgbClr val="1C2228"/>
                </a:solidFill>
                <a:latin typeface="Aptos"/>
              </a:rPr>
              <a:t>Resumo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16568" y="4672584"/>
            <a:ext cx="2203704" cy="6492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120" b="0" noProof="0" dirty="0">
                <a:solidFill>
                  <a:srgbClr val="5A626A"/>
                </a:solidFill>
                <a:latin typeface="Aptos"/>
              </a:rPr>
              <a:t>O painel consolida quantas viaturas exigem atenção.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080760"/>
            <a:ext cx="104241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1250" b="1" noProof="0" dirty="0">
                <a:solidFill>
                  <a:srgbClr val="1C2228"/>
                </a:solidFill>
                <a:latin typeface="Aptos"/>
              </a:rPr>
              <a:t>Os alertas aparecem depois do fluxo operacional porque dependem da quilometragem mantida pelo próprio controle de retirada e devolução.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256032"/>
            <a:ext cx="52120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000" b="1" noProof="0" dirty="0">
                <a:solidFill>
                  <a:srgbClr val="1471E6"/>
                </a:solidFill>
                <a:latin typeface="Aptos"/>
              </a:rPr>
              <a:t>SVG • VERSÃO OPERADORES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2600" b="1" noProof="0" dirty="0">
                <a:solidFill>
                  <a:srgbClr val="1C2228"/>
                </a:solidFill>
                <a:latin typeface="Aptos"/>
              </a:rPr>
              <a:t>Alertas durante a retirada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10972800" cy="13716"/>
          </a:xfrm>
          <a:prstGeom prst="rect">
            <a:avLst/>
          </a:prstGeom>
          <a:solidFill>
            <a:srgbClr val="E0E5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594360" y="6565392"/>
            <a:ext cx="3657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800" b="0" noProof="0" dirty="0">
                <a:solidFill>
                  <a:srgbClr val="5A626A"/>
                </a:solidFill>
                <a:latin typeface="Aptos"/>
              </a:rPr>
              <a:t>Divisão de Operações Especiais – DOE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65392"/>
            <a:ext cx="4114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pt-BR" noProof="0" dirty="0"/>
              <a:t>19</a:t>
            </a:r>
          </a:p>
        </p:txBody>
      </p:sp>
      <p:pic>
        <p:nvPicPr>
          <p:cNvPr id="7" name="Picture 6" descr="WhatsApp Image 2026-09-18 at 10.48.59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3356" y="1481328"/>
            <a:ext cx="4239806" cy="4526280"/>
          </a:xfrm>
          <a:prstGeom prst="rect">
            <a:avLst/>
          </a:prstGeom>
        </p:spPr>
      </p:pic>
      <p:pic>
        <p:nvPicPr>
          <p:cNvPr id="8" name="Picture 7" descr="WhatsApp Image 2026-09-18 at 10.48.05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3521" y="1481328"/>
            <a:ext cx="4346052" cy="45262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6016752"/>
            <a:ext cx="507492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1350" b="1" noProof="0" dirty="0">
                <a:solidFill>
                  <a:srgbClr val="966900"/>
                </a:solidFill>
                <a:latin typeface="Aptos"/>
              </a:rPr>
              <a:t>PRÓXIMA DA REVISÃO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82512" y="6016752"/>
            <a:ext cx="507492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1350" b="1" noProof="0" dirty="0">
                <a:solidFill>
                  <a:srgbClr val="DC3545"/>
                </a:solidFill>
                <a:latin typeface="Aptos"/>
              </a:rPr>
              <a:t>REVISÃO VENCIDA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27648"/>
            <a:ext cx="10607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1200" b="0" noProof="0" dirty="0">
                <a:solidFill>
                  <a:srgbClr val="5A626A"/>
                </a:solidFill>
                <a:latin typeface="Aptos"/>
              </a:rPr>
              <a:t>O operador é alertado antes de confirmar a retirada, sem perder as demais informações do fluxo.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256032"/>
            <a:ext cx="52120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1000" b="1" noProof="0" dirty="0">
                <a:solidFill>
                  <a:srgbClr val="1471E6"/>
                </a:solidFill>
                <a:latin typeface="Aptos"/>
              </a:rPr>
              <a:t>SVG • VERSÃO OPERADORES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2600" b="1" noProof="0" dirty="0">
                <a:solidFill>
                  <a:srgbClr val="1C2228"/>
                </a:solidFill>
                <a:latin typeface="Aptos"/>
              </a:rPr>
              <a:t>Alertas durante a devolução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10972800" cy="13716"/>
          </a:xfrm>
          <a:prstGeom prst="rect">
            <a:avLst/>
          </a:prstGeom>
          <a:solidFill>
            <a:srgbClr val="E0E5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594360" y="6565392"/>
            <a:ext cx="3657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pt-BR" sz="800" b="0" noProof="0" dirty="0">
                <a:solidFill>
                  <a:srgbClr val="5A626A"/>
                </a:solidFill>
                <a:latin typeface="Aptos"/>
              </a:rPr>
              <a:t>Divisão de Operações Especiais – DOE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65392"/>
            <a:ext cx="4114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pt-BR" noProof="0" dirty="0"/>
              <a:t>20</a:t>
            </a:r>
          </a:p>
        </p:txBody>
      </p:sp>
      <p:pic>
        <p:nvPicPr>
          <p:cNvPr id="7" name="Picture 6" descr="WhatsApp Image 2026-09-18 at 10.58.48 (1)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722" y="1481328"/>
            <a:ext cx="5003074" cy="4526280"/>
          </a:xfrm>
          <a:prstGeom prst="rect">
            <a:avLst/>
          </a:prstGeom>
        </p:spPr>
      </p:pic>
      <p:pic>
        <p:nvPicPr>
          <p:cNvPr id="8" name="Picture 7" descr="WhatsApp Image 2026-09-18 at 10.58.48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4605" y="1481328"/>
            <a:ext cx="4963885" cy="45262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6016752"/>
            <a:ext cx="507492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1350" b="1" noProof="0" dirty="0">
                <a:solidFill>
                  <a:srgbClr val="966900"/>
                </a:solidFill>
                <a:latin typeface="Aptos"/>
              </a:rPr>
              <a:t>ATENÇÃO À REVISÃO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82512" y="6016752"/>
            <a:ext cx="507492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1350" b="1" noProof="0" dirty="0">
                <a:solidFill>
                  <a:srgbClr val="DC3545"/>
                </a:solidFill>
                <a:latin typeface="Aptos"/>
              </a:rPr>
              <a:t>REVISÃO VENCIDA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27648"/>
            <a:ext cx="106070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pt-BR" sz="1200" b="0" noProof="0" dirty="0">
                <a:solidFill>
                  <a:srgbClr val="5A626A"/>
                </a:solidFill>
                <a:latin typeface="Aptos"/>
              </a:rPr>
              <a:t>Na devolução, o alerta reflete a quilometragem registrada e mantém a necessidade de manutenção visível.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731520" y="1874519"/>
            <a:ext cx="5212080" cy="3520440"/>
          </a:xfrm>
          <a:prstGeom prst="roundRect">
            <a:avLst/>
          </a:prstGeom>
          <a:solidFill>
            <a:srgbClr val="191F26"/>
          </a:solidFill>
          <a:ln w="19050">
            <a:solidFill>
              <a:srgbClr val="B28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B28B4E"/>
                </a:solidFill>
                <a:latin typeface="Arial"/>
              </a:defRPr>
            </a:pPr>
            <a:r>
              <a:rPr lang="pt-BR" noProof="0"/>
              <a:t>OBJETIVO</a:t>
            </a:r>
            <a:endParaRPr lang="pt-BR" noProof="0" dirty="0"/>
          </a:p>
          <a:p>
            <a:pPr>
              <a:spcBef>
                <a:spcPts val="600"/>
              </a:spcBef>
              <a:defRPr sz="1500">
                <a:solidFill>
                  <a:srgbClr val="F5F5F5"/>
                </a:solidFill>
                <a:latin typeface="Arial"/>
              </a:defRPr>
            </a:pPr>
            <a:r>
              <a:rPr lang="pt-BR" noProof="0" dirty="0"/>
              <a:t>• Registrar afastamentos e impedimentos dos operadores.</a:t>
            </a:r>
          </a:p>
          <a:p>
            <a:pPr>
              <a:spcBef>
                <a:spcPts val="600"/>
              </a:spcBef>
              <a:defRPr sz="1500">
                <a:solidFill>
                  <a:srgbClr val="F5F5F5"/>
                </a:solidFill>
                <a:latin typeface="Arial"/>
              </a:defRPr>
            </a:pPr>
            <a:r>
              <a:rPr lang="pt-BR" noProof="0" dirty="0"/>
              <a:t>• Consultar a situação do operador em uma data de referência.</a:t>
            </a:r>
          </a:p>
          <a:p>
            <a:pPr>
              <a:spcBef>
                <a:spcPts val="600"/>
              </a:spcBef>
              <a:defRPr sz="1500">
                <a:solidFill>
                  <a:srgbClr val="F5F5F5"/>
                </a:solidFill>
                <a:latin typeface="Arial"/>
              </a:defRPr>
            </a:pPr>
            <a:r>
              <a:rPr lang="pt-BR" noProof="0" dirty="0"/>
              <a:t>• Centralizar as regras de elegibilidade antes da integração com as operações.</a:t>
            </a:r>
          </a:p>
          <a:p>
            <a:pPr>
              <a:spcBef>
                <a:spcPts val="600"/>
              </a:spcBef>
              <a:defRPr sz="1500">
                <a:solidFill>
                  <a:srgbClr val="F5F5F5"/>
                </a:solidFill>
                <a:latin typeface="Arial"/>
              </a:defRPr>
            </a:pPr>
            <a:r>
              <a:rPr lang="pt-BR" noProof="0" dirty="0"/>
              <a:t>• Evitar candidaturas incompatíveis com as regras administrativas do SVG.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874519"/>
            <a:ext cx="5212080" cy="3520440"/>
          </a:xfrm>
          <a:prstGeom prst="roundRect">
            <a:avLst/>
          </a:prstGeom>
          <a:solidFill>
            <a:srgbClr val="191F26"/>
          </a:solidFill>
          <a:ln w="19050">
            <a:solidFill>
              <a:srgbClr val="368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368C5C"/>
                </a:solidFill>
                <a:latin typeface="Arial"/>
              </a:defRPr>
            </a:pPr>
            <a:r>
              <a:rPr lang="pt-BR" noProof="0" dirty="0"/>
              <a:t>EXEMPLO</a:t>
            </a:r>
          </a:p>
          <a:p>
            <a:pPr>
              <a:spcBef>
                <a:spcPts val="600"/>
              </a:spcBef>
              <a:defRPr sz="1500">
                <a:solidFill>
                  <a:srgbClr val="F5F5F5"/>
                </a:solidFill>
                <a:latin typeface="Arial"/>
              </a:defRPr>
            </a:pPr>
            <a:r>
              <a:rPr lang="pt-BR" noProof="0" dirty="0"/>
              <a:t>• Afastamento: 01/10/2026 a 15/10/2026.</a:t>
            </a:r>
          </a:p>
          <a:p>
            <a:pPr>
              <a:spcBef>
                <a:spcPts val="600"/>
              </a:spcBef>
              <a:defRPr sz="1500">
                <a:solidFill>
                  <a:srgbClr val="F5F5F5"/>
                </a:solidFill>
                <a:latin typeface="Arial"/>
              </a:defRPr>
            </a:pPr>
            <a:r>
              <a:rPr lang="pt-BR" noProof="0" dirty="0"/>
              <a:t>• Operação: 02/10/2026.</a:t>
            </a:r>
          </a:p>
          <a:p>
            <a:pPr>
              <a:spcBef>
                <a:spcPts val="600"/>
              </a:spcBef>
              <a:defRPr sz="1500">
                <a:solidFill>
                  <a:srgbClr val="F5F5F5"/>
                </a:solidFill>
                <a:latin typeface="Arial"/>
              </a:defRPr>
            </a:pPr>
            <a:r>
              <a:rPr lang="pt-BR" noProof="0" dirty="0"/>
              <a:t>• Resultado: operador não elegível naquela data.</a:t>
            </a:r>
          </a:p>
          <a:p>
            <a:pPr>
              <a:spcBef>
                <a:spcPts val="600"/>
              </a:spcBef>
              <a:defRPr sz="1500">
                <a:solidFill>
                  <a:srgbClr val="F5F5F5"/>
                </a:solidFill>
                <a:latin typeface="Arial"/>
              </a:defRPr>
            </a:pPr>
            <a:r>
              <a:rPr lang="pt-BR" noProof="0" dirty="0"/>
              <a:t>• Na integração futura, o botão de inclusão/candidatura ficará indisponível e o motivo será exibido.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6537960"/>
            <a:ext cx="10149840" cy="10972"/>
          </a:xfrm>
          <a:prstGeom prst="rect">
            <a:avLst/>
          </a:prstGeom>
          <a:solidFill>
            <a:srgbClr val="B28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3291840" y="6601968"/>
            <a:ext cx="5577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>
                <a:solidFill>
                  <a:srgbClr val="AAAAAA"/>
                </a:solidFill>
                <a:latin typeface="Arial"/>
              </a:defRPr>
            </a:pPr>
            <a:r>
              <a:rPr lang="pt-BR" noProof="0" dirty="0"/>
              <a:t>Op. 73 - 2026 - Divisão de Operações Especiais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21F050E-5894-6F12-FABD-B68DD61840A6}"/>
              </a:ext>
            </a:extLst>
          </p:cNvPr>
          <p:cNvSpPr txBox="1"/>
          <p:nvPr/>
        </p:nvSpPr>
        <p:spPr>
          <a:xfrm>
            <a:off x="731520" y="283459"/>
            <a:ext cx="10744200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500" b="1" dirty="0">
                <a:latin typeface="Arial" panose="020B0604020202020204" pitchFamily="34" charset="0"/>
                <a:cs typeface="Arial" panose="020B0604020202020204" pitchFamily="34" charset="0"/>
              </a:rPr>
              <a:t>MÓDULO DE AFASTAMENTO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A813E2BA-8C5B-262F-9067-1F56062D0AD6}"/>
              </a:ext>
            </a:extLst>
          </p:cNvPr>
          <p:cNvSpPr txBox="1"/>
          <p:nvPr/>
        </p:nvSpPr>
        <p:spPr>
          <a:xfrm>
            <a:off x="1426922" y="830441"/>
            <a:ext cx="930767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Controle preventivo das condições que impedem a prestação do SVG</a:t>
            </a:r>
          </a:p>
          <a:p>
            <a:r>
              <a:rPr lang="pt-BR" dirty="0"/>
              <a:t>Permite o controle para facilitar a compensação de horas</a:t>
            </a:r>
          </a:p>
          <a:p>
            <a:r>
              <a:rPr lang="pt-BR" dirty="0"/>
              <a:t>Evita o operador ser escalado para operações e acionamentos, quando já tem SVG marcado</a:t>
            </a:r>
          </a:p>
          <a:p>
            <a:endParaRPr lang="pt-BR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1031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2563EB"/>
                </a:solidFill>
                <a:latin typeface="Aptos"/>
              </a:defRPr>
            </a:pPr>
            <a:r>
              <a:rPr lang="pt-BR" noProof="0" dirty="0"/>
              <a:t>MÓDULO DE AFASTAMENTO E ELEGIBILIDADE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47548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Visualização dos afastamentos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8686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5C6670"/>
                </a:solidFill>
                <a:latin typeface="Aptos"/>
              </a:defRPr>
            </a:pPr>
            <a:r>
              <a:rPr lang="pt-BR" noProof="0" dirty="0"/>
              <a:t>Registro estruturado do operador, motivo e período.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197864"/>
            <a:ext cx="11292840" cy="10972"/>
          </a:xfrm>
          <a:prstGeom prst="rect">
            <a:avLst/>
          </a:prstGeom>
          <a:solidFill>
            <a:srgbClr val="DCE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6" name="Rectangle 5"/>
          <p:cNvSpPr/>
          <p:nvPr/>
        </p:nvSpPr>
        <p:spPr>
          <a:xfrm>
            <a:off x="521206" y="1362457"/>
            <a:ext cx="7521617" cy="3448598"/>
          </a:xfrm>
          <a:prstGeom prst="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8275320" y="155448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198754"/>
                </a:solidFill>
                <a:latin typeface="Aptos"/>
              </a:defRPr>
            </a:pPr>
            <a:r>
              <a:rPr lang="pt-BR" noProof="0" dirty="0"/>
              <a:t>VISUALIZAÇÃO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320" y="1901952"/>
            <a:ext cx="3246120" cy="6499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930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• Pesquisa do operador por nome ou numérica.</a:t>
            </a:r>
          </a:p>
          <a:p>
            <a:pPr>
              <a:spcAft>
                <a:spcPts val="500"/>
              </a:spcAft>
              <a:defRPr sz="930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• Filtros por períodos de tempo e seção.</a:t>
            </a:r>
          </a:p>
          <a:p>
            <a:pPr>
              <a:spcAft>
                <a:spcPts val="500"/>
              </a:spcAft>
              <a:defRPr sz="930">
                <a:solidFill>
                  <a:srgbClr val="161F2A"/>
                </a:solidFill>
                <a:latin typeface="Aptos"/>
              </a:defRPr>
            </a:pPr>
            <a:r>
              <a:rPr lang="pt-BR" noProof="0" dirty="0"/>
              <a:t>• Filtro por tipo de afastamento.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519672"/>
            <a:ext cx="5120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5C6670"/>
                </a:solidFill>
                <a:latin typeface="Aptos"/>
              </a:defRPr>
            </a:pPr>
            <a:r>
              <a:rPr lang="pt-BR" noProof="0" dirty="0"/>
              <a:t>Op. 73 - 2026 - Divisão de Operações Especiais</a:t>
            </a:r>
          </a:p>
        </p:txBody>
      </p:sp>
      <p:pic>
        <p:nvPicPr>
          <p:cNvPr id="13" name="Imagem 12">
            <a:extLst>
              <a:ext uri="{FF2B5EF4-FFF2-40B4-BE49-F238E27FC236}">
                <a16:creationId xmlns:a16="http://schemas.microsoft.com/office/drawing/2014/main" id="{48B62AD3-B011-3370-2CC3-9606AAD9ED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1362456"/>
            <a:ext cx="7521617" cy="344859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6574</TotalTime>
  <Words>1836</Words>
  <Application>Microsoft Office PowerPoint</Application>
  <PresentationFormat>Widescreen</PresentationFormat>
  <Paragraphs>322</Paragraphs>
  <Slides>28</Slides>
  <Notes>11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28</vt:i4>
      </vt:variant>
    </vt:vector>
  </HeadingPairs>
  <TitlesOfParts>
    <vt:vector size="32" baseType="lpstr">
      <vt:lpstr>Aptos</vt:lpstr>
      <vt:lpstr>Aptos Display</vt:lpstr>
      <vt:lpstr>Arial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Divisão de Operações Especiais - DOE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SVG - Versão Operadores</dc:title>
  <dc:subject>Sistema de Gerenciamento do Serviço Voluntário - Versão Operadores</dc:subject>
  <dc:creator>Wagner Nogueira</dc:creator>
  <cp:lastModifiedBy>Wagner Nogueira</cp:lastModifiedBy>
  <cp:revision>10</cp:revision>
  <dcterms:created xsi:type="dcterms:W3CDTF">2026-09-08T00:14:46Z</dcterms:created>
  <dcterms:modified xsi:type="dcterms:W3CDTF">2026-10-20T12:43:51Z</dcterms:modified>
</cp:coreProperties>
</file>